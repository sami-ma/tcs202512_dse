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4"/>
  </p:sldMasterIdLst>
  <p:sldIdLst>
    <p:sldId id="257" r:id="rId5"/>
    <p:sldId id="258" r:id="rId6"/>
    <p:sldId id="261" r:id="rId7"/>
    <p:sldId id="279" r:id="rId8"/>
    <p:sldId id="286" r:id="rId9"/>
    <p:sldId id="287" r:id="rId10"/>
    <p:sldId id="288" r:id="rId11"/>
    <p:sldId id="260" r:id="rId12"/>
    <p:sldId id="280" r:id="rId13"/>
    <p:sldId id="290" r:id="rId14"/>
    <p:sldId id="289" r:id="rId15"/>
    <p:sldId id="259" r:id="rId16"/>
    <p:sldId id="281" r:id="rId17"/>
    <p:sldId id="283" r:id="rId18"/>
    <p:sldId id="282" r:id="rId19"/>
    <p:sldId id="284" r:id="rId20"/>
    <p:sldId id="291" r:id="rId21"/>
    <p:sldId id="292" r:id="rId22"/>
    <p:sldId id="293" r:id="rId23"/>
    <p:sldId id="285" r:id="rId24"/>
    <p:sldId id="294" r:id="rId25"/>
    <p:sldId id="263" r:id="rId26"/>
    <p:sldId id="296" r:id="rId27"/>
    <p:sldId id="298" r:id="rId28"/>
    <p:sldId id="297" r:id="rId29"/>
    <p:sldId id="299" r:id="rId30"/>
    <p:sldId id="300" r:id="rId31"/>
    <p:sldId id="301" r:id="rId32"/>
    <p:sldId id="295" r:id="rId33"/>
    <p:sldId id="264" r:id="rId34"/>
    <p:sldId id="265"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6" autoAdjust="0"/>
    <p:restoredTop sz="94619" autoAdjust="0"/>
  </p:normalViewPr>
  <p:slideViewPr>
    <p:cSldViewPr snapToGrid="0">
      <p:cViewPr varScale="1">
        <p:scale>
          <a:sx n="67" d="100"/>
          <a:sy n="67" d="100"/>
        </p:scale>
        <p:origin x="582" y="7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ableStyles" Target="tableStyles.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8" Type="http://schemas.openxmlformats.org/officeDocument/2006/relationships/slide" Target="slides/slide4.xml"/><Relationship Id="rId3" Type="http://schemas.openxmlformats.org/officeDocument/2006/relationships/customXml" Target="../customXml/item3.xml"/></Relationships>
</file>

<file path=ppt/diagrams/colors1.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A70FD8F-0050-42E3-8B3A-6ED7CFB9852E}" type="doc">
      <dgm:prSet loTypeId="urn:microsoft.com/office/officeart/2016/7/layout/RoundedRectangleTimeline" loCatId="process" qsTypeId="urn:microsoft.com/office/officeart/2005/8/quickstyle/simple1" qsCatId="simple" csTypeId="urn:microsoft.com/office/officeart/2005/8/colors/accent1_3" csCatId="accent1" phldr="1"/>
      <dgm:spPr/>
      <dgm:t>
        <a:bodyPr/>
        <a:lstStyle/>
        <a:p>
          <a:endParaRPr lang="en-US"/>
        </a:p>
      </dgm:t>
    </dgm:pt>
    <dgm:pt modelId="{8DB5D7D5-6A1C-4ABC-8850-759A9D876047}">
      <dgm:prSet custT="1"/>
      <dgm:spPr/>
      <dgm:t>
        <a:bodyPr/>
        <a:lstStyle/>
        <a:p>
          <a:r>
            <a:rPr lang="en-US" sz="2400" dirty="0"/>
            <a:t>Introduction</a:t>
          </a:r>
        </a:p>
      </dgm:t>
    </dgm:pt>
    <dgm:pt modelId="{D8874F40-D7B0-41DE-BB6F-A6014FEAB2D7}" type="parTrans" cxnId="{C5202EE1-10E9-4076-9D55-9E0CF8B152AF}">
      <dgm:prSet/>
      <dgm:spPr/>
      <dgm:t>
        <a:bodyPr/>
        <a:lstStyle/>
        <a:p>
          <a:endParaRPr lang="en-US"/>
        </a:p>
      </dgm:t>
    </dgm:pt>
    <dgm:pt modelId="{BD6E0A2E-99C8-4F5A-971A-CD211D1099FF}" type="sibTrans" cxnId="{C5202EE1-10E9-4076-9D55-9E0CF8B152AF}">
      <dgm:prSet/>
      <dgm:spPr/>
      <dgm:t>
        <a:bodyPr/>
        <a:lstStyle/>
        <a:p>
          <a:endParaRPr lang="en-US"/>
        </a:p>
      </dgm:t>
    </dgm:pt>
    <dgm:pt modelId="{96262926-A67D-4E4E-9515-5EBC67F0B634}">
      <dgm:prSet/>
      <dgm:spPr/>
      <dgm:t>
        <a:bodyPr/>
        <a:lstStyle/>
        <a:p>
          <a:r>
            <a:rPr lang="en-US" dirty="0"/>
            <a:t>Database Systems</a:t>
          </a:r>
        </a:p>
      </dgm:t>
    </dgm:pt>
    <dgm:pt modelId="{EC74E552-C501-4B0E-9400-E8B410F53D50}" type="parTrans" cxnId="{8C5B110A-FBC3-4CBF-BED2-413E87D4DAD5}">
      <dgm:prSet/>
      <dgm:spPr/>
      <dgm:t>
        <a:bodyPr/>
        <a:lstStyle/>
        <a:p>
          <a:endParaRPr lang="en-US"/>
        </a:p>
      </dgm:t>
    </dgm:pt>
    <dgm:pt modelId="{1DA7ACEB-F642-43C1-BCB5-F580B9B985B9}" type="sibTrans" cxnId="{8C5B110A-FBC3-4CBF-BED2-413E87D4DAD5}">
      <dgm:prSet/>
      <dgm:spPr/>
      <dgm:t>
        <a:bodyPr/>
        <a:lstStyle/>
        <a:p>
          <a:endParaRPr lang="en-US"/>
        </a:p>
      </dgm:t>
    </dgm:pt>
    <dgm:pt modelId="{C5146535-FD3D-4589-98A3-623B8DA4B8DB}">
      <dgm:prSet custT="1"/>
      <dgm:spPr/>
      <dgm:t>
        <a:bodyPr/>
        <a:lstStyle/>
        <a:p>
          <a:r>
            <a:rPr lang="en-US" sz="2400" dirty="0" err="1"/>
            <a:t>Datastax</a:t>
          </a:r>
          <a:r>
            <a:rPr lang="en-US" sz="2400" dirty="0"/>
            <a:t> (Cassandra) </a:t>
          </a:r>
        </a:p>
      </dgm:t>
    </dgm:pt>
    <dgm:pt modelId="{20848F78-EC70-4162-96CE-CC68006930F0}" type="parTrans" cxnId="{8EBF857E-7408-4941-91E4-293B0F59EEF7}">
      <dgm:prSet/>
      <dgm:spPr/>
      <dgm:t>
        <a:bodyPr/>
        <a:lstStyle/>
        <a:p>
          <a:endParaRPr lang="en-US"/>
        </a:p>
      </dgm:t>
    </dgm:pt>
    <dgm:pt modelId="{7A3CCAF8-AC3A-401E-AEDD-44BBC1AA9C31}" type="sibTrans" cxnId="{8EBF857E-7408-4941-91E4-293B0F59EEF7}">
      <dgm:prSet/>
      <dgm:spPr/>
      <dgm:t>
        <a:bodyPr/>
        <a:lstStyle/>
        <a:p>
          <a:endParaRPr lang="en-US"/>
        </a:p>
      </dgm:t>
    </dgm:pt>
    <dgm:pt modelId="{E80CA270-6C90-4E17-ACEA-46B56AD54DD1}">
      <dgm:prSet/>
      <dgm:spPr/>
      <dgm:t>
        <a:bodyPr/>
        <a:lstStyle/>
        <a:p>
          <a:r>
            <a:rPr lang="en-US" dirty="0"/>
            <a:t>History</a:t>
          </a:r>
        </a:p>
      </dgm:t>
    </dgm:pt>
    <dgm:pt modelId="{7EEC8067-96EF-4BE0-8BE3-BA59ED78A31F}" type="parTrans" cxnId="{2DC28DF8-5C1B-4F53-A4C1-D5B63FB54BAF}">
      <dgm:prSet/>
      <dgm:spPr/>
      <dgm:t>
        <a:bodyPr/>
        <a:lstStyle/>
        <a:p>
          <a:endParaRPr lang="en-US"/>
        </a:p>
      </dgm:t>
    </dgm:pt>
    <dgm:pt modelId="{1AFE46E5-6B07-4894-8ECB-21BD7E7B8AF1}" type="sibTrans" cxnId="{2DC28DF8-5C1B-4F53-A4C1-D5B63FB54BAF}">
      <dgm:prSet/>
      <dgm:spPr/>
      <dgm:t>
        <a:bodyPr/>
        <a:lstStyle/>
        <a:p>
          <a:endParaRPr lang="en-US"/>
        </a:p>
      </dgm:t>
    </dgm:pt>
    <dgm:pt modelId="{09C152DA-7620-4852-8162-A77EC3609F3F}">
      <dgm:prSet custT="1"/>
      <dgm:spPr/>
      <dgm:t>
        <a:bodyPr/>
        <a:lstStyle/>
        <a:p>
          <a:r>
            <a:rPr lang="en-US" sz="2400" kern="1200" dirty="0">
              <a:solidFill>
                <a:prstClr val="white"/>
              </a:solidFill>
              <a:latin typeface="Franklin Gothic Book" panose="020B0502020104020203"/>
              <a:ea typeface="+mn-ea"/>
              <a:cs typeface="+mn-cs"/>
            </a:rPr>
            <a:t>Install</a:t>
          </a:r>
        </a:p>
      </dgm:t>
    </dgm:pt>
    <dgm:pt modelId="{9F6D14C0-6C82-4CBD-8D6D-B0E117B6F2ED}" type="parTrans" cxnId="{23ECAC8B-17A4-4883-AA0E-06D66B7E788A}">
      <dgm:prSet/>
      <dgm:spPr/>
      <dgm:t>
        <a:bodyPr/>
        <a:lstStyle/>
        <a:p>
          <a:endParaRPr lang="en-US"/>
        </a:p>
      </dgm:t>
    </dgm:pt>
    <dgm:pt modelId="{0AE8D36D-0F0F-4206-AE39-0A2D73987B68}" type="sibTrans" cxnId="{23ECAC8B-17A4-4883-AA0E-06D66B7E788A}">
      <dgm:prSet/>
      <dgm:spPr/>
      <dgm:t>
        <a:bodyPr/>
        <a:lstStyle/>
        <a:p>
          <a:endParaRPr lang="en-US"/>
        </a:p>
      </dgm:t>
    </dgm:pt>
    <dgm:pt modelId="{6C8937BE-93F8-4DED-8538-1C601DAEBA66}">
      <dgm:prSet/>
      <dgm:spPr/>
      <dgm:t>
        <a:bodyPr/>
        <a:lstStyle/>
        <a:p>
          <a:r>
            <a:rPr lang="en-US" dirty="0"/>
            <a:t>Install Single Node Cluster</a:t>
          </a:r>
        </a:p>
      </dgm:t>
    </dgm:pt>
    <dgm:pt modelId="{77D169C6-D77F-456D-B18B-D7BE016AD87A}" type="parTrans" cxnId="{FAA8D3DD-12E8-457D-9144-B037C5678347}">
      <dgm:prSet/>
      <dgm:spPr/>
      <dgm:t>
        <a:bodyPr/>
        <a:lstStyle/>
        <a:p>
          <a:endParaRPr lang="en-US"/>
        </a:p>
      </dgm:t>
    </dgm:pt>
    <dgm:pt modelId="{A97BE953-FA9D-4BA6-A92C-494DB1F3BA59}" type="sibTrans" cxnId="{FAA8D3DD-12E8-457D-9144-B037C5678347}">
      <dgm:prSet/>
      <dgm:spPr/>
      <dgm:t>
        <a:bodyPr/>
        <a:lstStyle/>
        <a:p>
          <a:endParaRPr lang="en-US"/>
        </a:p>
      </dgm:t>
    </dgm:pt>
    <dgm:pt modelId="{E8445AF3-973D-4012-9426-59D68962078E}">
      <dgm:prSet/>
      <dgm:spPr/>
      <dgm:t>
        <a:bodyPr/>
        <a:lstStyle/>
        <a:p>
          <a:r>
            <a:rPr lang="en-IN" dirty="0"/>
            <a:t>SQL vs NoSQL</a:t>
          </a:r>
          <a:endParaRPr lang="en-US" dirty="0"/>
        </a:p>
      </dgm:t>
    </dgm:pt>
    <dgm:pt modelId="{6C699A67-ABE0-451A-9660-160727DC07CA}" type="parTrans" cxnId="{E430C158-2CE6-47D2-94E2-F3720F1993EE}">
      <dgm:prSet/>
      <dgm:spPr/>
      <dgm:t>
        <a:bodyPr/>
        <a:lstStyle/>
        <a:p>
          <a:endParaRPr lang="en-US"/>
        </a:p>
      </dgm:t>
    </dgm:pt>
    <dgm:pt modelId="{908905C0-0D6F-427A-9D3E-BBC441A4AEF5}" type="sibTrans" cxnId="{E430C158-2CE6-47D2-94E2-F3720F1993EE}">
      <dgm:prSet/>
      <dgm:spPr/>
      <dgm:t>
        <a:bodyPr/>
        <a:lstStyle/>
        <a:p>
          <a:endParaRPr lang="en-US"/>
        </a:p>
      </dgm:t>
    </dgm:pt>
    <dgm:pt modelId="{8B5B5FE0-3798-4697-8CA6-A82C3C93AA3F}">
      <dgm:prSet/>
      <dgm:spPr/>
      <dgm:t>
        <a:bodyPr/>
        <a:lstStyle/>
        <a:p>
          <a:r>
            <a:rPr lang="en-IN" dirty="0"/>
            <a:t>Features</a:t>
          </a:r>
        </a:p>
        <a:p>
          <a:r>
            <a:rPr lang="en-US" dirty="0"/>
            <a:t>Comparison</a:t>
          </a:r>
        </a:p>
      </dgm:t>
    </dgm:pt>
    <dgm:pt modelId="{9A1DB44F-C684-4964-A907-66ED6514D0C1}" type="parTrans" cxnId="{95630658-849E-4D9B-BA6C-9E6D18884223}">
      <dgm:prSet/>
      <dgm:spPr/>
      <dgm:t>
        <a:bodyPr/>
        <a:lstStyle/>
        <a:p>
          <a:endParaRPr lang="en-US"/>
        </a:p>
      </dgm:t>
    </dgm:pt>
    <dgm:pt modelId="{FEBF9F97-DF50-4DF8-917A-04E11B7A110D}" type="sibTrans" cxnId="{95630658-849E-4D9B-BA6C-9E6D18884223}">
      <dgm:prSet/>
      <dgm:spPr/>
      <dgm:t>
        <a:bodyPr/>
        <a:lstStyle/>
        <a:p>
          <a:endParaRPr lang="en-US"/>
        </a:p>
      </dgm:t>
    </dgm:pt>
    <dgm:pt modelId="{AA81C3B6-85AC-4FF2-A105-E1106330BABC}">
      <dgm:prSet/>
      <dgm:spPr/>
      <dgm:t>
        <a:bodyPr/>
        <a:lstStyle/>
        <a:p>
          <a:r>
            <a:rPr lang="en-IN"/>
            <a:t>Docker Installation</a:t>
          </a:r>
          <a:endParaRPr lang="en-US" dirty="0"/>
        </a:p>
      </dgm:t>
    </dgm:pt>
    <dgm:pt modelId="{4C945F2A-D945-4D9B-B487-BAE117D5AB07}" type="parTrans" cxnId="{6A3F3FA9-9283-446A-A033-B36346526B4A}">
      <dgm:prSet/>
      <dgm:spPr/>
      <dgm:t>
        <a:bodyPr/>
        <a:lstStyle/>
        <a:p>
          <a:endParaRPr lang="en-US"/>
        </a:p>
      </dgm:t>
    </dgm:pt>
    <dgm:pt modelId="{597E0892-AEC5-42BA-9309-8203DC3D9BF0}" type="sibTrans" cxnId="{6A3F3FA9-9283-446A-A033-B36346526B4A}">
      <dgm:prSet/>
      <dgm:spPr/>
      <dgm:t>
        <a:bodyPr/>
        <a:lstStyle/>
        <a:p>
          <a:endParaRPr lang="en-US"/>
        </a:p>
      </dgm:t>
    </dgm:pt>
    <dgm:pt modelId="{AB52B3CC-6563-466D-BFC3-9B6B5AFA0881}" type="pres">
      <dgm:prSet presAssocID="{6A70FD8F-0050-42E3-8B3A-6ED7CFB9852E}" presName="Name0" presStyleCnt="0">
        <dgm:presLayoutVars>
          <dgm:chMax/>
          <dgm:chPref/>
          <dgm:animLvl val="lvl"/>
        </dgm:presLayoutVars>
      </dgm:prSet>
      <dgm:spPr/>
    </dgm:pt>
    <dgm:pt modelId="{815EDF7B-AC93-4A61-87AA-CAA5D85C31A8}" type="pres">
      <dgm:prSet presAssocID="{8DB5D7D5-6A1C-4ABC-8850-759A9D876047}" presName="composite1" presStyleCnt="0"/>
      <dgm:spPr/>
    </dgm:pt>
    <dgm:pt modelId="{954381E7-0584-46DD-8108-E9BF4F2B5005}" type="pres">
      <dgm:prSet presAssocID="{8DB5D7D5-6A1C-4ABC-8850-759A9D876047}" presName="parent1" presStyleLbl="alignNode1" presStyleIdx="0" presStyleCnt="3" custScaleY="974861">
        <dgm:presLayoutVars>
          <dgm:chMax val="1"/>
          <dgm:chPref val="1"/>
          <dgm:bulletEnabled val="1"/>
        </dgm:presLayoutVars>
      </dgm:prSet>
      <dgm:spPr/>
    </dgm:pt>
    <dgm:pt modelId="{5A1B764B-0DC5-47CD-BDEA-9E67799496EC}" type="pres">
      <dgm:prSet presAssocID="{8DB5D7D5-6A1C-4ABC-8850-759A9D876047}" presName="Childtext1" presStyleLbl="revTx" presStyleIdx="0" presStyleCnt="3">
        <dgm:presLayoutVars>
          <dgm:bulletEnabled val="1"/>
        </dgm:presLayoutVars>
      </dgm:prSet>
      <dgm:spPr/>
    </dgm:pt>
    <dgm:pt modelId="{122B38A3-0442-4747-820C-1F37877E2B0E}" type="pres">
      <dgm:prSet presAssocID="{8DB5D7D5-6A1C-4ABC-8850-759A9D876047}" presName="ConnectLine1" presStyleLbl="sibTrans1D1" presStyleIdx="0" presStyleCnt="3"/>
      <dgm:spPr>
        <a:noFill/>
        <a:ln w="12700" cap="rnd" cmpd="sng" algn="ctr">
          <a:solidFill>
            <a:schemeClr val="accent1">
              <a:shade val="90000"/>
              <a:hueOff val="93466"/>
              <a:satOff val="1924"/>
              <a:lumOff val="8231"/>
              <a:alphaOff val="0"/>
            </a:schemeClr>
          </a:solidFill>
          <a:prstDash val="dash"/>
        </a:ln>
        <a:effectLst/>
      </dgm:spPr>
    </dgm:pt>
    <dgm:pt modelId="{A73181F6-69BB-4A47-8277-4671A45AC8C8}" type="pres">
      <dgm:prSet presAssocID="{8DB5D7D5-6A1C-4ABC-8850-759A9D876047}" presName="ConnectLineEnd1" presStyleLbl="lnNode1" presStyleIdx="0" presStyleCnt="3"/>
      <dgm:spPr/>
    </dgm:pt>
    <dgm:pt modelId="{6E76EADA-5F61-4A59-B2F8-FA10112079FC}" type="pres">
      <dgm:prSet presAssocID="{8DB5D7D5-6A1C-4ABC-8850-759A9D876047}" presName="EmptyPane1" presStyleCnt="0"/>
      <dgm:spPr/>
    </dgm:pt>
    <dgm:pt modelId="{A8189248-0785-43F1-844C-4DE92841F254}" type="pres">
      <dgm:prSet presAssocID="{BD6E0A2E-99C8-4F5A-971A-CD211D1099FF}" presName="spaceBetweenRectangles1" presStyleCnt="0"/>
      <dgm:spPr/>
    </dgm:pt>
    <dgm:pt modelId="{218D9CD7-D48D-464C-9A1C-0F322EC540B3}" type="pres">
      <dgm:prSet presAssocID="{C5146535-FD3D-4589-98A3-623B8DA4B8DB}" presName="composite1" presStyleCnt="0"/>
      <dgm:spPr/>
    </dgm:pt>
    <dgm:pt modelId="{30804A27-188E-4A17-8FFE-97BCCA0597B8}" type="pres">
      <dgm:prSet presAssocID="{C5146535-FD3D-4589-98A3-623B8DA4B8DB}" presName="parent1" presStyleLbl="alignNode1" presStyleIdx="1" presStyleCnt="3" custScaleY="974861">
        <dgm:presLayoutVars>
          <dgm:chMax val="1"/>
          <dgm:chPref val="1"/>
          <dgm:bulletEnabled val="1"/>
        </dgm:presLayoutVars>
      </dgm:prSet>
      <dgm:spPr/>
    </dgm:pt>
    <dgm:pt modelId="{DF65791B-462E-4589-B98D-F60587330CA8}" type="pres">
      <dgm:prSet presAssocID="{C5146535-FD3D-4589-98A3-623B8DA4B8DB}" presName="Childtext1" presStyleLbl="revTx" presStyleIdx="1" presStyleCnt="3">
        <dgm:presLayoutVars>
          <dgm:bulletEnabled val="1"/>
        </dgm:presLayoutVars>
      </dgm:prSet>
      <dgm:spPr/>
    </dgm:pt>
    <dgm:pt modelId="{DBA410EB-5F61-4F46-92D9-C5B0AA59EE15}" type="pres">
      <dgm:prSet presAssocID="{C5146535-FD3D-4589-98A3-623B8DA4B8DB}" presName="ConnectLine1" presStyleLbl="sibTrans1D1" presStyleIdx="1" presStyleCnt="3"/>
      <dgm:spPr>
        <a:noFill/>
        <a:ln w="12700" cap="rnd" cmpd="sng" algn="ctr">
          <a:solidFill>
            <a:schemeClr val="accent1">
              <a:shade val="90000"/>
              <a:hueOff val="140199"/>
              <a:satOff val="2886"/>
              <a:lumOff val="12346"/>
              <a:alphaOff val="0"/>
            </a:schemeClr>
          </a:solidFill>
          <a:prstDash val="dash"/>
        </a:ln>
        <a:effectLst/>
      </dgm:spPr>
    </dgm:pt>
    <dgm:pt modelId="{E1220EDB-B75C-43A5-B862-97E4C09130A7}" type="pres">
      <dgm:prSet presAssocID="{C5146535-FD3D-4589-98A3-623B8DA4B8DB}" presName="ConnectLineEnd1" presStyleLbl="lnNode1" presStyleIdx="1" presStyleCnt="3"/>
      <dgm:spPr/>
    </dgm:pt>
    <dgm:pt modelId="{D8849157-215F-4E70-9735-315E97B5AC5C}" type="pres">
      <dgm:prSet presAssocID="{C5146535-FD3D-4589-98A3-623B8DA4B8DB}" presName="EmptyPane1" presStyleCnt="0"/>
      <dgm:spPr/>
    </dgm:pt>
    <dgm:pt modelId="{7C467054-22FE-4C18-9934-29D7168DFF63}" type="pres">
      <dgm:prSet presAssocID="{7A3CCAF8-AC3A-401E-AEDD-44BBC1AA9C31}" presName="spaceBetweenRectangles1" presStyleCnt="0"/>
      <dgm:spPr/>
    </dgm:pt>
    <dgm:pt modelId="{3E3E944D-A6EC-4962-9AC1-C585A4F97BDA}" type="pres">
      <dgm:prSet presAssocID="{09C152DA-7620-4852-8162-A77EC3609F3F}" presName="composite1" presStyleCnt="0"/>
      <dgm:spPr/>
    </dgm:pt>
    <dgm:pt modelId="{566B79CB-1A41-4F5C-BF91-58D94BF93913}" type="pres">
      <dgm:prSet presAssocID="{09C152DA-7620-4852-8162-A77EC3609F3F}" presName="parent1" presStyleLbl="alignNode1" presStyleIdx="2" presStyleCnt="3" custScaleY="974861">
        <dgm:presLayoutVars>
          <dgm:chMax val="1"/>
          <dgm:chPref val="1"/>
          <dgm:bulletEnabled val="1"/>
        </dgm:presLayoutVars>
      </dgm:prSet>
      <dgm:spPr/>
    </dgm:pt>
    <dgm:pt modelId="{B4723E2A-4FF1-452A-BD25-8EC364F15A6F}" type="pres">
      <dgm:prSet presAssocID="{09C152DA-7620-4852-8162-A77EC3609F3F}" presName="Childtext1" presStyleLbl="revTx" presStyleIdx="2" presStyleCnt="3">
        <dgm:presLayoutVars>
          <dgm:bulletEnabled val="1"/>
        </dgm:presLayoutVars>
      </dgm:prSet>
      <dgm:spPr/>
    </dgm:pt>
    <dgm:pt modelId="{440E9361-37D2-4157-AF38-7B49AD23708B}" type="pres">
      <dgm:prSet presAssocID="{09C152DA-7620-4852-8162-A77EC3609F3F}" presName="ConnectLine1" presStyleLbl="sibTrans1D1" presStyleIdx="2" presStyleCnt="3"/>
      <dgm:spPr>
        <a:noFill/>
        <a:ln w="12700" cap="rnd" cmpd="sng" algn="ctr">
          <a:solidFill>
            <a:schemeClr val="accent1">
              <a:shade val="90000"/>
              <a:hueOff val="186931"/>
              <a:satOff val="3848"/>
              <a:lumOff val="16461"/>
              <a:alphaOff val="0"/>
            </a:schemeClr>
          </a:solidFill>
          <a:prstDash val="dash"/>
        </a:ln>
        <a:effectLst/>
      </dgm:spPr>
    </dgm:pt>
    <dgm:pt modelId="{C45E7B63-1C71-483E-A3A8-705CE86D4D8E}" type="pres">
      <dgm:prSet presAssocID="{09C152DA-7620-4852-8162-A77EC3609F3F}" presName="ConnectLineEnd1" presStyleLbl="lnNode1" presStyleIdx="2" presStyleCnt="3"/>
      <dgm:spPr/>
    </dgm:pt>
    <dgm:pt modelId="{4174F691-D9D3-451C-9893-D177DC3AED58}" type="pres">
      <dgm:prSet presAssocID="{09C152DA-7620-4852-8162-A77EC3609F3F}" presName="EmptyPane1" presStyleCnt="0"/>
      <dgm:spPr/>
    </dgm:pt>
  </dgm:ptLst>
  <dgm:cxnLst>
    <dgm:cxn modelId="{5C25BB02-FA66-40A4-9DA6-9E1CAE3A8D4E}" type="presOf" srcId="{C5146535-FD3D-4589-98A3-623B8DA4B8DB}" destId="{30804A27-188E-4A17-8FFE-97BCCA0597B8}" srcOrd="0" destOrd="0" presId="urn:microsoft.com/office/officeart/2016/7/layout/RoundedRectangleTimeline"/>
    <dgm:cxn modelId="{8C5B110A-FBC3-4CBF-BED2-413E87D4DAD5}" srcId="{8DB5D7D5-6A1C-4ABC-8850-759A9D876047}" destId="{96262926-A67D-4E4E-9515-5EBC67F0B634}" srcOrd="0" destOrd="0" parTransId="{EC74E552-C501-4B0E-9400-E8B410F53D50}" sibTransId="{1DA7ACEB-F642-43C1-BCB5-F580B9B985B9}"/>
    <dgm:cxn modelId="{84C67813-55CE-4EBC-9032-03BD847DC17E}" type="presOf" srcId="{6A70FD8F-0050-42E3-8B3A-6ED7CFB9852E}" destId="{AB52B3CC-6563-466D-BFC3-9B6B5AFA0881}" srcOrd="0" destOrd="0" presId="urn:microsoft.com/office/officeart/2016/7/layout/RoundedRectangleTimeline"/>
    <dgm:cxn modelId="{22ECA226-C4EA-44F1-BCB5-77F78841DA6F}" type="presOf" srcId="{09C152DA-7620-4852-8162-A77EC3609F3F}" destId="{566B79CB-1A41-4F5C-BF91-58D94BF93913}" srcOrd="0" destOrd="0" presId="urn:microsoft.com/office/officeart/2016/7/layout/RoundedRectangleTimeline"/>
    <dgm:cxn modelId="{E2BBA750-A5E4-4F50-BE16-016934379F81}" type="presOf" srcId="{6C8937BE-93F8-4DED-8538-1C601DAEBA66}" destId="{B4723E2A-4FF1-452A-BD25-8EC364F15A6F}" srcOrd="0" destOrd="0" presId="urn:microsoft.com/office/officeart/2016/7/layout/RoundedRectangleTimeline"/>
    <dgm:cxn modelId="{F9B2D375-40BE-4E5D-AA88-61805FBFF819}" type="presOf" srcId="{8DB5D7D5-6A1C-4ABC-8850-759A9D876047}" destId="{954381E7-0584-46DD-8108-E9BF4F2B5005}" srcOrd="0" destOrd="0" presId="urn:microsoft.com/office/officeart/2016/7/layout/RoundedRectangleTimeline"/>
    <dgm:cxn modelId="{95630658-849E-4D9B-BA6C-9E6D18884223}" srcId="{C5146535-FD3D-4589-98A3-623B8DA4B8DB}" destId="{8B5B5FE0-3798-4697-8CA6-A82C3C93AA3F}" srcOrd="1" destOrd="0" parTransId="{9A1DB44F-C684-4964-A907-66ED6514D0C1}" sibTransId="{FEBF9F97-DF50-4DF8-917A-04E11B7A110D}"/>
    <dgm:cxn modelId="{E430C158-2CE6-47D2-94E2-F3720F1993EE}" srcId="{8DB5D7D5-6A1C-4ABC-8850-759A9D876047}" destId="{E8445AF3-973D-4012-9426-59D68962078E}" srcOrd="1" destOrd="0" parTransId="{6C699A67-ABE0-451A-9660-160727DC07CA}" sibTransId="{908905C0-0D6F-427A-9D3E-BBC441A4AEF5}"/>
    <dgm:cxn modelId="{3A537C79-CF7B-4ED1-909B-BB141C2EE378}" type="presOf" srcId="{8B5B5FE0-3798-4697-8CA6-A82C3C93AA3F}" destId="{DF65791B-462E-4589-B98D-F60587330CA8}" srcOrd="0" destOrd="1" presId="urn:microsoft.com/office/officeart/2016/7/layout/RoundedRectangleTimeline"/>
    <dgm:cxn modelId="{8EBF857E-7408-4941-91E4-293B0F59EEF7}" srcId="{6A70FD8F-0050-42E3-8B3A-6ED7CFB9852E}" destId="{C5146535-FD3D-4589-98A3-623B8DA4B8DB}" srcOrd="1" destOrd="0" parTransId="{20848F78-EC70-4162-96CE-CC68006930F0}" sibTransId="{7A3CCAF8-AC3A-401E-AEDD-44BBC1AA9C31}"/>
    <dgm:cxn modelId="{23ECAC8B-17A4-4883-AA0E-06D66B7E788A}" srcId="{6A70FD8F-0050-42E3-8B3A-6ED7CFB9852E}" destId="{09C152DA-7620-4852-8162-A77EC3609F3F}" srcOrd="2" destOrd="0" parTransId="{9F6D14C0-6C82-4CBD-8D6D-B0E117B6F2ED}" sibTransId="{0AE8D36D-0F0F-4206-AE39-0A2D73987B68}"/>
    <dgm:cxn modelId="{F7CF6B93-0962-464A-B722-B751C0B61B2C}" type="presOf" srcId="{E8445AF3-973D-4012-9426-59D68962078E}" destId="{5A1B764B-0DC5-47CD-BDEA-9E67799496EC}" srcOrd="0" destOrd="1" presId="urn:microsoft.com/office/officeart/2016/7/layout/RoundedRectangleTimeline"/>
    <dgm:cxn modelId="{F9540599-A193-456C-A9A9-8962E3855B0B}" type="presOf" srcId="{96262926-A67D-4E4E-9515-5EBC67F0B634}" destId="{5A1B764B-0DC5-47CD-BDEA-9E67799496EC}" srcOrd="0" destOrd="0" presId="urn:microsoft.com/office/officeart/2016/7/layout/RoundedRectangleTimeline"/>
    <dgm:cxn modelId="{E13585A2-54F2-486A-B317-F4D6AF7E83B9}" type="presOf" srcId="{E80CA270-6C90-4E17-ACEA-46B56AD54DD1}" destId="{DF65791B-462E-4589-B98D-F60587330CA8}" srcOrd="0" destOrd="0" presId="urn:microsoft.com/office/officeart/2016/7/layout/RoundedRectangleTimeline"/>
    <dgm:cxn modelId="{6A3F3FA9-9283-446A-A033-B36346526B4A}" srcId="{09C152DA-7620-4852-8162-A77EC3609F3F}" destId="{AA81C3B6-85AC-4FF2-A105-E1106330BABC}" srcOrd="1" destOrd="0" parTransId="{4C945F2A-D945-4D9B-B487-BAE117D5AB07}" sibTransId="{597E0892-AEC5-42BA-9309-8203DC3D9BF0}"/>
    <dgm:cxn modelId="{FAA8D3DD-12E8-457D-9144-B037C5678347}" srcId="{09C152DA-7620-4852-8162-A77EC3609F3F}" destId="{6C8937BE-93F8-4DED-8538-1C601DAEBA66}" srcOrd="0" destOrd="0" parTransId="{77D169C6-D77F-456D-B18B-D7BE016AD87A}" sibTransId="{A97BE953-FA9D-4BA6-A92C-494DB1F3BA59}"/>
    <dgm:cxn modelId="{C5202EE1-10E9-4076-9D55-9E0CF8B152AF}" srcId="{6A70FD8F-0050-42E3-8B3A-6ED7CFB9852E}" destId="{8DB5D7D5-6A1C-4ABC-8850-759A9D876047}" srcOrd="0" destOrd="0" parTransId="{D8874F40-D7B0-41DE-BB6F-A6014FEAB2D7}" sibTransId="{BD6E0A2E-99C8-4F5A-971A-CD211D1099FF}"/>
    <dgm:cxn modelId="{85C423EA-36BE-46A4-8E8A-A91C5CF6D1BC}" type="presOf" srcId="{AA81C3B6-85AC-4FF2-A105-E1106330BABC}" destId="{B4723E2A-4FF1-452A-BD25-8EC364F15A6F}" srcOrd="0" destOrd="1" presId="urn:microsoft.com/office/officeart/2016/7/layout/RoundedRectangleTimeline"/>
    <dgm:cxn modelId="{2DC28DF8-5C1B-4F53-A4C1-D5B63FB54BAF}" srcId="{C5146535-FD3D-4589-98A3-623B8DA4B8DB}" destId="{E80CA270-6C90-4E17-ACEA-46B56AD54DD1}" srcOrd="0" destOrd="0" parTransId="{7EEC8067-96EF-4BE0-8BE3-BA59ED78A31F}" sibTransId="{1AFE46E5-6B07-4894-8ECB-21BD7E7B8AF1}"/>
    <dgm:cxn modelId="{76459B4A-BC95-4631-A3CC-1410E80D5DFD}" type="presParOf" srcId="{AB52B3CC-6563-466D-BFC3-9B6B5AFA0881}" destId="{815EDF7B-AC93-4A61-87AA-CAA5D85C31A8}" srcOrd="0" destOrd="0" presId="urn:microsoft.com/office/officeart/2016/7/layout/RoundedRectangleTimeline"/>
    <dgm:cxn modelId="{4238FA88-CE43-4680-BFB0-73DED5612698}" type="presParOf" srcId="{815EDF7B-AC93-4A61-87AA-CAA5D85C31A8}" destId="{954381E7-0584-46DD-8108-E9BF4F2B5005}" srcOrd="0" destOrd="0" presId="urn:microsoft.com/office/officeart/2016/7/layout/RoundedRectangleTimeline"/>
    <dgm:cxn modelId="{6497CE05-0893-4952-B18A-28D71D90B841}" type="presParOf" srcId="{815EDF7B-AC93-4A61-87AA-CAA5D85C31A8}" destId="{5A1B764B-0DC5-47CD-BDEA-9E67799496EC}" srcOrd="1" destOrd="0" presId="urn:microsoft.com/office/officeart/2016/7/layout/RoundedRectangleTimeline"/>
    <dgm:cxn modelId="{CB8BA570-C0D4-4400-BED8-C9BC961A6553}" type="presParOf" srcId="{815EDF7B-AC93-4A61-87AA-CAA5D85C31A8}" destId="{122B38A3-0442-4747-820C-1F37877E2B0E}" srcOrd="2" destOrd="0" presId="urn:microsoft.com/office/officeart/2016/7/layout/RoundedRectangleTimeline"/>
    <dgm:cxn modelId="{82FC1E36-99F3-4E1F-8BD1-229D77A82EB1}" type="presParOf" srcId="{815EDF7B-AC93-4A61-87AA-CAA5D85C31A8}" destId="{A73181F6-69BB-4A47-8277-4671A45AC8C8}" srcOrd="3" destOrd="0" presId="urn:microsoft.com/office/officeart/2016/7/layout/RoundedRectangleTimeline"/>
    <dgm:cxn modelId="{7EAD7967-836C-4AB6-AAA2-ED2EF3F29E78}" type="presParOf" srcId="{815EDF7B-AC93-4A61-87AA-CAA5D85C31A8}" destId="{6E76EADA-5F61-4A59-B2F8-FA10112079FC}" srcOrd="4" destOrd="0" presId="urn:microsoft.com/office/officeart/2016/7/layout/RoundedRectangleTimeline"/>
    <dgm:cxn modelId="{3783DE09-7B3D-423E-960C-ED9DB81E314E}" type="presParOf" srcId="{AB52B3CC-6563-466D-BFC3-9B6B5AFA0881}" destId="{A8189248-0785-43F1-844C-4DE92841F254}" srcOrd="1" destOrd="0" presId="urn:microsoft.com/office/officeart/2016/7/layout/RoundedRectangleTimeline"/>
    <dgm:cxn modelId="{38B07C9C-D21D-4E2B-A78B-C30877B2689A}" type="presParOf" srcId="{AB52B3CC-6563-466D-BFC3-9B6B5AFA0881}" destId="{218D9CD7-D48D-464C-9A1C-0F322EC540B3}" srcOrd="2" destOrd="0" presId="urn:microsoft.com/office/officeart/2016/7/layout/RoundedRectangleTimeline"/>
    <dgm:cxn modelId="{E6790483-7B9E-44FB-9EAE-A282A4B9AB73}" type="presParOf" srcId="{218D9CD7-D48D-464C-9A1C-0F322EC540B3}" destId="{30804A27-188E-4A17-8FFE-97BCCA0597B8}" srcOrd="0" destOrd="0" presId="urn:microsoft.com/office/officeart/2016/7/layout/RoundedRectangleTimeline"/>
    <dgm:cxn modelId="{B31BDB48-FB8E-47F4-8F76-B90009D28A96}" type="presParOf" srcId="{218D9CD7-D48D-464C-9A1C-0F322EC540B3}" destId="{DF65791B-462E-4589-B98D-F60587330CA8}" srcOrd="1" destOrd="0" presId="urn:microsoft.com/office/officeart/2016/7/layout/RoundedRectangleTimeline"/>
    <dgm:cxn modelId="{517AE913-68B2-41AC-BE20-5D4195845D6F}" type="presParOf" srcId="{218D9CD7-D48D-464C-9A1C-0F322EC540B3}" destId="{DBA410EB-5F61-4F46-92D9-C5B0AA59EE15}" srcOrd="2" destOrd="0" presId="urn:microsoft.com/office/officeart/2016/7/layout/RoundedRectangleTimeline"/>
    <dgm:cxn modelId="{0F089045-7542-47F1-8B17-68354869406A}" type="presParOf" srcId="{218D9CD7-D48D-464C-9A1C-0F322EC540B3}" destId="{E1220EDB-B75C-43A5-B862-97E4C09130A7}" srcOrd="3" destOrd="0" presId="urn:microsoft.com/office/officeart/2016/7/layout/RoundedRectangleTimeline"/>
    <dgm:cxn modelId="{79B44ECC-99D2-49DD-9DEE-58B1D2AE6C6C}" type="presParOf" srcId="{218D9CD7-D48D-464C-9A1C-0F322EC540B3}" destId="{D8849157-215F-4E70-9735-315E97B5AC5C}" srcOrd="4" destOrd="0" presId="urn:microsoft.com/office/officeart/2016/7/layout/RoundedRectangleTimeline"/>
    <dgm:cxn modelId="{6930EC12-FB60-44F8-973F-19AC06AA90BB}" type="presParOf" srcId="{AB52B3CC-6563-466D-BFC3-9B6B5AFA0881}" destId="{7C467054-22FE-4C18-9934-29D7168DFF63}" srcOrd="3" destOrd="0" presId="urn:microsoft.com/office/officeart/2016/7/layout/RoundedRectangleTimeline"/>
    <dgm:cxn modelId="{1F4A4777-E935-453F-A5B9-015C6946FC6A}" type="presParOf" srcId="{AB52B3CC-6563-466D-BFC3-9B6B5AFA0881}" destId="{3E3E944D-A6EC-4962-9AC1-C585A4F97BDA}" srcOrd="4" destOrd="0" presId="urn:microsoft.com/office/officeart/2016/7/layout/RoundedRectangleTimeline"/>
    <dgm:cxn modelId="{94AC8B5D-A9B9-4EF3-AD1C-6024606B5BF8}" type="presParOf" srcId="{3E3E944D-A6EC-4962-9AC1-C585A4F97BDA}" destId="{566B79CB-1A41-4F5C-BF91-58D94BF93913}" srcOrd="0" destOrd="0" presId="urn:microsoft.com/office/officeart/2016/7/layout/RoundedRectangleTimeline"/>
    <dgm:cxn modelId="{A151554E-10B3-429A-9E0D-D40262ED6857}" type="presParOf" srcId="{3E3E944D-A6EC-4962-9AC1-C585A4F97BDA}" destId="{B4723E2A-4FF1-452A-BD25-8EC364F15A6F}" srcOrd="1" destOrd="0" presId="urn:microsoft.com/office/officeart/2016/7/layout/RoundedRectangleTimeline"/>
    <dgm:cxn modelId="{329635D9-081F-4DC9-88AA-E074B7400415}" type="presParOf" srcId="{3E3E944D-A6EC-4962-9AC1-C585A4F97BDA}" destId="{440E9361-37D2-4157-AF38-7B49AD23708B}" srcOrd="2" destOrd="0" presId="urn:microsoft.com/office/officeart/2016/7/layout/RoundedRectangleTimeline"/>
    <dgm:cxn modelId="{0F0D3AEA-9F0C-400E-A955-6CD1F474B6A4}" type="presParOf" srcId="{3E3E944D-A6EC-4962-9AC1-C585A4F97BDA}" destId="{C45E7B63-1C71-483E-A3A8-705CE86D4D8E}" srcOrd="3" destOrd="0" presId="urn:microsoft.com/office/officeart/2016/7/layout/RoundedRectangleTimeline"/>
    <dgm:cxn modelId="{91F0BE33-39D4-4457-A5CC-3F1682DB166D}" type="presParOf" srcId="{3E3E944D-A6EC-4962-9AC1-C585A4F97BDA}" destId="{4174F691-D9D3-451C-9893-D177DC3AED58}" srcOrd="4" destOrd="0" presId="urn:microsoft.com/office/officeart/2016/7/layout/RoundedRectangleTimeline"/>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54381E7-0584-46DD-8108-E9BF4F2B5005}">
      <dsp:nvSpPr>
        <dsp:cNvPr id="0" name=""/>
        <dsp:cNvSpPr/>
      </dsp:nvSpPr>
      <dsp:spPr>
        <a:xfrm rot="16200000">
          <a:off x="293592" y="770684"/>
          <a:ext cx="4432303" cy="3005230"/>
        </a:xfrm>
        <a:prstGeom prst="round2SameRect">
          <a:avLst/>
        </a:prstGeom>
        <a:solidFill>
          <a:schemeClr val="accent1">
            <a:shade val="80000"/>
            <a:hueOff val="0"/>
            <a:satOff val="0"/>
            <a:lumOff val="0"/>
            <a:alphaOff val="0"/>
          </a:schemeClr>
        </a:solidFill>
        <a:ln w="22225" cap="rnd"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2880" tIns="182880" rIns="182880" bIns="182880" numCol="1" spcCol="1270" anchor="ctr" anchorCtr="1">
          <a:noAutofit/>
        </a:bodyPr>
        <a:lstStyle/>
        <a:p>
          <a:pPr marL="0" lvl="0" indent="0" algn="ctr" defTabSz="1066800">
            <a:lnSpc>
              <a:spcPct val="90000"/>
            </a:lnSpc>
            <a:spcBef>
              <a:spcPct val="0"/>
            </a:spcBef>
            <a:spcAft>
              <a:spcPct val="35000"/>
            </a:spcAft>
            <a:buNone/>
          </a:pPr>
          <a:r>
            <a:rPr lang="en-US" sz="2400" kern="1200" dirty="0"/>
            <a:t>Introduction</a:t>
          </a:r>
        </a:p>
      </dsp:txBody>
      <dsp:txXfrm rot="5400000">
        <a:off x="1153832" y="203851"/>
        <a:ext cx="2858527" cy="4138897"/>
      </dsp:txXfrm>
    </dsp:sp>
    <dsp:sp modelId="{5A1B764B-0DC5-47CD-BDEA-9E67799496EC}">
      <dsp:nvSpPr>
        <dsp:cNvPr id="0" name=""/>
        <dsp:cNvSpPr/>
      </dsp:nvSpPr>
      <dsp:spPr>
        <a:xfrm>
          <a:off x="5385" y="0"/>
          <a:ext cx="5008717" cy="1591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137160" numCol="1" spcCol="1270" anchor="b" anchorCtr="1">
          <a:noAutofit/>
        </a:bodyPr>
        <a:lstStyle/>
        <a:p>
          <a:pPr marL="0" lvl="0" indent="0" algn="ctr" defTabSz="800100">
            <a:lnSpc>
              <a:spcPct val="90000"/>
            </a:lnSpc>
            <a:spcBef>
              <a:spcPct val="0"/>
            </a:spcBef>
            <a:spcAft>
              <a:spcPct val="35000"/>
            </a:spcAft>
            <a:buNone/>
          </a:pPr>
          <a:r>
            <a:rPr lang="en-US" sz="1800" kern="1200" dirty="0"/>
            <a:t>Database Systems</a:t>
          </a:r>
        </a:p>
        <a:p>
          <a:pPr marL="0" lvl="0" indent="0" algn="ctr" defTabSz="800100">
            <a:lnSpc>
              <a:spcPct val="90000"/>
            </a:lnSpc>
            <a:spcBef>
              <a:spcPct val="0"/>
            </a:spcBef>
            <a:spcAft>
              <a:spcPct val="35000"/>
            </a:spcAft>
            <a:buNone/>
          </a:pPr>
          <a:r>
            <a:rPr lang="en-IN" sz="1800" kern="1200" dirty="0"/>
            <a:t>SQL vs NoSQL</a:t>
          </a:r>
          <a:endParaRPr lang="en-US" sz="1800" kern="1200" dirty="0"/>
        </a:p>
      </dsp:txBody>
      <dsp:txXfrm>
        <a:off x="5385" y="0"/>
        <a:ext cx="5008717" cy="1591310"/>
      </dsp:txXfrm>
    </dsp:sp>
    <dsp:sp modelId="{122B38A3-0442-4747-820C-1F37877E2B0E}">
      <dsp:nvSpPr>
        <dsp:cNvPr id="0" name=""/>
        <dsp:cNvSpPr/>
      </dsp:nvSpPr>
      <dsp:spPr>
        <a:xfrm>
          <a:off x="2509744" y="1682242"/>
          <a:ext cx="0" cy="363728"/>
        </a:xfrm>
        <a:prstGeom prst="line">
          <a:avLst/>
        </a:prstGeom>
        <a:noFill/>
        <a:ln w="12700" cap="rnd" cmpd="sng" algn="ctr">
          <a:solidFill>
            <a:schemeClr val="accent1">
              <a:shade val="90000"/>
              <a:hueOff val="93466"/>
              <a:satOff val="1924"/>
              <a:lumOff val="8231"/>
              <a:alphaOff val="0"/>
            </a:schemeClr>
          </a:solidFill>
          <a:prstDash val="dash"/>
        </a:ln>
        <a:effectLst/>
      </dsp:spPr>
      <dsp:style>
        <a:lnRef idx="1">
          <a:scrgbClr r="0" g="0" b="0"/>
        </a:lnRef>
        <a:fillRef idx="0">
          <a:scrgbClr r="0" g="0" b="0"/>
        </a:fillRef>
        <a:effectRef idx="0">
          <a:scrgbClr r="0" g="0" b="0"/>
        </a:effectRef>
        <a:fontRef idx="minor"/>
      </dsp:style>
    </dsp:sp>
    <dsp:sp modelId="{A73181F6-69BB-4A47-8277-4671A45AC8C8}">
      <dsp:nvSpPr>
        <dsp:cNvPr id="0" name=""/>
        <dsp:cNvSpPr/>
      </dsp:nvSpPr>
      <dsp:spPr>
        <a:xfrm>
          <a:off x="2464278" y="1591310"/>
          <a:ext cx="90932" cy="90932"/>
        </a:xfrm>
        <a:prstGeom prst="ellipse">
          <a:avLst/>
        </a:prstGeom>
        <a:solidFill>
          <a:schemeClr val="accent1">
            <a:shade val="80000"/>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0804A27-188E-4A17-8FFE-97BCCA0597B8}">
      <dsp:nvSpPr>
        <dsp:cNvPr id="0" name=""/>
        <dsp:cNvSpPr/>
      </dsp:nvSpPr>
      <dsp:spPr>
        <a:xfrm>
          <a:off x="4012359" y="57148"/>
          <a:ext cx="3005230" cy="4432303"/>
        </a:xfrm>
        <a:prstGeom prst="rect">
          <a:avLst/>
        </a:prstGeom>
        <a:solidFill>
          <a:schemeClr val="accent1">
            <a:shade val="80000"/>
            <a:hueOff val="223096"/>
            <a:satOff val="-4529"/>
            <a:lumOff val="15339"/>
            <a:alphaOff val="0"/>
          </a:schemeClr>
        </a:solidFill>
        <a:ln w="22225" cap="rnd" cmpd="sng" algn="ctr">
          <a:solidFill>
            <a:schemeClr val="accent1">
              <a:shade val="80000"/>
              <a:hueOff val="223096"/>
              <a:satOff val="-4529"/>
              <a:lumOff val="15339"/>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2880" tIns="182880" rIns="182880" bIns="182880" numCol="1" spcCol="1270" anchor="ctr" anchorCtr="1">
          <a:noAutofit/>
        </a:bodyPr>
        <a:lstStyle/>
        <a:p>
          <a:pPr marL="0" lvl="0" indent="0" algn="ctr" defTabSz="1066800">
            <a:lnSpc>
              <a:spcPct val="90000"/>
            </a:lnSpc>
            <a:spcBef>
              <a:spcPct val="0"/>
            </a:spcBef>
            <a:spcAft>
              <a:spcPct val="35000"/>
            </a:spcAft>
            <a:buNone/>
          </a:pPr>
          <a:r>
            <a:rPr lang="en-US" sz="2400" kern="1200" dirty="0" err="1"/>
            <a:t>Datastax</a:t>
          </a:r>
          <a:r>
            <a:rPr lang="en-US" sz="2400" kern="1200" dirty="0"/>
            <a:t> (Cassandra) </a:t>
          </a:r>
        </a:p>
      </dsp:txBody>
      <dsp:txXfrm>
        <a:off x="4012359" y="57148"/>
        <a:ext cx="3005230" cy="4432303"/>
      </dsp:txXfrm>
    </dsp:sp>
    <dsp:sp modelId="{DF65791B-462E-4589-B98D-F60587330CA8}">
      <dsp:nvSpPr>
        <dsp:cNvPr id="0" name=""/>
        <dsp:cNvSpPr/>
      </dsp:nvSpPr>
      <dsp:spPr>
        <a:xfrm>
          <a:off x="3010616" y="2955290"/>
          <a:ext cx="5008717" cy="1591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37160" rIns="0" bIns="0" numCol="1" spcCol="1270" anchor="t" anchorCtr="1">
          <a:noAutofit/>
        </a:bodyPr>
        <a:lstStyle/>
        <a:p>
          <a:pPr marL="0" lvl="0" indent="0" algn="ctr" defTabSz="800100">
            <a:lnSpc>
              <a:spcPct val="90000"/>
            </a:lnSpc>
            <a:spcBef>
              <a:spcPct val="0"/>
            </a:spcBef>
            <a:spcAft>
              <a:spcPct val="35000"/>
            </a:spcAft>
            <a:buNone/>
          </a:pPr>
          <a:r>
            <a:rPr lang="en-US" sz="1800" kern="1200" dirty="0"/>
            <a:t>History</a:t>
          </a:r>
        </a:p>
        <a:p>
          <a:pPr marL="0" lvl="0" indent="0" algn="ctr" defTabSz="800100">
            <a:lnSpc>
              <a:spcPct val="90000"/>
            </a:lnSpc>
            <a:spcBef>
              <a:spcPct val="0"/>
            </a:spcBef>
            <a:spcAft>
              <a:spcPct val="35000"/>
            </a:spcAft>
            <a:buNone/>
          </a:pPr>
          <a:r>
            <a:rPr lang="en-IN" sz="1800" kern="1200" dirty="0"/>
            <a:t>Features</a:t>
          </a:r>
        </a:p>
        <a:p>
          <a:pPr marL="0" lvl="0" indent="0" algn="ctr" defTabSz="800100">
            <a:lnSpc>
              <a:spcPct val="90000"/>
            </a:lnSpc>
            <a:spcBef>
              <a:spcPct val="0"/>
            </a:spcBef>
            <a:spcAft>
              <a:spcPct val="35000"/>
            </a:spcAft>
            <a:buNone/>
          </a:pPr>
          <a:r>
            <a:rPr lang="en-US" sz="1800" kern="1200" dirty="0"/>
            <a:t>Comparison</a:t>
          </a:r>
        </a:p>
      </dsp:txBody>
      <dsp:txXfrm>
        <a:off x="3010616" y="2955290"/>
        <a:ext cx="5008717" cy="1591310"/>
      </dsp:txXfrm>
    </dsp:sp>
    <dsp:sp modelId="{DBA410EB-5F61-4F46-92D9-C5B0AA59EE15}">
      <dsp:nvSpPr>
        <dsp:cNvPr id="0" name=""/>
        <dsp:cNvSpPr/>
      </dsp:nvSpPr>
      <dsp:spPr>
        <a:xfrm>
          <a:off x="5514974" y="2500630"/>
          <a:ext cx="0" cy="363728"/>
        </a:xfrm>
        <a:prstGeom prst="line">
          <a:avLst/>
        </a:prstGeom>
        <a:noFill/>
        <a:ln w="12700" cap="rnd" cmpd="sng" algn="ctr">
          <a:solidFill>
            <a:schemeClr val="accent1">
              <a:shade val="90000"/>
              <a:hueOff val="140199"/>
              <a:satOff val="2886"/>
              <a:lumOff val="12346"/>
              <a:alphaOff val="0"/>
            </a:schemeClr>
          </a:solidFill>
          <a:prstDash val="dash"/>
        </a:ln>
        <a:effectLst/>
      </dsp:spPr>
      <dsp:style>
        <a:lnRef idx="1">
          <a:scrgbClr r="0" g="0" b="0"/>
        </a:lnRef>
        <a:fillRef idx="0">
          <a:scrgbClr r="0" g="0" b="0"/>
        </a:fillRef>
        <a:effectRef idx="0">
          <a:scrgbClr r="0" g="0" b="0"/>
        </a:effectRef>
        <a:fontRef idx="minor"/>
      </dsp:style>
    </dsp:sp>
    <dsp:sp modelId="{E1220EDB-B75C-43A5-B862-97E4C09130A7}">
      <dsp:nvSpPr>
        <dsp:cNvPr id="0" name=""/>
        <dsp:cNvSpPr/>
      </dsp:nvSpPr>
      <dsp:spPr>
        <a:xfrm>
          <a:off x="5469508" y="2864358"/>
          <a:ext cx="90932" cy="90932"/>
        </a:xfrm>
        <a:prstGeom prst="ellipse">
          <a:avLst/>
        </a:prstGeom>
        <a:solidFill>
          <a:schemeClr val="accent1">
            <a:shade val="80000"/>
            <a:hueOff val="223096"/>
            <a:satOff val="-4529"/>
            <a:lumOff val="15339"/>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66B79CB-1A41-4F5C-BF91-58D94BF93913}">
      <dsp:nvSpPr>
        <dsp:cNvPr id="0" name=""/>
        <dsp:cNvSpPr/>
      </dsp:nvSpPr>
      <dsp:spPr>
        <a:xfrm rot="5400000">
          <a:off x="6304054" y="770684"/>
          <a:ext cx="4432303" cy="3005230"/>
        </a:xfrm>
        <a:prstGeom prst="round2SameRect">
          <a:avLst/>
        </a:prstGeom>
        <a:solidFill>
          <a:schemeClr val="accent1">
            <a:shade val="80000"/>
            <a:hueOff val="446191"/>
            <a:satOff val="-9058"/>
            <a:lumOff val="30677"/>
            <a:alphaOff val="0"/>
          </a:schemeClr>
        </a:solidFill>
        <a:ln w="22225" cap="rnd" cmpd="sng" algn="ctr">
          <a:solidFill>
            <a:schemeClr val="accent1">
              <a:shade val="80000"/>
              <a:hueOff val="446191"/>
              <a:satOff val="-9058"/>
              <a:lumOff val="30677"/>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2880" tIns="182880" rIns="182880" bIns="182880" numCol="1" spcCol="1270" anchor="ctr" anchorCtr="1">
          <a:noAutofit/>
        </a:bodyPr>
        <a:lstStyle/>
        <a:p>
          <a:pPr marL="0" lvl="0" indent="0" algn="ctr" defTabSz="1066800">
            <a:lnSpc>
              <a:spcPct val="90000"/>
            </a:lnSpc>
            <a:spcBef>
              <a:spcPct val="0"/>
            </a:spcBef>
            <a:spcAft>
              <a:spcPct val="35000"/>
            </a:spcAft>
            <a:buNone/>
          </a:pPr>
          <a:r>
            <a:rPr lang="en-US" sz="2400" kern="1200" dirty="0">
              <a:solidFill>
                <a:prstClr val="white"/>
              </a:solidFill>
              <a:latin typeface="Franklin Gothic Book" panose="020B0502020104020203"/>
              <a:ea typeface="+mn-ea"/>
              <a:cs typeface="+mn-cs"/>
            </a:rPr>
            <a:t>Install</a:t>
          </a:r>
        </a:p>
      </dsp:txBody>
      <dsp:txXfrm rot="-5400000">
        <a:off x="7017591" y="203851"/>
        <a:ext cx="2858527" cy="4138897"/>
      </dsp:txXfrm>
    </dsp:sp>
    <dsp:sp modelId="{B4723E2A-4FF1-452A-BD25-8EC364F15A6F}">
      <dsp:nvSpPr>
        <dsp:cNvPr id="0" name=""/>
        <dsp:cNvSpPr/>
      </dsp:nvSpPr>
      <dsp:spPr>
        <a:xfrm>
          <a:off x="6015846" y="0"/>
          <a:ext cx="5008717" cy="1591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137160" numCol="1" spcCol="1270" anchor="b" anchorCtr="1">
          <a:noAutofit/>
        </a:bodyPr>
        <a:lstStyle/>
        <a:p>
          <a:pPr marL="0" lvl="0" indent="0" algn="ctr" defTabSz="800100">
            <a:lnSpc>
              <a:spcPct val="90000"/>
            </a:lnSpc>
            <a:spcBef>
              <a:spcPct val="0"/>
            </a:spcBef>
            <a:spcAft>
              <a:spcPct val="35000"/>
            </a:spcAft>
            <a:buNone/>
          </a:pPr>
          <a:r>
            <a:rPr lang="en-US" sz="1800" kern="1200" dirty="0"/>
            <a:t>Install Single Node Cluster</a:t>
          </a:r>
        </a:p>
        <a:p>
          <a:pPr marL="0" lvl="0" indent="0" algn="ctr" defTabSz="800100">
            <a:lnSpc>
              <a:spcPct val="90000"/>
            </a:lnSpc>
            <a:spcBef>
              <a:spcPct val="0"/>
            </a:spcBef>
            <a:spcAft>
              <a:spcPct val="35000"/>
            </a:spcAft>
            <a:buNone/>
          </a:pPr>
          <a:r>
            <a:rPr lang="en-IN" sz="1800" kern="1200"/>
            <a:t>Docker Installation</a:t>
          </a:r>
          <a:endParaRPr lang="en-US" sz="1800" kern="1200" dirty="0"/>
        </a:p>
      </dsp:txBody>
      <dsp:txXfrm>
        <a:off x="6015846" y="0"/>
        <a:ext cx="5008717" cy="1591310"/>
      </dsp:txXfrm>
    </dsp:sp>
    <dsp:sp modelId="{440E9361-37D2-4157-AF38-7B49AD23708B}">
      <dsp:nvSpPr>
        <dsp:cNvPr id="0" name=""/>
        <dsp:cNvSpPr/>
      </dsp:nvSpPr>
      <dsp:spPr>
        <a:xfrm>
          <a:off x="8520205" y="1682242"/>
          <a:ext cx="0" cy="363728"/>
        </a:xfrm>
        <a:prstGeom prst="line">
          <a:avLst/>
        </a:prstGeom>
        <a:noFill/>
        <a:ln w="12700" cap="rnd" cmpd="sng" algn="ctr">
          <a:solidFill>
            <a:schemeClr val="accent1">
              <a:shade val="90000"/>
              <a:hueOff val="186931"/>
              <a:satOff val="3848"/>
              <a:lumOff val="16461"/>
              <a:alphaOff val="0"/>
            </a:schemeClr>
          </a:solidFill>
          <a:prstDash val="dash"/>
        </a:ln>
        <a:effectLst/>
      </dsp:spPr>
      <dsp:style>
        <a:lnRef idx="1">
          <a:scrgbClr r="0" g="0" b="0"/>
        </a:lnRef>
        <a:fillRef idx="0">
          <a:scrgbClr r="0" g="0" b="0"/>
        </a:fillRef>
        <a:effectRef idx="0">
          <a:scrgbClr r="0" g="0" b="0"/>
        </a:effectRef>
        <a:fontRef idx="minor"/>
      </dsp:style>
    </dsp:sp>
    <dsp:sp modelId="{C45E7B63-1C71-483E-A3A8-705CE86D4D8E}">
      <dsp:nvSpPr>
        <dsp:cNvPr id="0" name=""/>
        <dsp:cNvSpPr/>
      </dsp:nvSpPr>
      <dsp:spPr>
        <a:xfrm>
          <a:off x="8474739" y="1591310"/>
          <a:ext cx="90932" cy="90932"/>
        </a:xfrm>
        <a:prstGeom prst="ellipse">
          <a:avLst/>
        </a:prstGeom>
        <a:solidFill>
          <a:schemeClr val="accent1">
            <a:shade val="80000"/>
            <a:hueOff val="446191"/>
            <a:satOff val="-9058"/>
            <a:lumOff val="30677"/>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16/7/layout/RoundedRectangleTimeline">
  <dgm:title val="Rounded Rectangle Timeline"/>
  <dgm:desc val="Use to show a list of events in chronological order. An invisible box contains the description while the date is shown in rectangles, except for the first and last node where the corners of the rectangle are rounded. It can display large amount of text and long descriptive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chMax/>
      <dgm:chPref/>
      <dgm:animLvl val="lvl"/>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constrLst>
      <dgm:constr type="primFontSz" for="des" forName="parent" val="18"/>
      <dgm:constr type="primFontSz" for="des" forName="Childtext" val="18"/>
      <dgm:constr type="primFontSz" for="des" forName="Childtext" refType="primFontSz" refFor="des" refForName="parent" op="lte"/>
      <dgm:constr type="w" for="ch" forName="composite" refType="w"/>
      <dgm:constr type="h" for="ch" forName="composite" refType="h"/>
      <dgm:constr type="w" for="ch" forName="spaceBetweenRectangles" refType="w" refFor="ch" refForName="composite" fact="-0.4"/>
      <dgm:constr type="w" for="ch" ptType="sibTrans" op="equ"/>
      <dgm:constr type="primFontSz" for="des" forName="parent" op="equ"/>
      <dgm:constr type="primFontSz" for="des" forName="Childtext" op="equ"/>
      <dgm:constr type="primFontSz" for="des" forName="parent1" val="18"/>
      <dgm:constr type="primFontSz" for="des" forName="Childtext1" val="18"/>
      <dgm:constr type="primFontSz" for="des" forName="Childtext1" refType="primFontSz" refFor="des" refForName="parent1" op="lte"/>
      <dgm:constr type="w" for="ch" forName="composite1" refType="w"/>
      <dgm:constr type="h" for="ch" forName="composite1" refType="h"/>
      <dgm:constr type="w" for="ch" forName="spaceBetweenRectangles1" refType="w" refFor="ch" refForName="composite1" fact="-0.4"/>
      <dgm:constr type="primFontSz" for="des" forName="parent1" op="equ"/>
      <dgm:constr type="primFontSz" for="des" forName="Childtext1" op="equ"/>
    </dgm:constrLst>
    <dgm:choose name="layoutByNodeCnt">
      <dgm:if name="twoOrLessNodes" axis="ch" ptType="node" func="cnt" op="lte" val="2">
        <dgm:forEach name="nodesForEach" axis="ch" ptType="node">
          <dgm:layoutNode name="composite">
            <dgm:alg type="composite"/>
            <dgm:shape xmlns:r="http://schemas.openxmlformats.org/officeDocument/2006/relationships" r:blip="">
              <dgm:adjLst/>
            </dgm:shape>
            <dgm:choose name="casesForFirstAndLastNode1">
              <dgm:if name="startNode1" axis="self" ptType="node" func="pos" op="equ" val="1">
                <dgm:choose name="removeLineWhenOnlyOneNode1">
                  <dgm:if name="ifOnlyOneNode1" axis="followSib" ptType="node" func="cnt" op="equ" val="0">
                    <dgm:constrLst>
                      <dgm:constr type="w" for="ch" forName="parent" refType="w" fact="0.95"/>
                      <dgm:constr type="l" for="ch" forName="parent" refType="w" fact="0.025"/>
                      <dgm:constr type="t" for="ch" forName="parent" refType="h" fact="0.45"/>
                      <dgm:constr type="h" for="ch" forName="parent" refType="h" fact="0.1"/>
                      <dgm:constr type="l" for="ch" forName="Childtext" refType="w" fact="0.025"/>
                      <dgm:constr type="w" for="ch" forName="Childtext" refType="w" fact="0.95"/>
                      <dgm:constr type="h" for="ch" forName="Childtext" refType="h" fact="0.35"/>
                      <dgm:constr type="w" for="ch" forName="ConnectLine"/>
                      <dgm:constr type="h" for="ch" forName="ConnectLine" refType="h" fact="0.08"/>
                      <dgm:constr type="t" for="ch" forName="ConnectLine" refType="h" fact="0.37"/>
                      <dgm:constr type="ctrX" for="ch" forName="ConnectLine" refType="w" fact="0.5"/>
                      <dgm:constr type="w" for="ch" forName="ConnectLineEnd" refType="h" fact="0.02"/>
                      <dgm:constr type="h" for="ch" forName="ConnectLineEnd" refType="h" fact="0.02"/>
                      <dgm:constr type="t" for="ch" forName="ConnectLineEnd" refType="h" fact="0.35"/>
                      <dgm:constr type="ctrX" for="ch" forName="ConnectLineEnd" refType="w" fact="0.5"/>
                      <dgm:constr type="w" for="ch" forName="EmptyPane" refType="w"/>
                      <dgm:constr type="t" for="ch" forName="EmptyPane" refType="h" fact="0.55"/>
                      <dgm:constr type="h" for="ch" forName="EmptyPane" refType="h" fact="0.45"/>
                    </dgm:constrLst>
                  </dgm:if>
                  <dgm:else name="ifMoreThanOneNode1">
                    <dgm:constrLst>
                      <dgm:constr type="w" for="ch" forName="parent" refType="w" fact="0.6"/>
                      <dgm:constr type="l" for="ch" forName="parent" refType="w" fact="0.2"/>
                      <dgm:constr type="t" for="ch" forName="parent" refType="h" fact="0.45"/>
                      <dgm:constr type="h" for="ch" forName="parent" refType="h" fact="0.1"/>
                      <dgm:constr type="l" for="ch" forName="Childtext" refType="w" fact="0.2"/>
                      <dgm:constr type="w" for="ch" forName="Childtext" refType="w" fact="0.6"/>
                      <dgm:constr type="h" for="ch" forName="Childtext" refType="h" fact="0.35"/>
                      <dgm:constr type="w" for="ch" forName="ConnectLine"/>
                      <dgm:constr type="h" for="ch" forName="ConnectLine" refType="h" fact="0.08"/>
                      <dgm:constr type="t" for="ch" forName="ConnectLine" refType="h" fact="0.37"/>
                      <dgm:constr type="ctrX" for="ch" forName="ConnectLine" refType="w" fact="0.5"/>
                      <dgm:constr type="w" for="ch" forName="ConnectLineEnd" refType="h" fact="0.02"/>
                      <dgm:constr type="h" for="ch" forName="ConnectLineEnd" refType="h" fact="0.02"/>
                      <dgm:constr type="t" for="ch" forName="ConnectLineEnd" refType="h" fact="0.35"/>
                      <dgm:constr type="ctrX" for="ch" forName="ConnectLineEnd" refType="w" fact="0.5"/>
                      <dgm:constr type="w" for="ch" forName="EmptyPane" refType="w"/>
                      <dgm:constr type="t" for="ch" forName="EmptyPane" refType="h" fact="0.55"/>
                      <dgm:constr type="h" for="ch" forName="EmptyPane" refType="h" fact="0.45"/>
                    </dgm:constrLst>
                  </dgm:else>
                </dgm:choose>
              </dgm:if>
              <dgm:else name="notStartNode1">
                <dgm:constrLst>
                  <dgm:constr type="w" for="ch" forName="parent" refType="w" fact="0.6"/>
                  <dgm:constr type="l" for="ch" forName="parent" refType="w" fact="0.2"/>
                  <dgm:constr type="t" for="ch" forName="parent" refType="h" fact="0.45"/>
                  <dgm:constr type="h" for="ch" forName="parent" refType="h" fact="0.1"/>
                  <dgm:constr type="l" for="ch" forName="Childtext" refType="w" fact="0.2"/>
                  <dgm:constr type="w" for="ch" forName="Childtext" refType="w" fact="0.6"/>
                  <dgm:constr type="h" for="ch" forName="Childtext" refType="h" fact="0.35"/>
                  <dgm:constr type="t" for="ch" forName="Childtext" refType="h" fact="0.65"/>
                  <dgm:constr type="w" for="ch" forName="ConnectLine"/>
                  <dgm:constr type="h" for="ch" forName="ConnectLine" refType="h" fact="0.08"/>
                  <dgm:constr type="t" for="ch" forName="ConnectLine" refType="h" fact="0.55"/>
                  <dgm:constr type="ctrX" for="ch" forName="ConnectLine" refType="w" fact="0.5"/>
                  <dgm:constr type="w" for="ch" forName="ConnectLineEnd" refType="h" fact="0.02"/>
                  <dgm:constr type="h" for="ch" forName="ConnectLineEnd" refType="h" fact="0.02"/>
                  <dgm:constr type="b" for="ch" forName="ConnectLineEnd" refType="h" fact="0.65"/>
                  <dgm:constr type="ctrX" for="ch" forName="ConnectLineEnd" refType="w" fact="0.5"/>
                  <dgm:constr type="w" for="ch" forName="EmptyPane" refType="w"/>
                  <dgm:constr type="h" for="ch" forName="EmptyPane" refType="h" fact="0.45"/>
                </dgm:constrLst>
              </dgm:else>
            </dgm:choose>
            <dgm:layoutNode name="parent" styleLbl="alignNode1">
              <dgm:varLst>
                <dgm:chMax val="1"/>
                <dgm:chPref val="1"/>
                <dgm:bulletEnabled val="1"/>
              </dgm:varLst>
              <dgm:alg type="tx">
                <dgm:param type="txAnchorHorz" val="ctr"/>
                <dgm:param type="txAnchorVert" val="mid"/>
                <dgm:param type="parTxLTRAlign" val="ctr"/>
                <dgm:param type="parTxRTLAlign" val="ctr"/>
              </dgm:alg>
              <dgm:choose name="casesForFirstAndLastNode">
                <dgm:if name="startNode" axis="self" ptType="node" func="pos" op="equ" val="1">
                  <dgm:choose name="removeLineWhenOnlyOneNode">
                    <dgm:if name="ifOnlyOneNode" axis="followSib" ptType="node" func="cnt" op="equ" val="0">
                      <dgm:shape xmlns:r="http://schemas.openxmlformats.org/officeDocument/2006/relationships" type="roundRect" r:blip="">
                        <dgm:adjLst/>
                      </dgm:shape>
                    </dgm:if>
                    <dgm:else name="ifMoreThanOneNode">
                      <dgm:choose name="Name18">
                        <dgm:if name="Name19" func="var" arg="dir" op="equ" val="norm">
                          <dgm:shape xmlns:r="http://schemas.openxmlformats.org/officeDocument/2006/relationships" rot="-90" type="round2SameRect" r:blip="">
                            <dgm:adjLst/>
                          </dgm:shape>
                        </dgm:if>
                        <dgm:else name="Name20">
                          <dgm:shape xmlns:r="http://schemas.openxmlformats.org/officeDocument/2006/relationships" rot="90" type="round2SameRect" r:blip="">
                            <dgm:adjLst/>
                          </dgm:shape>
                        </dgm:else>
                      </dgm:choose>
                    </dgm:else>
                  </dgm:choose>
                </dgm:if>
                <dgm:else name="notStartNode">
                  <dgm:choose name="Name22">
                    <dgm:if name="Name23" axis="self" ptType="node" func="revPos" op="equ" val="1">
                      <dgm:choose name="Name24">
                        <dgm:if name="Name25" func="var" arg="dir" op="equ" val="norm">
                          <dgm:shape xmlns:r="http://schemas.openxmlformats.org/officeDocument/2006/relationships" rot="90" type="round2SameRect" r:blip="">
                            <dgm:adjLst/>
                          </dgm:shape>
                        </dgm:if>
                        <dgm:else name="Name26">
                          <dgm:shape xmlns:r="http://schemas.openxmlformats.org/officeDocument/2006/relationships" rot="-90" type="round2SameRect" r:blip="">
                            <dgm:adjLst/>
                          </dgm:shape>
                        </dgm:else>
                      </dgm:choose>
                    </dgm:if>
                    <dgm:else name="Name27">
                      <dgm:shape xmlns:r="http://schemas.openxmlformats.org/officeDocument/2006/relationships" type="rect" r:blip="">
                        <dgm:adjLst/>
                      </dgm:shape>
                    </dgm:else>
                  </dgm:choose>
                </dgm:else>
              </dgm:choose>
              <dgm:presOf axis="self" ptType="node"/>
              <dgm:constrLst>
                <dgm:constr type="lMarg" refType="primFontSz" fact="0.6"/>
                <dgm:constr type="rMarg" refType="primFontSz" fact="0.6"/>
                <dgm:constr type="tMarg" refType="primFontSz" fact="0.6"/>
                <dgm:constr type="bMarg" refType="primFontSz" fact="0.6"/>
              </dgm:constrLst>
              <dgm:ruleLst>
                <dgm:rule type="primFontSz" val="11" fact="NaN" max="NaN"/>
              </dgm:ruleLst>
            </dgm:layoutNode>
            <dgm:layoutNode name="Childtext" styleLbl="revTx">
              <dgm:varLst>
                <dgm:bulletEnabled val="1"/>
              </dgm:varLst>
              <dgm:choose name="casesForTxtDirLogic">
                <dgm:if name="Name77" axis="self" ptType="node" func="posOdd" op="equ" val="1">
                  <dgm:alg type="tx">
                    <dgm:param type="txAnchorVert" val="b"/>
                    <dgm:param type="txAnchorHorz" val="ctr"/>
                    <dgm:param type="parTxLTRAlign" val="ctr"/>
                    <dgm:param type="parTxRTLAlign" val="ctr"/>
                  </dgm:alg>
                  <dgm:constrLst>
                    <dgm:constr type="lMarg"/>
                    <dgm:constr type="rMarg"/>
                    <dgm:constr type="tMarg"/>
                    <dgm:constr type="bMarg" refType="primFontSz" fact="0.6"/>
                  </dgm:constrLst>
                </dgm:if>
                <dgm:else name="Name88">
                  <dgm:alg type="tx">
                    <dgm:param type="txAnchorVert" val="t"/>
                    <dgm:param type="txAnchorHorz" val="ctr"/>
                    <dgm:param type="parTxLTRAlign" val="ctr"/>
                    <dgm:param type="parTxRTLAlign" val="ctr"/>
                  </dgm:alg>
                  <dgm:constrLst>
                    <dgm:constr type="lMarg"/>
                    <dgm:constr type="rMarg"/>
                    <dgm:constr type="tMarg" refType="primFontSz" fact="0.6"/>
                    <dgm:constr type="bMarg"/>
                  </dgm:constrLst>
                </dgm:else>
              </dgm:choose>
              <dgm:shape xmlns:r="http://schemas.openxmlformats.org/officeDocument/2006/relationships" type="rect" r:blip="">
                <dgm:adjLst/>
              </dgm:shape>
              <dgm:presOf axis="ch" ptType="node"/>
              <dgm:ruleLst>
                <dgm:rule type="primFontSz" val="11" fact="NaN" max="NaN"/>
              </dgm:ruleLst>
            </dgm:layoutNode>
            <dgm:layoutNode name="ConnectLine" styleLbl="sibTrans1D1">
              <dgm:alg type="sp"/>
              <dgm:shape xmlns:r="http://schemas.openxmlformats.org/officeDocument/2006/relationships" type="line" r:blip="">
                <dgm:adjLst/>
                <dgm:extLst>
                  <a:ext uri="{B698B0E9-8C71-41B9-8309-B3DCBF30829C}">
                    <dgm1612:spPr xmlns:dgm1612="http://schemas.microsoft.com/office/drawing/2016/12/diagram">
                      <a:ln>
                        <a:prstDash val="dash"/>
                      </a:ln>
                    </dgm1612:spPr>
                  </a:ext>
                </dgm:extLst>
              </dgm:shape>
              <dgm:presOf/>
              <dgm:constrLst/>
            </dgm:layoutNode>
            <dgm:layoutNode name="ConnectLineEnd" styleLbl="lnNode1">
              <dgm:alg type="sp"/>
              <dgm:shape xmlns:r="http://schemas.openxmlformats.org/officeDocument/2006/relationships" type="ellipse" r:blip="">
                <dgm:adjLst/>
              </dgm:shape>
              <dgm:presOf/>
              <dgm:constrLst/>
            </dgm:layoutNode>
            <dgm:layoutNode name="EmptyPane">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if>
      <dgm:else name="moreThanTwoNodes">
        <dgm:forEach name="nodesForEach1" axis="ch" ptType="node">
          <dgm:layoutNode name="composite1">
            <dgm:alg type="composite"/>
            <dgm:shape xmlns:r="http://schemas.openxmlformats.org/officeDocument/2006/relationships" r:blip="">
              <dgm:adjLst/>
            </dgm:shape>
            <dgm:choose name="casesForSnakingLogic21">
              <dgm:if name="oddNode21" axis="self" ptType="node" func="posOdd" op="equ" val="1">
                <dgm:constrLst>
                  <dgm:constr type="w" for="ch" forName="parent1" refType="w" fact="0.6"/>
                  <dgm:constr type="l" for="ch" forName="parent1" refType="w" fact="0.2"/>
                  <dgm:constr type="t" for="ch" forName="parent1" refType="h" fact="0.45"/>
                  <dgm:constr type="h" for="ch" forName="parent1" refType="h" fact="0.1"/>
                  <dgm:constr type="w" for="ch" forName="Childtext1" refType="w"/>
                  <dgm:constr type="h" for="ch" forName="Childtext1" refType="h" fact="0.35"/>
                  <dgm:constr type="w" for="ch" forName="ConnectLine1"/>
                  <dgm:constr type="h" for="ch" forName="ConnectLine1" refType="h" fact="0.08"/>
                  <dgm:constr type="t" for="ch" forName="ConnectLine1" refType="h" fact="0.37"/>
                  <dgm:constr type="ctrX" for="ch" forName="ConnectLine1" refType="w" fact="0.5"/>
                  <dgm:constr type="w" for="ch" forName="ConnectLineEnd1" refType="h" fact="0.02"/>
                  <dgm:constr type="h" for="ch" forName="ConnectLineEnd1" refType="h" fact="0.02"/>
                  <dgm:constr type="t" for="ch" forName="ConnectLineEnd1" refType="h" fact="0.35"/>
                  <dgm:constr type="ctrX" for="ch" forName="ConnectLineEnd1" refType="w" fact="0.5"/>
                  <dgm:constr type="w" for="ch" forName="EmptyPane1" refType="w"/>
                  <dgm:constr type="t" for="ch" forName="EmptyPane1" refType="h" fact="0.55"/>
                  <dgm:constr type="h" for="ch" forName="EmptyPane1" refType="h" fact="0.45"/>
                </dgm:constrLst>
              </dgm:if>
              <dgm:else name="evenNode2">
                <dgm:constrLst>
                  <dgm:constr type="w" for="ch" forName="parent1" refType="w" fact="0.6"/>
                  <dgm:constr type="l" for="ch" forName="parent1" refType="w" fact="0.2"/>
                  <dgm:constr type="t" for="ch" forName="parent1" refType="h" fact="0.45"/>
                  <dgm:constr type="h" for="ch" forName="parent1" refType="h" fact="0.1"/>
                  <dgm:constr type="w" for="ch" forName="Childtext1" refType="w"/>
                  <dgm:constr type="h" for="ch" forName="Childtext1" refType="h" fact="0.35"/>
                  <dgm:constr type="t" for="ch" forName="Childtext1" refType="h" fact="0.65"/>
                  <dgm:constr type="w" for="ch" forName="ConnectLine1"/>
                  <dgm:constr type="h" for="ch" forName="ConnectLine1" refType="h" fact="0.08"/>
                  <dgm:constr type="t" for="ch" forName="ConnectLine1" refType="h" fact="0.55"/>
                  <dgm:constr type="ctrX" for="ch" forName="ConnectLine1" refType="w" fact="0.5"/>
                  <dgm:constr type="w" for="ch" forName="ConnectLineEnd1" refType="h" fact="0.02"/>
                  <dgm:constr type="h" for="ch" forName="ConnectLineEnd1" refType="h" fact="0.02"/>
                  <dgm:constr type="b" for="ch" forName="ConnectLineEnd1" refType="h" fact="0.65"/>
                  <dgm:constr type="ctrX" for="ch" forName="ConnectLineEnd1" refType="w" fact="0.5"/>
                  <dgm:constr type="w" for="ch" forName="EmptyPane1" refType="w"/>
                  <dgm:constr type="h" for="ch" forName="EmptyPane1" refType="h" fact="0.45"/>
                </dgm:constrLst>
              </dgm:else>
            </dgm:choose>
            <dgm:layoutNode name="parent1" styleLbl="alignNode1">
              <dgm:varLst>
                <dgm:chMax val="1"/>
                <dgm:chPref val="1"/>
                <dgm:bulletEnabled val="1"/>
              </dgm:varLst>
              <dgm:alg type="tx">
                <dgm:param type="txAnchorHorz" val="ctr"/>
                <dgm:param type="txAnchorVert" val="mid"/>
                <dgm:param type="parTxLTRAlign" val="ctr"/>
                <dgm:param type="parTxRTLAlign" val="ctr"/>
              </dgm:alg>
              <dgm:choose name="casesForFirstAndLastNode12">
                <dgm:if name="startNode12" axis="self" ptType="node" func="pos" op="equ" val="1">
                  <dgm:choose name="removeLineWhenOnlyOneNode12">
                    <dgm:if name="ifOnlyOneNode12" axis="followSib" ptType="node" func="cnt" op="equ" val="0">
                      <dgm:shape xmlns:r="http://schemas.openxmlformats.org/officeDocument/2006/relationships" type="roundRect" r:blip="">
                        <dgm:adjLst/>
                      </dgm:shape>
                    </dgm:if>
                    <dgm:else name="ifMoreThanOneNode12">
                      <dgm:choose name="Name181">
                        <dgm:if name="Name191" func="var" arg="dir" op="equ" val="norm">
                          <dgm:shape xmlns:r="http://schemas.openxmlformats.org/officeDocument/2006/relationships" rot="-90" type="round2SameRect" r:blip="">
                            <dgm:adjLst/>
                          </dgm:shape>
                        </dgm:if>
                        <dgm:else name="Name201">
                          <dgm:shape xmlns:r="http://schemas.openxmlformats.org/officeDocument/2006/relationships" rot="90" type="round2SameRect" r:blip="">
                            <dgm:adjLst/>
                          </dgm:shape>
                        </dgm:else>
                      </dgm:choose>
                    </dgm:else>
                  </dgm:choose>
                </dgm:if>
                <dgm:else name="notStartNode12">
                  <dgm:choose name="Name221">
                    <dgm:if name="Name231" axis="self" ptType="node" func="revPos" op="equ" val="1">
                      <dgm:choose name="Name241">
                        <dgm:if name="Name251" func="var" arg="dir" op="equ" val="norm">
                          <dgm:shape xmlns:r="http://schemas.openxmlformats.org/officeDocument/2006/relationships" rot="90" type="round2SameRect" r:blip="">
                            <dgm:adjLst/>
                          </dgm:shape>
                        </dgm:if>
                        <dgm:else name="Name261">
                          <dgm:shape xmlns:r="http://schemas.openxmlformats.org/officeDocument/2006/relationships" rot="-90" type="round2SameRect" r:blip="">
                            <dgm:adjLst/>
                          </dgm:shape>
                        </dgm:else>
                      </dgm:choose>
                    </dgm:if>
                    <dgm:else name="Name271">
                      <dgm:shape xmlns:r="http://schemas.openxmlformats.org/officeDocument/2006/relationships" type="rect" r:blip="">
                        <dgm:adjLst/>
                      </dgm:shape>
                    </dgm:else>
                  </dgm:choose>
                </dgm:else>
              </dgm:choose>
              <dgm:presOf axis="self" ptType="node"/>
              <dgm:constrLst>
                <dgm:constr type="lMarg" refType="primFontSz" fact="0.6"/>
                <dgm:constr type="rMarg" refType="primFontSz" fact="0.6"/>
                <dgm:constr type="tMarg" refType="primFontSz" fact="0.6"/>
                <dgm:constr type="bMarg" refType="primFontSz" fact="0.6"/>
              </dgm:constrLst>
              <dgm:ruleLst>
                <dgm:rule type="primFontSz" val="11" fact="NaN" max="NaN"/>
              </dgm:ruleLst>
            </dgm:layoutNode>
            <dgm:layoutNode name="Childtext1" styleLbl="revTx">
              <dgm:varLst>
                <dgm:bulletEnabled val="1"/>
              </dgm:varLst>
              <dgm:choose name="casesForTxtDirLogic1">
                <dgm:if name="Name771" axis="self" ptType="node" func="posOdd" op="equ" val="1">
                  <dgm:alg type="tx">
                    <dgm:param type="txAnchorVert" val="b"/>
                    <dgm:param type="txAnchorHorz" val="ctr"/>
                    <dgm:param type="parTxLTRAlign" val="ctr"/>
                    <dgm:param type="parTxRTLAlign" val="ctr"/>
                  </dgm:alg>
                  <dgm:constrLst>
                    <dgm:constr type="lMarg"/>
                    <dgm:constr type="rMarg"/>
                    <dgm:constr type="tMarg"/>
                    <dgm:constr type="bMarg" refType="primFontSz" fact="0.6"/>
                  </dgm:constrLst>
                </dgm:if>
                <dgm:else name="Name881">
                  <dgm:alg type="tx">
                    <dgm:param type="txAnchorVert" val="t"/>
                    <dgm:param type="txAnchorHorz" val="ctr"/>
                    <dgm:param type="parTxLTRAlign" val="ctr"/>
                    <dgm:param type="parTxRTLAlign" val="ctr"/>
                  </dgm:alg>
                  <dgm:constrLst>
                    <dgm:constr type="lMarg"/>
                    <dgm:constr type="rMarg"/>
                    <dgm:constr type="tMarg" refType="primFontSz" fact="0.6"/>
                    <dgm:constr type="bMarg"/>
                  </dgm:constrLst>
                </dgm:else>
              </dgm:choose>
              <dgm:shape xmlns:r="http://schemas.openxmlformats.org/officeDocument/2006/relationships" type="rect" r:blip="">
                <dgm:adjLst/>
              </dgm:shape>
              <dgm:presOf axis="ch" ptType="node"/>
              <dgm:ruleLst>
                <dgm:rule type="primFontSz" val="11" fact="NaN" max="NaN"/>
              </dgm:ruleLst>
            </dgm:layoutNode>
            <dgm:layoutNode name="ConnectLine1" styleLbl="sibTrans1D1">
              <dgm:alg type="sp"/>
              <dgm:shape xmlns:r="http://schemas.openxmlformats.org/officeDocument/2006/relationships" type="line" r:blip="">
                <dgm:adjLst/>
                <dgm:extLst>
                  <a:ext uri="{B698B0E9-8C71-41B9-8309-B3DCBF30829C}">
                    <dgm1612:spPr xmlns:dgm1612="http://schemas.microsoft.com/office/drawing/2016/12/diagram">
                      <a:ln>
                        <a:prstDash val="dash"/>
                      </a:ln>
                    </dgm1612:spPr>
                  </a:ext>
                </dgm:extLst>
              </dgm:shape>
              <dgm:presOf/>
              <dgm:constrLst/>
            </dgm:layoutNode>
            <dgm:layoutNode name="ConnectLineEnd1" styleLbl="lnNode1">
              <dgm:alg type="sp"/>
              <dgm:shape xmlns:r="http://schemas.openxmlformats.org/officeDocument/2006/relationships" type="ellipse" r:blip="">
                <dgm:adjLst/>
              </dgm:shape>
              <dgm:presOf/>
              <dgm:constrLst/>
            </dgm:layoutNode>
            <dgm:layoutNode name="EmptyPane1">
              <dgm:alg type="sp"/>
              <dgm:shape xmlns:r="http://schemas.openxmlformats.org/officeDocument/2006/relationships" r:blip="">
                <dgm:adjLst/>
              </dgm:shape>
              <dgm:presOf/>
              <dgm:constrLst/>
            </dgm:layoutNode>
          </dgm:layoutNode>
          <dgm:forEach name="Name281" axis="followSib" ptType="sibTrans" cnt="1">
            <dgm:layoutNode name="spaceBetweenRectangles1">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12/2/2025</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90017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118872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340864"/>
            <a:ext cx="11029615" cy="36344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12/2/2025</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52443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12/2/2025</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66680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194767"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6039" y="2228003"/>
            <a:ext cx="5194769"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BFFD690-9426-415D-8B65-26881E07B2D4}" type="datetime1">
              <a:rPr lang="en-US" smtClean="0"/>
              <a:t>12/2/2025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483323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4C4989A-474C-40DE-95B9-011C28B71673}" type="datetime1">
              <a:rPr lang="en-US" smtClean="0"/>
              <a:t>12/2/2025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74804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12/2/2025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2936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12/2/2025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2949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t>12/2/2025</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261766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12/2/2025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573289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12/2/2025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28359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12/2/2025</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88849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2"/>
            <a:ext cx="11029616" cy="365204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t>12/2/2025</a:t>
            </a:fld>
            <a:endParaRPr lang="en-US" dirty="0"/>
          </a:p>
        </p:txBody>
      </p:sp>
      <p:sp>
        <p:nvSpPr>
          <p:cNvPr id="5" name="Footer Placeholder 4"/>
          <p:cNvSpPr>
            <a:spLocks noGrp="1"/>
          </p:cNvSpPr>
          <p:nvPr>
            <p:ph type="ftr" sz="quarter" idx="3"/>
          </p:nvPr>
        </p:nvSpPr>
        <p:spPr>
          <a:xfrm>
            <a:off x="581192" y="6423914"/>
            <a:ext cx="6917210" cy="365125"/>
          </a:xfrm>
          <a:prstGeom prst="rect">
            <a:avLst/>
          </a:prstGeom>
        </p:spPr>
        <p:txBody>
          <a:bodyPr vert="horz" lIns="91440" tIns="45720" rIns="91440" bIns="45720" rtlCol="0" anchor="ctr"/>
          <a:lstStyle>
            <a:lvl1pPr algn="l">
              <a:defRPr sz="900"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00089789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11" r:id="rId5"/>
    <p:sldLayoutId id="2147483760" r:id="rId6"/>
    <p:sldLayoutId id="2147483762" r:id="rId7"/>
    <p:sldLayoutId id="2147483706" r:id="rId8"/>
    <p:sldLayoutId id="2147483709" r:id="rId9"/>
    <p:sldLayoutId id="2147483707" r:id="rId10"/>
    <p:sldLayoutId id="2147483708" r:id="rId11"/>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D6D7A0BC-0046-4CAA-8E7F-DCAFE511EA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C21E816-31F5-48BB-BD02-D15F2F18B48A}"/>
              </a:ext>
            </a:extLst>
          </p:cNvPr>
          <p:cNvSpPr>
            <a:spLocks noGrp="1"/>
          </p:cNvSpPr>
          <p:nvPr>
            <p:ph type="ctrTitle"/>
          </p:nvPr>
        </p:nvSpPr>
        <p:spPr>
          <a:xfrm>
            <a:off x="581191" y="1020431"/>
            <a:ext cx="10993549" cy="1475013"/>
          </a:xfrm>
        </p:spPr>
        <p:txBody>
          <a:bodyPr>
            <a:normAutofit/>
          </a:bodyPr>
          <a:lstStyle/>
          <a:p>
            <a:r>
              <a:rPr lang="en-US" dirty="0" err="1"/>
              <a:t>Datastax</a:t>
            </a:r>
            <a:r>
              <a:rPr lang="en-US" dirty="0"/>
              <a:t> enterprise (DSE)</a:t>
            </a:r>
          </a:p>
        </p:txBody>
      </p:sp>
      <p:sp>
        <p:nvSpPr>
          <p:cNvPr id="3" name="Subtitle 2">
            <a:extLst>
              <a:ext uri="{FF2B5EF4-FFF2-40B4-BE49-F238E27FC236}">
                <a16:creationId xmlns:a16="http://schemas.microsoft.com/office/drawing/2014/main" id="{835D6E6B-3353-491C-A3C6-F278D6CED8B3}"/>
              </a:ext>
            </a:extLst>
          </p:cNvPr>
          <p:cNvSpPr>
            <a:spLocks noGrp="1"/>
          </p:cNvSpPr>
          <p:nvPr>
            <p:ph type="subTitle" idx="1"/>
          </p:nvPr>
        </p:nvSpPr>
        <p:spPr>
          <a:xfrm>
            <a:off x="581194" y="2495445"/>
            <a:ext cx="10993546" cy="468233"/>
          </a:xfrm>
        </p:spPr>
        <p:txBody>
          <a:bodyPr>
            <a:normAutofit/>
          </a:bodyPr>
          <a:lstStyle/>
          <a:p>
            <a:r>
              <a:rPr lang="en-US" dirty="0"/>
              <a:t>By: Mohammed Abdul </a:t>
            </a:r>
            <a:r>
              <a:rPr lang="en-US" dirty="0" err="1"/>
              <a:t>sami</a:t>
            </a:r>
            <a:endParaRPr lang="en-US" dirty="0"/>
          </a:p>
        </p:txBody>
      </p:sp>
      <p:sp>
        <p:nvSpPr>
          <p:cNvPr id="20" name="Rectangle 19">
            <a:extLst>
              <a:ext uri="{FF2B5EF4-FFF2-40B4-BE49-F238E27FC236}">
                <a16:creationId xmlns:a16="http://schemas.microsoft.com/office/drawing/2014/main" id="{E7C6334F-6411-41EC-AD7D-179EDD8B5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1">
            <a:extLst>
              <a:ext uri="{FF2B5EF4-FFF2-40B4-BE49-F238E27FC236}">
                <a16:creationId xmlns:a16="http://schemas.microsoft.com/office/drawing/2014/main" id="{E6B02CEE-3AF8-4349-9B3E-8970E6DF62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3">
            <a:extLst>
              <a:ext uri="{FF2B5EF4-FFF2-40B4-BE49-F238E27FC236}">
                <a16:creationId xmlns:a16="http://schemas.microsoft.com/office/drawing/2014/main" id="{AAA01CF0-3FB5-44EB-B7DE-F2E86374C2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pic>
        <p:nvPicPr>
          <p:cNvPr id="6" name="Picture 5" descr="abstract image">
            <a:extLst>
              <a:ext uri="{FF2B5EF4-FFF2-40B4-BE49-F238E27FC236}">
                <a16:creationId xmlns:a16="http://schemas.microsoft.com/office/drawing/2014/main" id="{F1A8C364-94D4-4630-BAD0-78722F347055}"/>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448733" y="2900363"/>
            <a:ext cx="11260667" cy="3491970"/>
          </a:xfrm>
          <a:prstGeom prst="rect">
            <a:avLst/>
          </a:prstGeom>
        </p:spPr>
      </p:pic>
    </p:spTree>
    <p:extLst>
      <p:ext uri="{BB962C8B-B14F-4D97-AF65-F5344CB8AC3E}">
        <p14:creationId xmlns:p14="http://schemas.microsoft.com/office/powerpoint/2010/main" val="24758055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562972-3449-42D1-8185-B4BEFD52AB44}"/>
              </a:ext>
            </a:extLst>
          </p:cNvPr>
          <p:cNvSpPr>
            <a:spLocks noGrp="1"/>
          </p:cNvSpPr>
          <p:nvPr>
            <p:ph type="title"/>
          </p:nvPr>
        </p:nvSpPr>
        <p:spPr>
          <a:xfrm>
            <a:off x="324018" y="-185739"/>
            <a:ext cx="11029616" cy="712157"/>
          </a:xfrm>
        </p:spPr>
        <p:txBody>
          <a:bodyPr/>
          <a:lstStyle/>
          <a:p>
            <a:r>
              <a:rPr lang="en-US" dirty="0"/>
              <a:t>Agenda for session 1</a:t>
            </a:r>
          </a:p>
        </p:txBody>
      </p:sp>
      <p:graphicFrame>
        <p:nvGraphicFramePr>
          <p:cNvPr id="4" name="Content Placeholder 2" descr="timeline">
            <a:extLst>
              <a:ext uri="{FF2B5EF4-FFF2-40B4-BE49-F238E27FC236}">
                <a16:creationId xmlns:a16="http://schemas.microsoft.com/office/drawing/2014/main" id="{FF3F0D82-0AA6-45C3-8367-955CBFA02ED6}"/>
              </a:ext>
            </a:extLst>
          </p:cNvPr>
          <p:cNvGraphicFramePr>
            <a:graphicFrameLocks noGrp="1"/>
          </p:cNvGraphicFramePr>
          <p:nvPr>
            <p:ph idx="1"/>
            <p:extLst>
              <p:ext uri="{D42A27DB-BD31-4B8C-83A1-F6EECF244321}">
                <p14:modId xmlns:p14="http://schemas.microsoft.com/office/powerpoint/2010/main" val="94236437"/>
              </p:ext>
            </p:extLst>
          </p:nvPr>
        </p:nvGraphicFramePr>
        <p:xfrm>
          <a:off x="581025" y="1428751"/>
          <a:ext cx="11029950" cy="4546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37846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49A94DB-449D-FEE4-5ACC-76D2E326671A}"/>
            </a:ext>
          </a:extLst>
        </p:cNvPr>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0E30643A-8EBB-57BD-5DBF-296D205BD9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4263368-4C6B-2218-E2EF-568AE3169545}"/>
              </a:ext>
            </a:extLst>
          </p:cNvPr>
          <p:cNvSpPr>
            <a:spLocks noGrp="1"/>
          </p:cNvSpPr>
          <p:nvPr>
            <p:ph type="ctrTitle"/>
          </p:nvPr>
        </p:nvSpPr>
        <p:spPr>
          <a:xfrm>
            <a:off x="581191" y="1020431"/>
            <a:ext cx="10993549" cy="1475013"/>
          </a:xfrm>
        </p:spPr>
        <p:txBody>
          <a:bodyPr>
            <a:normAutofit/>
          </a:bodyPr>
          <a:lstStyle/>
          <a:p>
            <a:r>
              <a:rPr lang="en-US" dirty="0"/>
              <a:t>Database Systems</a:t>
            </a:r>
          </a:p>
        </p:txBody>
      </p:sp>
      <p:sp>
        <p:nvSpPr>
          <p:cNvPr id="3" name="Subtitle 2">
            <a:extLst>
              <a:ext uri="{FF2B5EF4-FFF2-40B4-BE49-F238E27FC236}">
                <a16:creationId xmlns:a16="http://schemas.microsoft.com/office/drawing/2014/main" id="{65DE1A7B-A0CB-EEBF-52C8-5792BB664B33}"/>
              </a:ext>
            </a:extLst>
          </p:cNvPr>
          <p:cNvSpPr>
            <a:spLocks noGrp="1"/>
          </p:cNvSpPr>
          <p:nvPr>
            <p:ph type="subTitle" idx="1"/>
          </p:nvPr>
        </p:nvSpPr>
        <p:spPr>
          <a:xfrm>
            <a:off x="581194" y="2495445"/>
            <a:ext cx="10993546" cy="468233"/>
          </a:xfrm>
        </p:spPr>
        <p:txBody>
          <a:bodyPr>
            <a:normAutofit/>
          </a:bodyPr>
          <a:lstStyle/>
          <a:p>
            <a:r>
              <a:rPr lang="en-US" sz="1800" b="1" cap="none" dirty="0"/>
              <a:t>SQL vs NoSQL</a:t>
            </a:r>
          </a:p>
        </p:txBody>
      </p:sp>
      <p:sp>
        <p:nvSpPr>
          <p:cNvPr id="20" name="Rectangle 19">
            <a:extLst>
              <a:ext uri="{FF2B5EF4-FFF2-40B4-BE49-F238E27FC236}">
                <a16:creationId xmlns:a16="http://schemas.microsoft.com/office/drawing/2014/main" id="{65E75B99-A75A-4BCE-6ED5-6E9D946C4A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1">
            <a:extLst>
              <a:ext uri="{FF2B5EF4-FFF2-40B4-BE49-F238E27FC236}">
                <a16:creationId xmlns:a16="http://schemas.microsoft.com/office/drawing/2014/main" id="{FCF0C384-FDA2-CC17-31C3-F721AEE185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3">
            <a:extLst>
              <a:ext uri="{FF2B5EF4-FFF2-40B4-BE49-F238E27FC236}">
                <a16:creationId xmlns:a16="http://schemas.microsoft.com/office/drawing/2014/main" id="{EED2B4A5-2320-F43D-819A-AE4F0E3B89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pic>
        <p:nvPicPr>
          <p:cNvPr id="6" name="Picture 5" descr="abstract image">
            <a:extLst>
              <a:ext uri="{FF2B5EF4-FFF2-40B4-BE49-F238E27FC236}">
                <a16:creationId xmlns:a16="http://schemas.microsoft.com/office/drawing/2014/main" id="{822B01BB-5F80-4C66-AB9B-56BAE15266ED}"/>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448733" y="3081867"/>
            <a:ext cx="11260667" cy="3310466"/>
          </a:xfrm>
          <a:prstGeom prst="rect">
            <a:avLst/>
          </a:prstGeom>
        </p:spPr>
      </p:pic>
    </p:spTree>
    <p:extLst>
      <p:ext uri="{BB962C8B-B14F-4D97-AF65-F5344CB8AC3E}">
        <p14:creationId xmlns:p14="http://schemas.microsoft.com/office/powerpoint/2010/main" val="37645939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364BE5-D8F7-131D-F43D-07C2A77F86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25EEFA-822D-BD5C-52AC-4A2359C766E2}"/>
              </a:ext>
            </a:extLst>
          </p:cNvPr>
          <p:cNvSpPr>
            <a:spLocks noGrp="1"/>
          </p:cNvSpPr>
          <p:nvPr>
            <p:ph type="title"/>
          </p:nvPr>
        </p:nvSpPr>
        <p:spPr>
          <a:xfrm>
            <a:off x="324018" y="-185739"/>
            <a:ext cx="11029616" cy="712157"/>
          </a:xfrm>
        </p:spPr>
        <p:txBody>
          <a:bodyPr/>
          <a:lstStyle/>
          <a:p>
            <a:r>
              <a:rPr lang="en-US" dirty="0" err="1"/>
              <a:t>Nosql</a:t>
            </a:r>
            <a:r>
              <a:rPr lang="en-US" dirty="0"/>
              <a:t> vs </a:t>
            </a:r>
            <a:r>
              <a:rPr lang="en-US" dirty="0" err="1"/>
              <a:t>sql</a:t>
            </a:r>
            <a:r>
              <a:rPr lang="en-US" dirty="0"/>
              <a:t> </a:t>
            </a:r>
          </a:p>
        </p:txBody>
      </p:sp>
      <p:sp>
        <p:nvSpPr>
          <p:cNvPr id="6" name="TextBox 5">
            <a:extLst>
              <a:ext uri="{FF2B5EF4-FFF2-40B4-BE49-F238E27FC236}">
                <a16:creationId xmlns:a16="http://schemas.microsoft.com/office/drawing/2014/main" id="{A410DBD9-C3FD-E660-C405-2411DA382D60}"/>
              </a:ext>
            </a:extLst>
          </p:cNvPr>
          <p:cNvSpPr txBox="1"/>
          <p:nvPr/>
        </p:nvSpPr>
        <p:spPr>
          <a:xfrm>
            <a:off x="492919" y="900113"/>
            <a:ext cx="11172825" cy="3693319"/>
          </a:xfrm>
          <a:prstGeom prst="rect">
            <a:avLst/>
          </a:prstGeom>
          <a:noFill/>
        </p:spPr>
        <p:txBody>
          <a:bodyPr wrap="square" rtlCol="0">
            <a:spAutoFit/>
          </a:bodyPr>
          <a:lstStyle/>
          <a:p>
            <a:r>
              <a:rPr lang="en-US" dirty="0"/>
              <a:t>NoSQL is an approach to </a:t>
            </a:r>
            <a:r>
              <a:rPr lang="es-ES_tradnl" dirty="0" err="1"/>
              <a:t>Database</a:t>
            </a:r>
            <a:r>
              <a:rPr lang="en-US" dirty="0"/>
              <a:t> design that can accommodate a wide variety of data models, including key-value, document, columnar and graph formats. NoSQL, which stand for "not only SQL," is an alternative to traditional relational databases in which data is placed in tables and data </a:t>
            </a:r>
            <a:r>
              <a:rPr lang="de-DE" dirty="0"/>
              <a:t>schema</a:t>
            </a:r>
            <a:r>
              <a:rPr lang="en-US" dirty="0"/>
              <a:t> is carefully designed before the database is built. NoSQL databases are especially useful for working with large sets of distributed data.</a:t>
            </a:r>
          </a:p>
          <a:p>
            <a:endParaRPr lang="en-US" dirty="0"/>
          </a:p>
          <a:p>
            <a:endParaRPr lang="en-US" dirty="0"/>
          </a:p>
          <a:p>
            <a:r>
              <a:rPr lang="en-US" b="1" dirty="0">
                <a:solidFill>
                  <a:schemeClr val="accent2">
                    <a:lumMod val="75000"/>
                  </a:schemeClr>
                </a:solidFill>
              </a:rPr>
              <a:t>Evolution of NoSQL</a:t>
            </a:r>
          </a:p>
          <a:p>
            <a:endParaRPr lang="en-US" dirty="0"/>
          </a:p>
          <a:p>
            <a:r>
              <a:rPr lang="en-US" dirty="0"/>
              <a:t>The evolution of NoSQL started in 1990's with the development and release of </a:t>
            </a:r>
            <a:r>
              <a:rPr lang="en-US" dirty="0" err="1"/>
              <a:t>berkeleyDB</a:t>
            </a:r>
            <a:r>
              <a:rPr lang="en-US" dirty="0"/>
              <a:t>. Developed by University of California, Berkeley,  influenced the development of NoSQL which supported certain applications with specific storage needs.</a:t>
            </a:r>
          </a:p>
          <a:p>
            <a:endParaRPr lang="en-US" dirty="0"/>
          </a:p>
          <a:p>
            <a:endParaRPr lang="en-US" dirty="0"/>
          </a:p>
        </p:txBody>
      </p:sp>
    </p:spTree>
    <p:extLst>
      <p:ext uri="{BB962C8B-B14F-4D97-AF65-F5344CB8AC3E}">
        <p14:creationId xmlns:p14="http://schemas.microsoft.com/office/powerpoint/2010/main" val="6745577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47807B-9707-594E-99AD-0362F54B60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C49B91-55DE-03AF-5845-48E02DA71D82}"/>
              </a:ext>
            </a:extLst>
          </p:cNvPr>
          <p:cNvSpPr>
            <a:spLocks noGrp="1"/>
          </p:cNvSpPr>
          <p:nvPr>
            <p:ph type="title"/>
          </p:nvPr>
        </p:nvSpPr>
        <p:spPr>
          <a:xfrm>
            <a:off x="324018" y="-185739"/>
            <a:ext cx="11029616" cy="712157"/>
          </a:xfrm>
        </p:spPr>
        <p:txBody>
          <a:bodyPr/>
          <a:lstStyle/>
          <a:p>
            <a:r>
              <a:rPr lang="en-US" dirty="0" err="1"/>
              <a:t>Nosql</a:t>
            </a:r>
            <a:r>
              <a:rPr lang="en-US" dirty="0"/>
              <a:t> classification</a:t>
            </a:r>
          </a:p>
        </p:txBody>
      </p:sp>
      <p:sp>
        <p:nvSpPr>
          <p:cNvPr id="6" name="TextBox 5">
            <a:extLst>
              <a:ext uri="{FF2B5EF4-FFF2-40B4-BE49-F238E27FC236}">
                <a16:creationId xmlns:a16="http://schemas.microsoft.com/office/drawing/2014/main" id="{C32C503B-2FBD-EC21-67EF-08995AD88C21}"/>
              </a:ext>
            </a:extLst>
          </p:cNvPr>
          <p:cNvSpPr txBox="1"/>
          <p:nvPr/>
        </p:nvSpPr>
        <p:spPr>
          <a:xfrm>
            <a:off x="492919" y="900113"/>
            <a:ext cx="11172825" cy="5355312"/>
          </a:xfrm>
          <a:prstGeom prst="rect">
            <a:avLst/>
          </a:prstGeom>
          <a:noFill/>
        </p:spPr>
        <p:txBody>
          <a:bodyPr wrap="square" rtlCol="0">
            <a:spAutoFit/>
          </a:bodyPr>
          <a:lstStyle/>
          <a:p>
            <a:r>
              <a:rPr lang="en-US" b="1" dirty="0">
                <a:solidFill>
                  <a:schemeClr val="accent2">
                    <a:lumMod val="75000"/>
                  </a:schemeClr>
                </a:solidFill>
              </a:rPr>
              <a:t>Key-value stores</a:t>
            </a:r>
          </a:p>
          <a:p>
            <a:endParaRPr lang="en-US" b="1" dirty="0">
              <a:solidFill>
                <a:schemeClr val="accent2">
                  <a:lumMod val="75000"/>
                </a:schemeClr>
              </a:solidFill>
            </a:endParaRPr>
          </a:p>
          <a:p>
            <a:r>
              <a:rPr lang="en-US" dirty="0"/>
              <a:t>Key-value stores, or key-value databases, implement a simple data model that pairs a unique key with an associated value. Because this model is simple, it can lead to the development of key-value databases, which are extremely performant and highly scalable for session management and caching in web applications.</a:t>
            </a:r>
          </a:p>
          <a:p>
            <a:endParaRPr lang="en-US" dirty="0"/>
          </a:p>
          <a:p>
            <a:r>
              <a:rPr lang="en-US" b="1" dirty="0">
                <a:solidFill>
                  <a:schemeClr val="accent1"/>
                </a:solidFill>
              </a:rPr>
              <a:t> Examples </a:t>
            </a:r>
          </a:p>
          <a:p>
            <a:r>
              <a:rPr lang="en-US" dirty="0"/>
              <a:t>	Aerospike, Berkeley DB, </a:t>
            </a:r>
            <a:r>
              <a:rPr lang="en-US" dirty="0" err="1"/>
              <a:t>MemchacheDB</a:t>
            </a:r>
            <a:r>
              <a:rPr lang="en-US" dirty="0"/>
              <a:t>, Redis and Riak.</a:t>
            </a:r>
          </a:p>
          <a:p>
            <a:endParaRPr lang="en-US" dirty="0"/>
          </a:p>
          <a:p>
            <a:r>
              <a:rPr lang="nl-NL" b="1" dirty="0">
                <a:solidFill>
                  <a:schemeClr val="accent2">
                    <a:lumMod val="75000"/>
                  </a:schemeClr>
                </a:solidFill>
              </a:rPr>
              <a:t>Document databases</a:t>
            </a:r>
          </a:p>
          <a:p>
            <a:endParaRPr lang="en-US" b="1" dirty="0">
              <a:solidFill>
                <a:schemeClr val="accent2">
                  <a:lumMod val="75000"/>
                </a:schemeClr>
              </a:solidFill>
            </a:endParaRPr>
          </a:p>
          <a:p>
            <a:r>
              <a:rPr lang="en-US" dirty="0"/>
              <a:t>Document databases, also called document stores, store semi-structured data and descriptions of that data in document format. They allow developers to create and update programs without needing to reference master schema. Use of document databases has increased along with use of JavaScript and the JavaScript Object Notation (JSON)</a:t>
            </a:r>
          </a:p>
          <a:p>
            <a:endParaRPr lang="en-US" dirty="0"/>
          </a:p>
          <a:p>
            <a:r>
              <a:rPr lang="en-US" b="1" dirty="0">
                <a:solidFill>
                  <a:schemeClr val="accent1"/>
                </a:solidFill>
              </a:rPr>
              <a:t>Examples </a:t>
            </a:r>
          </a:p>
          <a:p>
            <a:r>
              <a:rPr lang="en-US" dirty="0"/>
              <a:t>	Couchbase Server, CouchDB, </a:t>
            </a:r>
            <a:r>
              <a:rPr lang="en-US" dirty="0" err="1"/>
              <a:t>DocumentDB</a:t>
            </a:r>
            <a:r>
              <a:rPr lang="en-US" dirty="0"/>
              <a:t>, </a:t>
            </a:r>
            <a:r>
              <a:rPr lang="en-US" dirty="0" err="1"/>
              <a:t>MarkLogic</a:t>
            </a:r>
            <a:r>
              <a:rPr lang="en-US" dirty="0"/>
              <a:t> and </a:t>
            </a:r>
            <a:r>
              <a:rPr lang="it-IT" dirty="0"/>
              <a:t>MongoDB.</a:t>
            </a:r>
            <a:endParaRPr lang="en-US" dirty="0"/>
          </a:p>
          <a:p>
            <a:endParaRPr lang="en-US" dirty="0"/>
          </a:p>
        </p:txBody>
      </p:sp>
    </p:spTree>
    <p:extLst>
      <p:ext uri="{BB962C8B-B14F-4D97-AF65-F5344CB8AC3E}">
        <p14:creationId xmlns:p14="http://schemas.microsoft.com/office/powerpoint/2010/main" val="29432287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A0DB1D-3F8D-14A9-2045-97FD865C51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04973D-2791-1F5F-759B-381C750870EB}"/>
              </a:ext>
            </a:extLst>
          </p:cNvPr>
          <p:cNvSpPr>
            <a:spLocks noGrp="1"/>
          </p:cNvSpPr>
          <p:nvPr>
            <p:ph type="title"/>
          </p:nvPr>
        </p:nvSpPr>
        <p:spPr>
          <a:xfrm>
            <a:off x="324018" y="-185739"/>
            <a:ext cx="11029616" cy="712157"/>
          </a:xfrm>
        </p:spPr>
        <p:txBody>
          <a:bodyPr/>
          <a:lstStyle/>
          <a:p>
            <a:r>
              <a:rPr lang="en-US" dirty="0" err="1"/>
              <a:t>Nosql</a:t>
            </a:r>
            <a:r>
              <a:rPr lang="en-US" dirty="0"/>
              <a:t> classification</a:t>
            </a:r>
          </a:p>
        </p:txBody>
      </p:sp>
      <p:sp>
        <p:nvSpPr>
          <p:cNvPr id="6" name="TextBox 5">
            <a:extLst>
              <a:ext uri="{FF2B5EF4-FFF2-40B4-BE49-F238E27FC236}">
                <a16:creationId xmlns:a16="http://schemas.microsoft.com/office/drawing/2014/main" id="{BF5D838B-BD51-92D8-4655-C4F9BAF5742A}"/>
              </a:ext>
            </a:extLst>
          </p:cNvPr>
          <p:cNvSpPr txBox="1"/>
          <p:nvPr/>
        </p:nvSpPr>
        <p:spPr>
          <a:xfrm>
            <a:off x="492919" y="900113"/>
            <a:ext cx="11172825" cy="5078313"/>
          </a:xfrm>
          <a:prstGeom prst="rect">
            <a:avLst/>
          </a:prstGeom>
          <a:noFill/>
        </p:spPr>
        <p:txBody>
          <a:bodyPr wrap="square" rtlCol="0">
            <a:spAutoFit/>
          </a:bodyPr>
          <a:lstStyle/>
          <a:p>
            <a:r>
              <a:rPr lang="en-US" b="1" dirty="0">
                <a:solidFill>
                  <a:schemeClr val="accent2">
                    <a:lumMod val="75000"/>
                  </a:schemeClr>
                </a:solidFill>
              </a:rPr>
              <a:t>Wide-column stores</a:t>
            </a:r>
          </a:p>
          <a:p>
            <a:endParaRPr lang="en-US" b="1" dirty="0">
              <a:solidFill>
                <a:schemeClr val="accent2">
                  <a:lumMod val="75000"/>
                </a:schemeClr>
              </a:solidFill>
            </a:endParaRPr>
          </a:p>
          <a:p>
            <a:r>
              <a:rPr lang="en-US" dirty="0"/>
              <a:t>Wide-column stores organize data tables as columns instead of as rows. Wide-column stores can be found both in SQL and NoSQL databases. Wide-column stores can query large data volumes faster than conventional relational databases.</a:t>
            </a:r>
          </a:p>
          <a:p>
            <a:endParaRPr lang="en-US" dirty="0"/>
          </a:p>
          <a:p>
            <a:r>
              <a:rPr lang="en-US" b="1" dirty="0">
                <a:solidFill>
                  <a:schemeClr val="accent1"/>
                </a:solidFill>
              </a:rPr>
              <a:t>Examples</a:t>
            </a:r>
            <a:r>
              <a:rPr lang="en-US" b="1" dirty="0"/>
              <a:t> </a:t>
            </a:r>
          </a:p>
          <a:p>
            <a:r>
              <a:rPr lang="en-US" dirty="0"/>
              <a:t>	Google </a:t>
            </a:r>
            <a:r>
              <a:rPr lang="en-US" dirty="0" err="1"/>
              <a:t>BigTable</a:t>
            </a:r>
            <a:r>
              <a:rPr lang="en-US" dirty="0"/>
              <a:t>, Cassandra and HBase.</a:t>
            </a:r>
          </a:p>
          <a:p>
            <a:endParaRPr lang="en-US" dirty="0"/>
          </a:p>
          <a:p>
            <a:r>
              <a:rPr lang="en-US" b="1" dirty="0">
                <a:solidFill>
                  <a:schemeClr val="accent2">
                    <a:lumMod val="75000"/>
                  </a:schemeClr>
                </a:solidFill>
              </a:rPr>
              <a:t>Graph stores</a:t>
            </a:r>
          </a:p>
          <a:p>
            <a:endParaRPr lang="en-US" b="1" dirty="0"/>
          </a:p>
          <a:p>
            <a:r>
              <a:rPr lang="en-US" dirty="0"/>
              <a:t>Graph data stores organize data as nodes, which are like records in a relational database, and edges, which represent connections between nodes. Because the graph system stores the relationship between nodes, it can support richer representations of data relationships. </a:t>
            </a:r>
          </a:p>
          <a:p>
            <a:endParaRPr lang="en-US" dirty="0"/>
          </a:p>
          <a:p>
            <a:r>
              <a:rPr lang="en-US" b="1" dirty="0">
                <a:solidFill>
                  <a:schemeClr val="accent1"/>
                </a:solidFill>
              </a:rPr>
              <a:t>Examples</a:t>
            </a:r>
            <a:r>
              <a:rPr lang="en-US" b="1" dirty="0"/>
              <a:t> </a:t>
            </a:r>
          </a:p>
          <a:p>
            <a:r>
              <a:rPr lang="en-US" dirty="0"/>
              <a:t>	</a:t>
            </a:r>
            <a:r>
              <a:rPr lang="en-US" dirty="0" err="1"/>
              <a:t>AllegroGraph</a:t>
            </a:r>
            <a:r>
              <a:rPr lang="en-US" dirty="0"/>
              <a:t>, IBM Graph, Neo4j and Titan</a:t>
            </a:r>
          </a:p>
          <a:p>
            <a:endParaRPr lang="en-US" dirty="0"/>
          </a:p>
        </p:txBody>
      </p:sp>
    </p:spTree>
    <p:extLst>
      <p:ext uri="{BB962C8B-B14F-4D97-AF65-F5344CB8AC3E}">
        <p14:creationId xmlns:p14="http://schemas.microsoft.com/office/powerpoint/2010/main" val="15422543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EBE34C-1A09-2703-FE4B-B9FB55F21F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C399FD-F55B-9D32-57DD-E54898DB6B9C}"/>
              </a:ext>
            </a:extLst>
          </p:cNvPr>
          <p:cNvSpPr>
            <a:spLocks noGrp="1"/>
          </p:cNvSpPr>
          <p:nvPr>
            <p:ph type="title"/>
          </p:nvPr>
        </p:nvSpPr>
        <p:spPr>
          <a:xfrm>
            <a:off x="324018" y="-185739"/>
            <a:ext cx="11029616" cy="712157"/>
          </a:xfrm>
        </p:spPr>
        <p:txBody>
          <a:bodyPr/>
          <a:lstStyle/>
          <a:p>
            <a:r>
              <a:rPr lang="en-US" dirty="0" err="1"/>
              <a:t>Nosql</a:t>
            </a:r>
            <a:r>
              <a:rPr lang="en-US" dirty="0"/>
              <a:t> classification</a:t>
            </a:r>
          </a:p>
        </p:txBody>
      </p:sp>
      <p:sp>
        <p:nvSpPr>
          <p:cNvPr id="6" name="TextBox 5">
            <a:extLst>
              <a:ext uri="{FF2B5EF4-FFF2-40B4-BE49-F238E27FC236}">
                <a16:creationId xmlns:a16="http://schemas.microsoft.com/office/drawing/2014/main" id="{4EFEDDB9-09E8-73E7-1A63-478689077CD0}"/>
              </a:ext>
            </a:extLst>
          </p:cNvPr>
          <p:cNvSpPr txBox="1"/>
          <p:nvPr/>
        </p:nvSpPr>
        <p:spPr>
          <a:xfrm>
            <a:off x="492919" y="900113"/>
            <a:ext cx="11172825" cy="3504036"/>
          </a:xfrm>
          <a:prstGeom prst="rect">
            <a:avLst/>
          </a:prstGeom>
          <a:noFill/>
        </p:spPr>
        <p:txBody>
          <a:bodyPr wrap="square" rtlCol="0">
            <a:spAutoFit/>
          </a:bodyPr>
          <a:lstStyle/>
          <a:p>
            <a:r>
              <a:rPr lang="en-US" b="1" dirty="0">
                <a:solidFill>
                  <a:schemeClr val="accent2">
                    <a:lumMod val="75000"/>
                  </a:schemeClr>
                </a:solidFill>
              </a:rPr>
              <a:t>NoSQL classification and Adherence by Vendors</a:t>
            </a:r>
          </a:p>
          <a:p>
            <a:endParaRPr lang="en-US" b="1" dirty="0">
              <a:solidFill>
                <a:schemeClr val="accent2">
                  <a:lumMod val="75000"/>
                </a:schemeClr>
              </a:solidFill>
            </a:endParaRPr>
          </a:p>
          <a:p>
            <a:pPr>
              <a:lnSpc>
                <a:spcPct val="150000"/>
              </a:lnSpc>
            </a:pPr>
            <a:r>
              <a:rPr lang="en-US" dirty="0"/>
              <a:t>The basic NoSQL database classifications are only guides lines. </a:t>
            </a:r>
          </a:p>
          <a:p>
            <a:pPr>
              <a:lnSpc>
                <a:spcPct val="150000"/>
              </a:lnSpc>
            </a:pPr>
            <a:r>
              <a:rPr lang="en-US" dirty="0"/>
              <a:t>Vendors have mixed and matched elements from different NoSQL database </a:t>
            </a:r>
          </a:p>
          <a:p>
            <a:pPr>
              <a:lnSpc>
                <a:spcPct val="150000"/>
              </a:lnSpc>
            </a:pPr>
            <a:r>
              <a:rPr lang="en-US" dirty="0"/>
              <a:t>In </a:t>
            </a:r>
            <a:r>
              <a:rPr lang="en-US" dirty="0" err="1"/>
              <a:t>MarkLogic</a:t>
            </a:r>
            <a:r>
              <a:rPr lang="en-US" dirty="0"/>
              <a:t>, which has added a graph store and other elements to its original document databases.  </a:t>
            </a:r>
          </a:p>
          <a:p>
            <a:pPr>
              <a:lnSpc>
                <a:spcPct val="150000"/>
              </a:lnSpc>
            </a:pPr>
            <a:r>
              <a:rPr lang="en-US" dirty="0"/>
              <a:t>Couchbase Server supports both key-value and document approaches.  </a:t>
            </a:r>
          </a:p>
          <a:p>
            <a:pPr>
              <a:lnSpc>
                <a:spcPct val="150000"/>
              </a:lnSpc>
            </a:pPr>
            <a:r>
              <a:rPr lang="en-US" dirty="0"/>
              <a:t>Cassandra has combined wide-column with key-value elements and a graph database. </a:t>
            </a:r>
          </a:p>
          <a:p>
            <a:pPr>
              <a:lnSpc>
                <a:spcPct val="150000"/>
              </a:lnSpc>
            </a:pPr>
            <a:r>
              <a:rPr lang="en-US" dirty="0"/>
              <a:t>Sometimes NoSQL elements are mixed with SQL elements, creating a variety of databases that are referred to as </a:t>
            </a:r>
            <a:r>
              <a:rPr lang="en-US" dirty="0" err="1"/>
              <a:t>multimodel</a:t>
            </a:r>
            <a:r>
              <a:rPr lang="en-US" dirty="0"/>
              <a:t> databases</a:t>
            </a:r>
          </a:p>
        </p:txBody>
      </p:sp>
    </p:spTree>
    <p:extLst>
      <p:ext uri="{BB962C8B-B14F-4D97-AF65-F5344CB8AC3E}">
        <p14:creationId xmlns:p14="http://schemas.microsoft.com/office/powerpoint/2010/main" val="19242074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49F029-65C8-43E3-3FC7-3D667863D9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1DCCF8-6781-2F44-3B9B-EC51F49ACB2B}"/>
              </a:ext>
            </a:extLst>
          </p:cNvPr>
          <p:cNvSpPr>
            <a:spLocks noGrp="1"/>
          </p:cNvSpPr>
          <p:nvPr>
            <p:ph type="title"/>
          </p:nvPr>
        </p:nvSpPr>
        <p:spPr>
          <a:xfrm>
            <a:off x="324018" y="-185739"/>
            <a:ext cx="11029616" cy="712157"/>
          </a:xfrm>
        </p:spPr>
        <p:txBody>
          <a:bodyPr/>
          <a:lstStyle/>
          <a:p>
            <a:r>
              <a:rPr lang="en-US" dirty="0" err="1"/>
              <a:t>Sql</a:t>
            </a:r>
            <a:r>
              <a:rPr lang="en-US" dirty="0"/>
              <a:t> and </a:t>
            </a:r>
            <a:r>
              <a:rPr lang="en-US" dirty="0" err="1"/>
              <a:t>nosql</a:t>
            </a:r>
            <a:r>
              <a:rPr lang="en-US" dirty="0"/>
              <a:t> differences </a:t>
            </a:r>
          </a:p>
        </p:txBody>
      </p:sp>
      <p:graphicFrame>
        <p:nvGraphicFramePr>
          <p:cNvPr id="3" name="Table 2">
            <a:extLst>
              <a:ext uri="{FF2B5EF4-FFF2-40B4-BE49-F238E27FC236}">
                <a16:creationId xmlns:a16="http://schemas.microsoft.com/office/drawing/2014/main" id="{B9B61F59-00F9-F993-E38F-6A65B53D1D4C}"/>
              </a:ext>
            </a:extLst>
          </p:cNvPr>
          <p:cNvGraphicFramePr>
            <a:graphicFrameLocks noGrp="1"/>
          </p:cNvGraphicFramePr>
          <p:nvPr>
            <p:extLst>
              <p:ext uri="{D42A27DB-BD31-4B8C-83A1-F6EECF244321}">
                <p14:modId xmlns:p14="http://schemas.microsoft.com/office/powerpoint/2010/main" val="2375511422"/>
              </p:ext>
            </p:extLst>
          </p:nvPr>
        </p:nvGraphicFramePr>
        <p:xfrm>
          <a:off x="428625" y="971550"/>
          <a:ext cx="11251406" cy="4471990"/>
        </p:xfrm>
        <a:graphic>
          <a:graphicData uri="http://schemas.openxmlformats.org/drawingml/2006/table">
            <a:tbl>
              <a:tblPr firstRow="1" firstCol="1" bandRow="1">
                <a:tableStyleId>{5C22544A-7EE6-4342-B048-85BDC9FD1C3A}</a:tableStyleId>
              </a:tblPr>
              <a:tblGrid>
                <a:gridCol w="5668318">
                  <a:extLst>
                    <a:ext uri="{9D8B030D-6E8A-4147-A177-3AD203B41FA5}">
                      <a16:colId xmlns:a16="http://schemas.microsoft.com/office/drawing/2014/main" val="1780360219"/>
                    </a:ext>
                  </a:extLst>
                </a:gridCol>
                <a:gridCol w="5583088">
                  <a:extLst>
                    <a:ext uri="{9D8B030D-6E8A-4147-A177-3AD203B41FA5}">
                      <a16:colId xmlns:a16="http://schemas.microsoft.com/office/drawing/2014/main" val="3084904166"/>
                    </a:ext>
                  </a:extLst>
                </a:gridCol>
              </a:tblGrid>
              <a:tr h="615077">
                <a:tc>
                  <a:txBody>
                    <a:bodyPr/>
                    <a:lstStyle/>
                    <a:p>
                      <a:pPr>
                        <a:buNone/>
                      </a:pPr>
                      <a:r>
                        <a:rPr lang="en-US" sz="2400">
                          <a:ln>
                            <a:noFill/>
                          </a:ln>
                          <a:effectLst/>
                        </a:rPr>
                        <a:t>SQL</a:t>
                      </a:r>
                      <a:endParaRPr lang="en-US" sz="2400">
                        <a:ln>
                          <a:noFill/>
                        </a:ln>
                        <a:solidFill>
                          <a:srgbClr val="000000"/>
                        </a:solidFill>
                        <a:effectLst/>
                        <a:latin typeface="Helvetica Neue"/>
                        <a:ea typeface="Helvetica Neue"/>
                        <a:cs typeface="Helvetica Neue"/>
                      </a:endParaRPr>
                    </a:p>
                  </a:txBody>
                  <a:tcPr marL="50800" marR="50800" marT="50800" marB="50800"/>
                </a:tc>
                <a:tc>
                  <a:txBody>
                    <a:bodyPr/>
                    <a:lstStyle/>
                    <a:p>
                      <a:pPr>
                        <a:buNone/>
                      </a:pPr>
                      <a:r>
                        <a:rPr lang="en-US" sz="2400" dirty="0">
                          <a:ln>
                            <a:noFill/>
                          </a:ln>
                          <a:effectLst/>
                        </a:rPr>
                        <a:t>NOSQL</a:t>
                      </a:r>
                      <a:endParaRPr lang="en-US" sz="2400" dirty="0">
                        <a:ln>
                          <a:noFill/>
                        </a:ln>
                        <a:solidFill>
                          <a:srgbClr val="000000"/>
                        </a:solidFill>
                        <a:effectLst/>
                        <a:latin typeface="Helvetica Neue"/>
                        <a:ea typeface="Helvetica Neue"/>
                        <a:cs typeface="Helvetica Neue"/>
                      </a:endParaRPr>
                    </a:p>
                  </a:txBody>
                  <a:tcPr marL="50800" marR="50800" marT="50800" marB="50800"/>
                </a:tc>
                <a:extLst>
                  <a:ext uri="{0D108BD9-81ED-4DB2-BD59-A6C34878D82A}">
                    <a16:rowId xmlns:a16="http://schemas.microsoft.com/office/drawing/2014/main" val="616480041"/>
                  </a:ext>
                </a:extLst>
              </a:tr>
              <a:tr h="759621">
                <a:tc>
                  <a:txBody>
                    <a:bodyPr/>
                    <a:lstStyle/>
                    <a:p>
                      <a:pPr marL="0" algn="l" defTabSz="457200" rtl="0" eaLnBrk="1" latinLnBrk="0" hangingPunct="1">
                        <a:buNone/>
                      </a:pPr>
                      <a:r>
                        <a:rPr lang="en-US" sz="1800" b="0" kern="1200">
                          <a:ln>
                            <a:noFill/>
                          </a:ln>
                          <a:solidFill>
                            <a:schemeClr val="dk1"/>
                          </a:solidFill>
                          <a:effectLst/>
                          <a:latin typeface="+mn-lt"/>
                          <a:ea typeface="+mn-ea"/>
                          <a:cs typeface="+mn-cs"/>
                        </a:rPr>
                        <a:t>RELATIONAL DATABASE MANAGEMENT SYSTEM (RDBMS)</a:t>
                      </a:r>
                    </a:p>
                  </a:txBody>
                  <a:tcPr marL="50800" marR="50800" marT="50800" marB="50800"/>
                </a:tc>
                <a:tc>
                  <a:txBody>
                    <a:bodyPr/>
                    <a:lstStyle/>
                    <a:p>
                      <a:pPr>
                        <a:buNone/>
                      </a:pPr>
                      <a:r>
                        <a:rPr lang="en-US" sz="1800">
                          <a:ln>
                            <a:noFill/>
                          </a:ln>
                          <a:effectLst/>
                        </a:rPr>
                        <a:t>Non-relational or distributed database system.</a:t>
                      </a:r>
                      <a:endParaRPr lang="en-US" sz="1800">
                        <a:ln>
                          <a:noFill/>
                        </a:ln>
                        <a:solidFill>
                          <a:srgbClr val="000000"/>
                        </a:solidFill>
                        <a:effectLst/>
                        <a:latin typeface="Helvetica Neue"/>
                        <a:ea typeface="Helvetica Neue"/>
                        <a:cs typeface="Helvetica Neue"/>
                      </a:endParaRPr>
                    </a:p>
                  </a:txBody>
                  <a:tcPr marL="50800" marR="50800" marT="50800" marB="50800"/>
                </a:tc>
                <a:extLst>
                  <a:ext uri="{0D108BD9-81ED-4DB2-BD59-A6C34878D82A}">
                    <a16:rowId xmlns:a16="http://schemas.microsoft.com/office/drawing/2014/main" val="919853258"/>
                  </a:ext>
                </a:extLst>
              </a:tr>
              <a:tr h="861297">
                <a:tc>
                  <a:txBody>
                    <a:bodyPr/>
                    <a:lstStyle/>
                    <a:p>
                      <a:pPr marL="0" algn="l" defTabSz="457200" rtl="0" eaLnBrk="1" latinLnBrk="0" hangingPunct="1">
                        <a:buNone/>
                      </a:pPr>
                      <a:r>
                        <a:rPr lang="en-US" sz="1800" b="0" kern="1200" dirty="0">
                          <a:ln>
                            <a:noFill/>
                          </a:ln>
                          <a:solidFill>
                            <a:schemeClr val="dk1"/>
                          </a:solidFill>
                          <a:effectLst/>
                          <a:latin typeface="+mn-lt"/>
                          <a:ea typeface="+mn-ea"/>
                          <a:cs typeface="+mn-cs"/>
                        </a:rPr>
                        <a:t>These databases have fixed or static or predefined schema</a:t>
                      </a:r>
                    </a:p>
                  </a:txBody>
                  <a:tcPr marL="50800" marR="50800" marT="50800" marB="50800"/>
                </a:tc>
                <a:tc>
                  <a:txBody>
                    <a:bodyPr/>
                    <a:lstStyle/>
                    <a:p>
                      <a:pPr>
                        <a:buNone/>
                      </a:pPr>
                      <a:r>
                        <a:rPr lang="en-US" sz="1800" dirty="0">
                          <a:ln>
                            <a:noFill/>
                          </a:ln>
                          <a:effectLst/>
                        </a:rPr>
                        <a:t>They have dynamic schema</a:t>
                      </a:r>
                      <a:endParaRPr lang="en-US" sz="1800" dirty="0">
                        <a:ln>
                          <a:noFill/>
                        </a:ln>
                        <a:solidFill>
                          <a:srgbClr val="000000"/>
                        </a:solidFill>
                        <a:effectLst/>
                        <a:latin typeface="Helvetica Neue"/>
                        <a:ea typeface="Helvetica Neue"/>
                        <a:cs typeface="Helvetica Neue"/>
                      </a:endParaRPr>
                    </a:p>
                  </a:txBody>
                  <a:tcPr marL="50800" marR="50800" marT="50800" marB="50800"/>
                </a:tc>
                <a:extLst>
                  <a:ext uri="{0D108BD9-81ED-4DB2-BD59-A6C34878D82A}">
                    <a16:rowId xmlns:a16="http://schemas.microsoft.com/office/drawing/2014/main" val="2509542466"/>
                  </a:ext>
                </a:extLst>
              </a:tr>
              <a:tr h="861297">
                <a:tc>
                  <a:txBody>
                    <a:bodyPr/>
                    <a:lstStyle/>
                    <a:p>
                      <a:pPr marL="0" algn="l" defTabSz="457200" rtl="0" eaLnBrk="1" latinLnBrk="0" hangingPunct="1">
                        <a:buNone/>
                      </a:pPr>
                      <a:r>
                        <a:rPr lang="en-US" sz="1800" b="0" kern="1200" dirty="0">
                          <a:ln>
                            <a:noFill/>
                          </a:ln>
                          <a:solidFill>
                            <a:schemeClr val="dk1"/>
                          </a:solidFill>
                          <a:effectLst/>
                          <a:latin typeface="+mn-lt"/>
                          <a:ea typeface="+mn-ea"/>
                          <a:cs typeface="+mn-cs"/>
                        </a:rPr>
                        <a:t>These databases are not suited for hierarchical data storage.</a:t>
                      </a:r>
                    </a:p>
                  </a:txBody>
                  <a:tcPr marL="50800" marR="50800" marT="50800" marB="50800"/>
                </a:tc>
                <a:tc>
                  <a:txBody>
                    <a:bodyPr/>
                    <a:lstStyle/>
                    <a:p>
                      <a:pPr>
                        <a:buNone/>
                      </a:pPr>
                      <a:r>
                        <a:rPr lang="en-US" sz="1800">
                          <a:ln>
                            <a:noFill/>
                          </a:ln>
                          <a:effectLst/>
                        </a:rPr>
                        <a:t>These databases are best suited for hierarchical data storage.</a:t>
                      </a:r>
                      <a:endParaRPr lang="en-US" sz="1800">
                        <a:ln>
                          <a:noFill/>
                        </a:ln>
                        <a:solidFill>
                          <a:srgbClr val="000000"/>
                        </a:solidFill>
                        <a:effectLst/>
                        <a:latin typeface="Helvetica Neue"/>
                        <a:ea typeface="Helvetica Neue"/>
                        <a:cs typeface="Helvetica Neue"/>
                      </a:endParaRPr>
                    </a:p>
                  </a:txBody>
                  <a:tcPr marL="50800" marR="50800" marT="50800" marB="50800"/>
                </a:tc>
                <a:extLst>
                  <a:ext uri="{0D108BD9-81ED-4DB2-BD59-A6C34878D82A}">
                    <a16:rowId xmlns:a16="http://schemas.microsoft.com/office/drawing/2014/main" val="3152552512"/>
                  </a:ext>
                </a:extLst>
              </a:tr>
              <a:tr h="759621">
                <a:tc>
                  <a:txBody>
                    <a:bodyPr/>
                    <a:lstStyle/>
                    <a:p>
                      <a:pPr marL="0" algn="l" defTabSz="457200" rtl="0" eaLnBrk="1" latinLnBrk="0" hangingPunct="1">
                        <a:buNone/>
                      </a:pPr>
                      <a:r>
                        <a:rPr lang="en-US" sz="1800" b="0" kern="1200" dirty="0">
                          <a:ln>
                            <a:noFill/>
                          </a:ln>
                          <a:solidFill>
                            <a:schemeClr val="dk1"/>
                          </a:solidFill>
                          <a:effectLst/>
                          <a:latin typeface="+mn-lt"/>
                          <a:ea typeface="+mn-ea"/>
                          <a:cs typeface="+mn-cs"/>
                        </a:rPr>
                        <a:t>These databases are best suited for complex queries</a:t>
                      </a:r>
                    </a:p>
                  </a:txBody>
                  <a:tcPr marL="50800" marR="50800" marT="50800" marB="50800"/>
                </a:tc>
                <a:tc>
                  <a:txBody>
                    <a:bodyPr/>
                    <a:lstStyle/>
                    <a:p>
                      <a:pPr>
                        <a:buNone/>
                      </a:pPr>
                      <a:r>
                        <a:rPr lang="en-US" sz="1800">
                          <a:ln>
                            <a:noFill/>
                          </a:ln>
                          <a:effectLst/>
                        </a:rPr>
                        <a:t>These databases are not so good for complex queries</a:t>
                      </a:r>
                      <a:endParaRPr lang="en-US" sz="1800">
                        <a:ln>
                          <a:noFill/>
                        </a:ln>
                        <a:solidFill>
                          <a:srgbClr val="000000"/>
                        </a:solidFill>
                        <a:effectLst/>
                        <a:latin typeface="Helvetica Neue"/>
                        <a:ea typeface="Helvetica Neue"/>
                        <a:cs typeface="Helvetica Neue"/>
                      </a:endParaRPr>
                    </a:p>
                  </a:txBody>
                  <a:tcPr marL="50800" marR="50800" marT="50800" marB="50800"/>
                </a:tc>
                <a:extLst>
                  <a:ext uri="{0D108BD9-81ED-4DB2-BD59-A6C34878D82A}">
                    <a16:rowId xmlns:a16="http://schemas.microsoft.com/office/drawing/2014/main" val="3151841798"/>
                  </a:ext>
                </a:extLst>
              </a:tr>
              <a:tr h="615077">
                <a:tc>
                  <a:txBody>
                    <a:bodyPr/>
                    <a:lstStyle/>
                    <a:p>
                      <a:pPr marL="0" algn="l" defTabSz="457200" rtl="0" eaLnBrk="1" latinLnBrk="0" hangingPunct="1">
                        <a:buNone/>
                      </a:pPr>
                      <a:r>
                        <a:rPr lang="en-US" sz="1800" b="0" kern="1200" dirty="0">
                          <a:ln>
                            <a:noFill/>
                          </a:ln>
                          <a:solidFill>
                            <a:schemeClr val="dk1"/>
                          </a:solidFill>
                          <a:effectLst/>
                          <a:latin typeface="+mn-lt"/>
                          <a:ea typeface="+mn-ea"/>
                          <a:cs typeface="+mn-cs"/>
                        </a:rPr>
                        <a:t>Vertically Scalable</a:t>
                      </a:r>
                    </a:p>
                  </a:txBody>
                  <a:tcPr marL="50800" marR="50800" marT="50800" marB="50800"/>
                </a:tc>
                <a:tc>
                  <a:txBody>
                    <a:bodyPr/>
                    <a:lstStyle/>
                    <a:p>
                      <a:pPr>
                        <a:buNone/>
                      </a:pPr>
                      <a:r>
                        <a:rPr lang="en-US" sz="1800" dirty="0">
                          <a:ln>
                            <a:noFill/>
                          </a:ln>
                          <a:effectLst/>
                        </a:rPr>
                        <a:t>Horizontally scalable</a:t>
                      </a:r>
                      <a:endParaRPr lang="en-US" sz="1800" dirty="0">
                        <a:ln>
                          <a:noFill/>
                        </a:ln>
                        <a:solidFill>
                          <a:srgbClr val="000000"/>
                        </a:solidFill>
                        <a:effectLst/>
                        <a:latin typeface="Helvetica Neue"/>
                        <a:ea typeface="Helvetica Neue"/>
                        <a:cs typeface="Helvetica Neue"/>
                      </a:endParaRPr>
                    </a:p>
                  </a:txBody>
                  <a:tcPr marL="50800" marR="50800" marT="50800" marB="50800"/>
                </a:tc>
                <a:extLst>
                  <a:ext uri="{0D108BD9-81ED-4DB2-BD59-A6C34878D82A}">
                    <a16:rowId xmlns:a16="http://schemas.microsoft.com/office/drawing/2014/main" val="633300374"/>
                  </a:ext>
                </a:extLst>
              </a:tr>
            </a:tbl>
          </a:graphicData>
        </a:graphic>
      </p:graphicFrame>
    </p:spTree>
    <p:extLst>
      <p:ext uri="{BB962C8B-B14F-4D97-AF65-F5344CB8AC3E}">
        <p14:creationId xmlns:p14="http://schemas.microsoft.com/office/powerpoint/2010/main" val="41070785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D238E5-9583-CFD0-DF34-BD3D3C8E72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BDE6AF-164F-E9F1-2B94-6FE4DA64C68E}"/>
              </a:ext>
            </a:extLst>
          </p:cNvPr>
          <p:cNvSpPr>
            <a:spLocks noGrp="1"/>
          </p:cNvSpPr>
          <p:nvPr>
            <p:ph type="title"/>
          </p:nvPr>
        </p:nvSpPr>
        <p:spPr>
          <a:xfrm>
            <a:off x="324018" y="-185739"/>
            <a:ext cx="11029616" cy="712157"/>
          </a:xfrm>
        </p:spPr>
        <p:txBody>
          <a:bodyPr/>
          <a:lstStyle/>
          <a:p>
            <a:r>
              <a:rPr lang="en-US" dirty="0"/>
              <a:t>CAP Theorem</a:t>
            </a:r>
          </a:p>
        </p:txBody>
      </p:sp>
      <p:sp>
        <p:nvSpPr>
          <p:cNvPr id="4" name="TextBox 3">
            <a:extLst>
              <a:ext uri="{FF2B5EF4-FFF2-40B4-BE49-F238E27FC236}">
                <a16:creationId xmlns:a16="http://schemas.microsoft.com/office/drawing/2014/main" id="{4238DF03-EC30-6838-31ED-1B58B133AFD9}"/>
              </a:ext>
            </a:extLst>
          </p:cNvPr>
          <p:cNvSpPr txBox="1"/>
          <p:nvPr/>
        </p:nvSpPr>
        <p:spPr>
          <a:xfrm>
            <a:off x="492919" y="900113"/>
            <a:ext cx="11258550" cy="4385816"/>
          </a:xfrm>
          <a:prstGeom prst="rect">
            <a:avLst/>
          </a:prstGeom>
          <a:noFill/>
        </p:spPr>
        <p:txBody>
          <a:bodyPr wrap="square" rtlCol="0">
            <a:spAutoFit/>
          </a:bodyPr>
          <a:lstStyle/>
          <a:p>
            <a:pPr>
              <a:lnSpc>
                <a:spcPct val="150000"/>
              </a:lnSpc>
            </a:pPr>
            <a:r>
              <a:rPr lang="en-US" dirty="0"/>
              <a:t>Dr. Eric A Brewer posited </a:t>
            </a:r>
            <a:r>
              <a:rPr lang="en-US" b="1" dirty="0"/>
              <a:t>CAP</a:t>
            </a:r>
            <a:r>
              <a:rPr lang="en-US" dirty="0"/>
              <a:t> theorem for distributed databases in year 2000</a:t>
            </a:r>
          </a:p>
          <a:p>
            <a:r>
              <a:rPr lang="en-US" dirty="0"/>
              <a:t>The theorem states that within a large-scale distributed data system, there are three requirements that have a relationship of sliding dependency: Consistency, Availability and Partition Tolerance.</a:t>
            </a:r>
          </a:p>
          <a:p>
            <a:endParaRPr lang="en-US" dirty="0"/>
          </a:p>
          <a:p>
            <a:r>
              <a:rPr lang="en-US" b="1" dirty="0">
                <a:solidFill>
                  <a:schemeClr val="accent2">
                    <a:lumMod val="75000"/>
                  </a:schemeClr>
                </a:solidFill>
              </a:rPr>
              <a:t>Consistency</a:t>
            </a:r>
          </a:p>
          <a:p>
            <a:r>
              <a:rPr lang="en-US" dirty="0"/>
              <a:t>All database clients will read the same value for the same query, even given concurrent updates.</a:t>
            </a:r>
          </a:p>
          <a:p>
            <a:endParaRPr lang="en-US" dirty="0"/>
          </a:p>
          <a:p>
            <a:r>
              <a:rPr lang="en-US" b="1" dirty="0">
                <a:solidFill>
                  <a:schemeClr val="accent2">
                    <a:lumMod val="75000"/>
                  </a:schemeClr>
                </a:solidFill>
              </a:rPr>
              <a:t>Availability</a:t>
            </a:r>
          </a:p>
          <a:p>
            <a:r>
              <a:rPr lang="en-US" dirty="0"/>
              <a:t>All database clients will always be able to read and write data.</a:t>
            </a:r>
          </a:p>
          <a:p>
            <a:endParaRPr lang="en-US" dirty="0"/>
          </a:p>
          <a:p>
            <a:r>
              <a:rPr lang="en-US" b="1" dirty="0">
                <a:solidFill>
                  <a:schemeClr val="accent2">
                    <a:lumMod val="75000"/>
                  </a:schemeClr>
                </a:solidFill>
              </a:rPr>
              <a:t>Partition Tolerance</a:t>
            </a:r>
          </a:p>
          <a:p>
            <a:r>
              <a:rPr lang="en-US" dirty="0"/>
              <a:t>The database can be split into multiple machines; it can continue functioning in the face of network segmentation breaks.</a:t>
            </a:r>
          </a:p>
          <a:p>
            <a:endParaRPr lang="en-US" dirty="0"/>
          </a:p>
          <a:p>
            <a:r>
              <a:rPr lang="en-US" dirty="0"/>
              <a:t>Brewer’s theorem states that in any given system, you can strongly support only two of the three.</a:t>
            </a:r>
          </a:p>
        </p:txBody>
      </p:sp>
    </p:spTree>
    <p:extLst>
      <p:ext uri="{BB962C8B-B14F-4D97-AF65-F5344CB8AC3E}">
        <p14:creationId xmlns:p14="http://schemas.microsoft.com/office/powerpoint/2010/main" val="5561581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891951D-0D5B-1DE3-4843-1E0758055D2A}"/>
              </a:ext>
            </a:extLst>
          </p:cNvPr>
          <p:cNvPicPr>
            <a:picLocks noChangeAspect="1"/>
          </p:cNvPicPr>
          <p:nvPr/>
        </p:nvPicPr>
        <p:blipFill>
          <a:blip r:embed="rId2"/>
          <a:stretch>
            <a:fillRect/>
          </a:stretch>
        </p:blipFill>
        <p:spPr>
          <a:xfrm>
            <a:off x="1907381" y="671513"/>
            <a:ext cx="8265320" cy="5936456"/>
          </a:xfrm>
          <a:prstGeom prst="rect">
            <a:avLst/>
          </a:prstGeom>
        </p:spPr>
      </p:pic>
      <p:sp>
        <p:nvSpPr>
          <p:cNvPr id="6" name="Title 1">
            <a:extLst>
              <a:ext uri="{FF2B5EF4-FFF2-40B4-BE49-F238E27FC236}">
                <a16:creationId xmlns:a16="http://schemas.microsoft.com/office/drawing/2014/main" id="{F775496B-CD9E-C3ED-EE7B-C73059507383}"/>
              </a:ext>
            </a:extLst>
          </p:cNvPr>
          <p:cNvSpPr>
            <a:spLocks noGrp="1"/>
          </p:cNvSpPr>
          <p:nvPr>
            <p:ph type="title"/>
          </p:nvPr>
        </p:nvSpPr>
        <p:spPr>
          <a:xfrm>
            <a:off x="324018" y="92869"/>
            <a:ext cx="11029616" cy="433549"/>
          </a:xfrm>
        </p:spPr>
        <p:txBody>
          <a:bodyPr>
            <a:normAutofit fontScale="90000"/>
          </a:bodyPr>
          <a:lstStyle/>
          <a:p>
            <a:r>
              <a:rPr lang="en-US" dirty="0"/>
              <a:t>CAP Theorem</a:t>
            </a:r>
          </a:p>
        </p:txBody>
      </p:sp>
    </p:spTree>
    <p:extLst>
      <p:ext uri="{BB962C8B-B14F-4D97-AF65-F5344CB8AC3E}">
        <p14:creationId xmlns:p14="http://schemas.microsoft.com/office/powerpoint/2010/main" val="33788604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84D93B-D992-4633-D986-011352E2F3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36C4AC-9CFE-E944-B809-5EF635587CFB}"/>
              </a:ext>
            </a:extLst>
          </p:cNvPr>
          <p:cNvSpPr>
            <a:spLocks noGrp="1"/>
          </p:cNvSpPr>
          <p:nvPr>
            <p:ph type="title"/>
          </p:nvPr>
        </p:nvSpPr>
        <p:spPr>
          <a:xfrm>
            <a:off x="324018" y="-185739"/>
            <a:ext cx="11029616" cy="712157"/>
          </a:xfrm>
        </p:spPr>
        <p:txBody>
          <a:bodyPr/>
          <a:lstStyle/>
          <a:p>
            <a:r>
              <a:rPr lang="en-US" dirty="0"/>
              <a:t>PACELC Theorem</a:t>
            </a:r>
          </a:p>
        </p:txBody>
      </p:sp>
      <p:sp>
        <p:nvSpPr>
          <p:cNvPr id="4" name="TextBox 3">
            <a:extLst>
              <a:ext uri="{FF2B5EF4-FFF2-40B4-BE49-F238E27FC236}">
                <a16:creationId xmlns:a16="http://schemas.microsoft.com/office/drawing/2014/main" id="{CC23EE90-463C-B1A3-8E3C-933A9192535B}"/>
              </a:ext>
            </a:extLst>
          </p:cNvPr>
          <p:cNvSpPr txBox="1"/>
          <p:nvPr/>
        </p:nvSpPr>
        <p:spPr>
          <a:xfrm>
            <a:off x="492919" y="900113"/>
            <a:ext cx="11258550" cy="4108817"/>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dirty="0"/>
              <a:t>Dr. Daniel J Abadi proposed the PACELC theorem in his blog in year 2010 </a:t>
            </a:r>
          </a:p>
          <a:p>
            <a:pPr marL="285750" indent="-285750">
              <a:lnSpc>
                <a:spcPct val="150000"/>
              </a:lnSpc>
              <a:buFont typeface="Arial" panose="020B0604020202020204" pitchFamily="34" charset="0"/>
              <a:buChar char="•"/>
            </a:pPr>
            <a:r>
              <a:rPr lang="en-US" dirty="0"/>
              <a:t>In Year 2012 He formalized it by publishing a paper titled "Consistency Tradeoffs in Modern Distributed Database System Design“</a:t>
            </a:r>
          </a:p>
          <a:p>
            <a:endParaRPr lang="en-US" dirty="0"/>
          </a:p>
          <a:p>
            <a:r>
              <a:rPr lang="en-US" dirty="0"/>
              <a:t>The PACELC theorem is an extension of the earlier CAP theorem</a:t>
            </a:r>
          </a:p>
          <a:p>
            <a:endParaRPr lang="en-US" dirty="0"/>
          </a:p>
          <a:p>
            <a:pPr>
              <a:lnSpc>
                <a:spcPct val="150000"/>
              </a:lnSpc>
            </a:pPr>
            <a:r>
              <a:rPr lang="en-US" dirty="0"/>
              <a:t>It states that in case of network partitioning (P) in a distributed computer system, one has to choose between availability (A) and consistency (C) (as per the CAP theorem), </a:t>
            </a:r>
          </a:p>
          <a:p>
            <a:pPr>
              <a:lnSpc>
                <a:spcPct val="150000"/>
              </a:lnSpc>
            </a:pPr>
            <a:r>
              <a:rPr lang="en-US" dirty="0"/>
              <a:t>But else (E), even when the system is running normally in the absence of partitions, one has to choose between latency (L) and consistency (C )  </a:t>
            </a:r>
          </a:p>
          <a:p>
            <a:endParaRPr lang="en-US" dirty="0"/>
          </a:p>
        </p:txBody>
      </p:sp>
    </p:spTree>
    <p:extLst>
      <p:ext uri="{BB962C8B-B14F-4D97-AF65-F5344CB8AC3E}">
        <p14:creationId xmlns:p14="http://schemas.microsoft.com/office/powerpoint/2010/main" val="25185707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C262F4D-C00F-F0B7-27CC-52B1EE914A9F}"/>
            </a:ext>
          </a:extLst>
        </p:cNvPr>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ABF1549F-6469-B650-01E4-4621C82D0E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8B12704-1347-E408-A668-3D41CB32724D}"/>
              </a:ext>
            </a:extLst>
          </p:cNvPr>
          <p:cNvSpPr>
            <a:spLocks noGrp="1"/>
          </p:cNvSpPr>
          <p:nvPr>
            <p:ph type="ctrTitle"/>
          </p:nvPr>
        </p:nvSpPr>
        <p:spPr>
          <a:xfrm>
            <a:off x="581191" y="1020431"/>
            <a:ext cx="10993549" cy="1475013"/>
          </a:xfrm>
        </p:spPr>
        <p:txBody>
          <a:bodyPr>
            <a:normAutofit/>
          </a:bodyPr>
          <a:lstStyle/>
          <a:p>
            <a:r>
              <a:rPr lang="en-US" dirty="0" err="1"/>
              <a:t>cassandra</a:t>
            </a:r>
            <a:r>
              <a:rPr lang="en-US" dirty="0"/>
              <a:t> Intro</a:t>
            </a:r>
          </a:p>
        </p:txBody>
      </p:sp>
      <p:sp>
        <p:nvSpPr>
          <p:cNvPr id="20" name="Rectangle 19">
            <a:extLst>
              <a:ext uri="{FF2B5EF4-FFF2-40B4-BE49-F238E27FC236}">
                <a16:creationId xmlns:a16="http://schemas.microsoft.com/office/drawing/2014/main" id="{11856096-041F-669B-D71C-3A7BF8198C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1">
            <a:extLst>
              <a:ext uri="{FF2B5EF4-FFF2-40B4-BE49-F238E27FC236}">
                <a16:creationId xmlns:a16="http://schemas.microsoft.com/office/drawing/2014/main" id="{EDFB3757-1DB0-0D35-89D7-C1ED934DA1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3">
            <a:extLst>
              <a:ext uri="{FF2B5EF4-FFF2-40B4-BE49-F238E27FC236}">
                <a16:creationId xmlns:a16="http://schemas.microsoft.com/office/drawing/2014/main" id="{4FB3EA11-5CC7-1603-0675-B01734517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pic>
        <p:nvPicPr>
          <p:cNvPr id="6" name="Picture 5" descr="abstract image">
            <a:extLst>
              <a:ext uri="{FF2B5EF4-FFF2-40B4-BE49-F238E27FC236}">
                <a16:creationId xmlns:a16="http://schemas.microsoft.com/office/drawing/2014/main" id="{BBAD7709-EA4B-E087-9CC3-CEB3ADC1BC46}"/>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448733" y="3081867"/>
            <a:ext cx="11260667" cy="3310466"/>
          </a:xfrm>
          <a:prstGeom prst="rect">
            <a:avLst/>
          </a:prstGeom>
        </p:spPr>
      </p:pic>
    </p:spTree>
    <p:extLst>
      <p:ext uri="{BB962C8B-B14F-4D97-AF65-F5344CB8AC3E}">
        <p14:creationId xmlns:p14="http://schemas.microsoft.com/office/powerpoint/2010/main" val="18310957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E1A825-09EE-28A4-3244-40AD902A36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6A9C44-7F9E-FC53-6079-4B35C778E096}"/>
              </a:ext>
            </a:extLst>
          </p:cNvPr>
          <p:cNvSpPr>
            <a:spLocks noGrp="1"/>
          </p:cNvSpPr>
          <p:nvPr>
            <p:ph type="title"/>
          </p:nvPr>
        </p:nvSpPr>
        <p:spPr>
          <a:xfrm>
            <a:off x="324018" y="-185739"/>
            <a:ext cx="11029616" cy="712157"/>
          </a:xfrm>
        </p:spPr>
        <p:txBody>
          <a:bodyPr/>
          <a:lstStyle/>
          <a:p>
            <a:r>
              <a:rPr lang="en-US" dirty="0" err="1"/>
              <a:t>cassandra</a:t>
            </a:r>
            <a:endParaRPr lang="en-US" dirty="0"/>
          </a:p>
        </p:txBody>
      </p:sp>
      <p:sp>
        <p:nvSpPr>
          <p:cNvPr id="6" name="TextBox 5">
            <a:extLst>
              <a:ext uri="{FF2B5EF4-FFF2-40B4-BE49-F238E27FC236}">
                <a16:creationId xmlns:a16="http://schemas.microsoft.com/office/drawing/2014/main" id="{1CD00C6B-75BA-30FA-6B0C-C0BFA5DCAC94}"/>
              </a:ext>
            </a:extLst>
          </p:cNvPr>
          <p:cNvSpPr txBox="1"/>
          <p:nvPr/>
        </p:nvSpPr>
        <p:spPr>
          <a:xfrm>
            <a:off x="492919" y="900113"/>
            <a:ext cx="11172825" cy="3330912"/>
          </a:xfrm>
          <a:prstGeom prst="rect">
            <a:avLst/>
          </a:prstGeom>
          <a:noFill/>
        </p:spPr>
        <p:txBody>
          <a:bodyPr wrap="square" rtlCol="0">
            <a:spAutoFit/>
          </a:bodyPr>
          <a:lstStyle/>
          <a:p>
            <a:pPr marL="285750" indent="-285750">
              <a:lnSpc>
                <a:spcPct val="200000"/>
              </a:lnSpc>
              <a:buFont typeface="Arial" panose="020B0604020202020204" pitchFamily="34" charset="0"/>
              <a:buChar char="•"/>
            </a:pPr>
            <a:r>
              <a:rPr lang="en-US" dirty="0"/>
              <a:t>Apache Cassandra is a highly scalable, distributed </a:t>
            </a:r>
            <a:r>
              <a:rPr lang="en-US" b="1" dirty="0"/>
              <a:t>NoSQL database management system</a:t>
            </a:r>
            <a:r>
              <a:rPr lang="en-US" dirty="0"/>
              <a:t> </a:t>
            </a:r>
          </a:p>
          <a:p>
            <a:pPr marL="285750" indent="-285750">
              <a:lnSpc>
                <a:spcPct val="200000"/>
              </a:lnSpc>
              <a:buFont typeface="Arial" panose="020B0604020202020204" pitchFamily="34" charset="0"/>
              <a:buChar char="•"/>
            </a:pPr>
            <a:r>
              <a:rPr lang="en-US" dirty="0"/>
              <a:t>Designed to handle massive amounts of structured data across multiple commodity servers</a:t>
            </a:r>
          </a:p>
          <a:p>
            <a:pPr marL="285750" indent="-285750">
              <a:lnSpc>
                <a:spcPct val="200000"/>
              </a:lnSpc>
              <a:buFont typeface="Arial" panose="020B0604020202020204" pitchFamily="34" charset="0"/>
              <a:buChar char="•"/>
            </a:pPr>
            <a:r>
              <a:rPr lang="en-US" dirty="0"/>
              <a:t>Providing high availability with no single point of failure.</a:t>
            </a:r>
          </a:p>
          <a:p>
            <a:pPr marL="285750" indent="-285750">
              <a:lnSpc>
                <a:spcPct val="200000"/>
              </a:lnSpc>
              <a:buFont typeface="Arial" panose="020B0604020202020204" pitchFamily="34" charset="0"/>
              <a:buChar char="•"/>
            </a:pPr>
            <a:r>
              <a:rPr lang="en-US" dirty="0"/>
              <a:t>Cassandra is a </a:t>
            </a:r>
            <a:r>
              <a:rPr lang="en-US" b="1" dirty="0"/>
              <a:t>wide-column store</a:t>
            </a:r>
            <a:r>
              <a:rPr lang="en-US" dirty="0"/>
              <a:t> database</a:t>
            </a:r>
          </a:p>
          <a:p>
            <a:pPr marL="285750" indent="-285750">
              <a:lnSpc>
                <a:spcPct val="200000"/>
              </a:lnSpc>
              <a:buFont typeface="Arial" panose="020B0604020202020204" pitchFamily="34" charset="0"/>
              <a:buChar char="•"/>
            </a:pPr>
            <a:r>
              <a:rPr lang="en-US" dirty="0"/>
              <a:t>Follows a </a:t>
            </a:r>
            <a:r>
              <a:rPr lang="en-US" b="1" dirty="0"/>
              <a:t>masterless architecture</a:t>
            </a:r>
            <a:r>
              <a:rPr lang="en-US" dirty="0"/>
              <a:t> where all nodes are equal, allowing linear scalability and exceptional fault tolerance.</a:t>
            </a:r>
          </a:p>
        </p:txBody>
      </p:sp>
    </p:spTree>
    <p:extLst>
      <p:ext uri="{BB962C8B-B14F-4D97-AF65-F5344CB8AC3E}">
        <p14:creationId xmlns:p14="http://schemas.microsoft.com/office/powerpoint/2010/main" val="14983700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D1DB1E-4B44-2A09-1C9D-BE89093763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817B3C-F018-67AD-76AD-4698E3A980E6}"/>
              </a:ext>
            </a:extLst>
          </p:cNvPr>
          <p:cNvSpPr>
            <a:spLocks noGrp="1"/>
          </p:cNvSpPr>
          <p:nvPr>
            <p:ph type="title"/>
          </p:nvPr>
        </p:nvSpPr>
        <p:spPr>
          <a:xfrm>
            <a:off x="324018" y="-185739"/>
            <a:ext cx="11029616" cy="712157"/>
          </a:xfrm>
        </p:spPr>
        <p:txBody>
          <a:bodyPr/>
          <a:lstStyle/>
          <a:p>
            <a:r>
              <a:rPr lang="en-US" dirty="0" err="1"/>
              <a:t>cassandra</a:t>
            </a:r>
            <a:r>
              <a:rPr lang="en-US" dirty="0"/>
              <a:t>  history</a:t>
            </a:r>
          </a:p>
        </p:txBody>
      </p:sp>
      <p:sp>
        <p:nvSpPr>
          <p:cNvPr id="6" name="TextBox 5">
            <a:extLst>
              <a:ext uri="{FF2B5EF4-FFF2-40B4-BE49-F238E27FC236}">
                <a16:creationId xmlns:a16="http://schemas.microsoft.com/office/drawing/2014/main" id="{69BFFD86-A3A8-8CA9-81DF-814133D28AF4}"/>
              </a:ext>
            </a:extLst>
          </p:cNvPr>
          <p:cNvSpPr txBox="1"/>
          <p:nvPr/>
        </p:nvSpPr>
        <p:spPr>
          <a:xfrm>
            <a:off x="492919" y="900113"/>
            <a:ext cx="11172825" cy="5632311"/>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dirty="0"/>
              <a:t>Originated at Facebook during 2007 t0 2008</a:t>
            </a:r>
          </a:p>
          <a:p>
            <a:pPr marL="285750" indent="-285750">
              <a:lnSpc>
                <a:spcPct val="150000"/>
              </a:lnSpc>
              <a:buFont typeface="Arial" panose="020B0604020202020204" pitchFamily="34" charset="0"/>
              <a:buChar char="•"/>
            </a:pPr>
            <a:r>
              <a:rPr lang="en-US" dirty="0"/>
              <a:t>Designed to solve the </a:t>
            </a:r>
            <a:r>
              <a:rPr lang="en-US" b="1" dirty="0"/>
              <a:t>inbox search problem</a:t>
            </a:r>
          </a:p>
          <a:p>
            <a:pPr marL="285750" indent="-285750">
              <a:lnSpc>
                <a:spcPct val="150000"/>
              </a:lnSpc>
              <a:buFont typeface="Arial" panose="020B0604020202020204" pitchFamily="34" charset="0"/>
              <a:buChar char="•"/>
            </a:pPr>
            <a:r>
              <a:rPr lang="en-US" dirty="0"/>
              <a:t>Inspired by Amazon's </a:t>
            </a:r>
            <a:r>
              <a:rPr lang="en-US" b="1" dirty="0"/>
              <a:t>DynamoDB</a:t>
            </a:r>
            <a:r>
              <a:rPr lang="en-US" dirty="0"/>
              <a:t> (distribution model) and Google's </a:t>
            </a:r>
            <a:r>
              <a:rPr lang="en-US" b="1" dirty="0" err="1"/>
              <a:t>BigTable</a:t>
            </a:r>
            <a:r>
              <a:rPr lang="en-US" dirty="0"/>
              <a:t> (data model)</a:t>
            </a:r>
          </a:p>
          <a:p>
            <a:endParaRPr lang="en-US" dirty="0"/>
          </a:p>
          <a:p>
            <a:r>
              <a:rPr lang="en-US" b="1" dirty="0">
                <a:solidFill>
                  <a:schemeClr val="accent2">
                    <a:lumMod val="75000"/>
                  </a:schemeClr>
                </a:solidFill>
              </a:rPr>
              <a:t>Open-Source Journey</a:t>
            </a:r>
          </a:p>
          <a:p>
            <a:endParaRPr lang="en-US" b="1" dirty="0"/>
          </a:p>
          <a:p>
            <a:pPr marL="285750" indent="-285750">
              <a:lnSpc>
                <a:spcPct val="150000"/>
              </a:lnSpc>
              <a:buFont typeface="Arial" panose="020B0604020202020204" pitchFamily="34" charset="0"/>
              <a:buChar char="•"/>
            </a:pPr>
            <a:r>
              <a:rPr lang="en-US" b="1" dirty="0"/>
              <a:t>2008</a:t>
            </a:r>
            <a:r>
              <a:rPr lang="en-US" dirty="0"/>
              <a:t>: Released as open source by Facebook</a:t>
            </a:r>
          </a:p>
          <a:p>
            <a:pPr marL="285750" indent="-285750">
              <a:lnSpc>
                <a:spcPct val="150000"/>
              </a:lnSpc>
              <a:buFont typeface="Arial" panose="020B0604020202020204" pitchFamily="34" charset="0"/>
              <a:buChar char="•"/>
            </a:pPr>
            <a:r>
              <a:rPr lang="en-US" b="1" dirty="0"/>
              <a:t>2009</a:t>
            </a:r>
            <a:r>
              <a:rPr lang="en-US" dirty="0"/>
              <a:t>: Accepted into Apache Incubator</a:t>
            </a:r>
          </a:p>
          <a:p>
            <a:pPr marL="285750" indent="-285750">
              <a:lnSpc>
                <a:spcPct val="150000"/>
              </a:lnSpc>
              <a:buFont typeface="Arial" panose="020B0604020202020204" pitchFamily="34" charset="0"/>
              <a:buChar char="•"/>
            </a:pPr>
            <a:r>
              <a:rPr lang="en-US" b="1" dirty="0"/>
              <a:t>2010</a:t>
            </a:r>
            <a:r>
              <a:rPr lang="en-US" dirty="0"/>
              <a:t>: Graduated to top-level Apache project</a:t>
            </a:r>
          </a:p>
          <a:p>
            <a:pPr marL="285750" indent="-285750">
              <a:lnSpc>
                <a:spcPct val="150000"/>
              </a:lnSpc>
              <a:buFont typeface="Arial" panose="020B0604020202020204" pitchFamily="34" charset="0"/>
              <a:buChar char="•"/>
            </a:pPr>
            <a:r>
              <a:rPr lang="en-US" b="1" dirty="0"/>
              <a:t>2013</a:t>
            </a:r>
            <a:r>
              <a:rPr lang="en-US" dirty="0"/>
              <a:t>: Release of </a:t>
            </a:r>
            <a:r>
              <a:rPr lang="en-US" b="1" dirty="0"/>
              <a:t>Cassandra 2.0</a:t>
            </a:r>
            <a:r>
              <a:rPr lang="en-US" dirty="0"/>
              <a:t> with significant improvements</a:t>
            </a:r>
          </a:p>
          <a:p>
            <a:pPr marL="285750" indent="-285750">
              <a:lnSpc>
                <a:spcPct val="150000"/>
              </a:lnSpc>
              <a:buFont typeface="Arial" panose="020B0604020202020204" pitchFamily="34" charset="0"/>
              <a:buChar char="•"/>
            </a:pPr>
            <a:r>
              <a:rPr lang="en-US" b="1" dirty="0"/>
              <a:t>2015</a:t>
            </a:r>
            <a:r>
              <a:rPr lang="en-US" dirty="0"/>
              <a:t>: </a:t>
            </a:r>
            <a:r>
              <a:rPr lang="en-US" b="1" dirty="0"/>
              <a:t>Cassandra 3.0</a:t>
            </a:r>
            <a:r>
              <a:rPr lang="en-US" dirty="0"/>
              <a:t> introduced new storage engine</a:t>
            </a:r>
          </a:p>
          <a:p>
            <a:pPr marL="285750" indent="-285750">
              <a:lnSpc>
                <a:spcPct val="150000"/>
              </a:lnSpc>
              <a:buFont typeface="Arial" panose="020B0604020202020204" pitchFamily="34" charset="0"/>
              <a:buChar char="•"/>
            </a:pPr>
            <a:r>
              <a:rPr lang="en-US" b="1" dirty="0"/>
              <a:t>2021+</a:t>
            </a:r>
            <a:r>
              <a:rPr lang="en-US" dirty="0"/>
              <a:t>: Continued evolution with improved performance, cloud-native features, and enhanced operational simplicity</a:t>
            </a:r>
          </a:p>
          <a:p>
            <a:endParaRPr lang="en-US" dirty="0"/>
          </a:p>
          <a:p>
            <a:endParaRPr lang="en-US" dirty="0"/>
          </a:p>
        </p:txBody>
      </p:sp>
    </p:spTree>
    <p:extLst>
      <p:ext uri="{BB962C8B-B14F-4D97-AF65-F5344CB8AC3E}">
        <p14:creationId xmlns:p14="http://schemas.microsoft.com/office/powerpoint/2010/main" val="13194942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a:extLst>
            <a:ext uri="{FF2B5EF4-FFF2-40B4-BE49-F238E27FC236}">
              <a16:creationId xmlns:a16="http://schemas.microsoft.com/office/drawing/2014/main" id="{E562EAFC-0A65-328C-EBEB-04076419D1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022FFA-BA33-C7B1-5241-1D5196B8190A}"/>
              </a:ext>
            </a:extLst>
          </p:cNvPr>
          <p:cNvSpPr>
            <a:spLocks noGrp="1"/>
          </p:cNvSpPr>
          <p:nvPr>
            <p:ph type="title"/>
          </p:nvPr>
        </p:nvSpPr>
        <p:spPr>
          <a:xfrm>
            <a:off x="324018" y="-185739"/>
            <a:ext cx="11029616" cy="712157"/>
          </a:xfrm>
        </p:spPr>
        <p:txBody>
          <a:bodyPr/>
          <a:lstStyle/>
          <a:p>
            <a:r>
              <a:rPr lang="en-US" dirty="0"/>
              <a:t>Cassandra releases</a:t>
            </a:r>
          </a:p>
        </p:txBody>
      </p:sp>
      <p:graphicFrame>
        <p:nvGraphicFramePr>
          <p:cNvPr id="4" name="Table 3">
            <a:extLst>
              <a:ext uri="{FF2B5EF4-FFF2-40B4-BE49-F238E27FC236}">
                <a16:creationId xmlns:a16="http://schemas.microsoft.com/office/drawing/2014/main" id="{985BD59A-92FC-3314-798E-F8C90B91AF41}"/>
              </a:ext>
            </a:extLst>
          </p:cNvPr>
          <p:cNvGraphicFramePr>
            <a:graphicFrameLocks noGrp="1"/>
          </p:cNvGraphicFramePr>
          <p:nvPr>
            <p:extLst>
              <p:ext uri="{D42A27DB-BD31-4B8C-83A1-F6EECF244321}">
                <p14:modId xmlns:p14="http://schemas.microsoft.com/office/powerpoint/2010/main" val="217579010"/>
              </p:ext>
            </p:extLst>
          </p:nvPr>
        </p:nvGraphicFramePr>
        <p:xfrm>
          <a:off x="400051" y="642938"/>
          <a:ext cx="11279980" cy="6121088"/>
        </p:xfrm>
        <a:graphic>
          <a:graphicData uri="http://schemas.openxmlformats.org/drawingml/2006/table">
            <a:tbl>
              <a:tblPr/>
              <a:tblGrid>
                <a:gridCol w="2255996">
                  <a:extLst>
                    <a:ext uri="{9D8B030D-6E8A-4147-A177-3AD203B41FA5}">
                      <a16:colId xmlns:a16="http://schemas.microsoft.com/office/drawing/2014/main" val="3669834267"/>
                    </a:ext>
                  </a:extLst>
                </a:gridCol>
                <a:gridCol w="2255996">
                  <a:extLst>
                    <a:ext uri="{9D8B030D-6E8A-4147-A177-3AD203B41FA5}">
                      <a16:colId xmlns:a16="http://schemas.microsoft.com/office/drawing/2014/main" val="2460790260"/>
                    </a:ext>
                  </a:extLst>
                </a:gridCol>
                <a:gridCol w="2255996">
                  <a:extLst>
                    <a:ext uri="{9D8B030D-6E8A-4147-A177-3AD203B41FA5}">
                      <a16:colId xmlns:a16="http://schemas.microsoft.com/office/drawing/2014/main" val="1512769528"/>
                    </a:ext>
                  </a:extLst>
                </a:gridCol>
                <a:gridCol w="2255996">
                  <a:extLst>
                    <a:ext uri="{9D8B030D-6E8A-4147-A177-3AD203B41FA5}">
                      <a16:colId xmlns:a16="http://schemas.microsoft.com/office/drawing/2014/main" val="3726814882"/>
                    </a:ext>
                  </a:extLst>
                </a:gridCol>
                <a:gridCol w="2255996">
                  <a:extLst>
                    <a:ext uri="{9D8B030D-6E8A-4147-A177-3AD203B41FA5}">
                      <a16:colId xmlns:a16="http://schemas.microsoft.com/office/drawing/2014/main" val="988614697"/>
                    </a:ext>
                  </a:extLst>
                </a:gridCol>
              </a:tblGrid>
              <a:tr h="387052">
                <a:tc>
                  <a:txBody>
                    <a:bodyPr/>
                    <a:lstStyle/>
                    <a:p>
                      <a:pPr algn="ctr">
                        <a:buNone/>
                      </a:pPr>
                      <a:r>
                        <a:rPr lang="en-US" sz="1800" b="1">
                          <a:solidFill>
                            <a:srgbClr val="202122"/>
                          </a:solidFill>
                          <a:effectLst/>
                        </a:rPr>
                        <a:t>Version</a:t>
                      </a:r>
                    </a:p>
                  </a:txBody>
                  <a:tcPr marL="34789" marR="34789" marT="17394" marB="17394" anchor="ctr">
                    <a:lnL w="4763" cap="flat" cmpd="sng" algn="ctr">
                      <a:solidFill>
                        <a:srgbClr val="A2A9B1"/>
                      </a:solidFill>
                      <a:prstDash val="solid"/>
                      <a:round/>
                      <a:headEnd type="none" w="med" len="med"/>
                      <a:tailEnd type="none" w="med" len="med"/>
                    </a:lnL>
                    <a:lnR w="4763" cap="flat" cmpd="sng" algn="ctr">
                      <a:solidFill>
                        <a:srgbClr val="A2A9B1"/>
                      </a:solidFill>
                      <a:prstDash val="solid"/>
                      <a:round/>
                      <a:headEnd type="none" w="med" len="med"/>
                      <a:tailEnd type="none" w="med" len="med"/>
                    </a:lnR>
                    <a:lnT w="4763" cap="flat" cmpd="sng" algn="ctr">
                      <a:solidFill>
                        <a:srgbClr val="A2A9B1"/>
                      </a:solidFill>
                      <a:prstDash val="solid"/>
                      <a:round/>
                      <a:headEnd type="none" w="med" len="med"/>
                      <a:tailEnd type="none" w="med" len="med"/>
                    </a:lnT>
                    <a:lnB w="4763" cap="flat" cmpd="sng" algn="ctr">
                      <a:solidFill>
                        <a:srgbClr val="A2A9B1"/>
                      </a:solidFill>
                      <a:prstDash val="solid"/>
                      <a:round/>
                      <a:headEnd type="none" w="med" len="med"/>
                      <a:tailEnd type="none" w="med" len="med"/>
                    </a:lnB>
                    <a:solidFill>
                      <a:srgbClr val="EAECF0"/>
                    </a:solidFill>
                  </a:tcPr>
                </a:tc>
                <a:tc>
                  <a:txBody>
                    <a:bodyPr/>
                    <a:lstStyle/>
                    <a:p>
                      <a:pPr algn="ctr">
                        <a:buNone/>
                      </a:pPr>
                      <a:r>
                        <a:rPr lang="en-US" sz="1800" b="1">
                          <a:solidFill>
                            <a:srgbClr val="202122"/>
                          </a:solidFill>
                          <a:effectLst/>
                        </a:rPr>
                        <a:t>Original release date</a:t>
                      </a:r>
                    </a:p>
                  </a:txBody>
                  <a:tcPr marL="34789" marR="34789" marT="17394" marB="17394" anchor="ctr">
                    <a:lnL w="4763" cap="flat" cmpd="sng" algn="ctr">
                      <a:solidFill>
                        <a:srgbClr val="A2A9B1"/>
                      </a:solidFill>
                      <a:prstDash val="solid"/>
                      <a:round/>
                      <a:headEnd type="none" w="med" len="med"/>
                      <a:tailEnd type="none" w="med" len="med"/>
                    </a:lnL>
                    <a:lnR w="4763" cap="flat" cmpd="sng" algn="ctr">
                      <a:solidFill>
                        <a:srgbClr val="A2A9B1"/>
                      </a:solidFill>
                      <a:prstDash val="solid"/>
                      <a:round/>
                      <a:headEnd type="none" w="med" len="med"/>
                      <a:tailEnd type="none" w="med" len="med"/>
                    </a:lnR>
                    <a:lnT w="4763" cap="flat" cmpd="sng" algn="ctr">
                      <a:solidFill>
                        <a:srgbClr val="A2A9B1"/>
                      </a:solidFill>
                      <a:prstDash val="solid"/>
                      <a:round/>
                      <a:headEnd type="none" w="med" len="med"/>
                      <a:tailEnd type="none" w="med" len="med"/>
                    </a:lnT>
                    <a:lnB w="4763" cap="flat" cmpd="sng" algn="ctr">
                      <a:solidFill>
                        <a:srgbClr val="A2A9B1"/>
                      </a:solidFill>
                      <a:prstDash val="solid"/>
                      <a:round/>
                      <a:headEnd type="none" w="med" len="med"/>
                      <a:tailEnd type="none" w="med" len="med"/>
                    </a:lnB>
                    <a:solidFill>
                      <a:srgbClr val="EAECF0"/>
                    </a:solidFill>
                  </a:tcPr>
                </a:tc>
                <a:tc>
                  <a:txBody>
                    <a:bodyPr/>
                    <a:lstStyle/>
                    <a:p>
                      <a:pPr algn="ctr">
                        <a:buNone/>
                      </a:pPr>
                      <a:r>
                        <a:rPr lang="en-US" sz="1800" b="1">
                          <a:solidFill>
                            <a:srgbClr val="202122"/>
                          </a:solidFill>
                          <a:effectLst/>
                        </a:rPr>
                        <a:t>Latest version</a:t>
                      </a:r>
                    </a:p>
                  </a:txBody>
                  <a:tcPr marL="34789" marR="34789" marT="17394" marB="17394" anchor="ctr">
                    <a:lnL w="4763" cap="flat" cmpd="sng" algn="ctr">
                      <a:solidFill>
                        <a:srgbClr val="A2A9B1"/>
                      </a:solidFill>
                      <a:prstDash val="solid"/>
                      <a:round/>
                      <a:headEnd type="none" w="med" len="med"/>
                      <a:tailEnd type="none" w="med" len="med"/>
                    </a:lnL>
                    <a:lnR w="4763" cap="flat" cmpd="sng" algn="ctr">
                      <a:solidFill>
                        <a:srgbClr val="A2A9B1"/>
                      </a:solidFill>
                      <a:prstDash val="solid"/>
                      <a:round/>
                      <a:headEnd type="none" w="med" len="med"/>
                      <a:tailEnd type="none" w="med" len="med"/>
                    </a:lnR>
                    <a:lnT w="4763" cap="flat" cmpd="sng" algn="ctr">
                      <a:solidFill>
                        <a:srgbClr val="A2A9B1"/>
                      </a:solidFill>
                      <a:prstDash val="solid"/>
                      <a:round/>
                      <a:headEnd type="none" w="med" len="med"/>
                      <a:tailEnd type="none" w="med" len="med"/>
                    </a:lnT>
                    <a:lnB w="4763" cap="flat" cmpd="sng" algn="ctr">
                      <a:solidFill>
                        <a:srgbClr val="A2A9B1"/>
                      </a:solidFill>
                      <a:prstDash val="solid"/>
                      <a:round/>
                      <a:headEnd type="none" w="med" len="med"/>
                      <a:tailEnd type="none" w="med" len="med"/>
                    </a:lnB>
                    <a:solidFill>
                      <a:srgbClr val="EAECF0"/>
                    </a:solidFill>
                  </a:tcPr>
                </a:tc>
                <a:tc>
                  <a:txBody>
                    <a:bodyPr/>
                    <a:lstStyle/>
                    <a:p>
                      <a:pPr algn="ctr">
                        <a:buNone/>
                      </a:pPr>
                      <a:r>
                        <a:rPr lang="en-US" sz="1800" b="1">
                          <a:solidFill>
                            <a:srgbClr val="202122"/>
                          </a:solidFill>
                          <a:effectLst/>
                        </a:rPr>
                        <a:t>Release date</a:t>
                      </a:r>
                    </a:p>
                  </a:txBody>
                  <a:tcPr marL="34789" marR="34789" marT="17394" marB="17394" anchor="ctr">
                    <a:lnL w="4763" cap="flat" cmpd="sng" algn="ctr">
                      <a:solidFill>
                        <a:srgbClr val="A2A9B1"/>
                      </a:solidFill>
                      <a:prstDash val="solid"/>
                      <a:round/>
                      <a:headEnd type="none" w="med" len="med"/>
                      <a:tailEnd type="none" w="med" len="med"/>
                    </a:lnL>
                    <a:lnR w="4763" cap="flat" cmpd="sng" algn="ctr">
                      <a:solidFill>
                        <a:srgbClr val="A2A9B1"/>
                      </a:solidFill>
                      <a:prstDash val="solid"/>
                      <a:round/>
                      <a:headEnd type="none" w="med" len="med"/>
                      <a:tailEnd type="none" w="med" len="med"/>
                    </a:lnR>
                    <a:lnT w="4763" cap="flat" cmpd="sng" algn="ctr">
                      <a:solidFill>
                        <a:srgbClr val="A2A9B1"/>
                      </a:solidFill>
                      <a:prstDash val="solid"/>
                      <a:round/>
                      <a:headEnd type="none" w="med" len="med"/>
                      <a:tailEnd type="none" w="med" len="med"/>
                    </a:lnT>
                    <a:lnB w="4763" cap="flat" cmpd="sng" algn="ctr">
                      <a:solidFill>
                        <a:srgbClr val="A2A9B1"/>
                      </a:solidFill>
                      <a:prstDash val="solid"/>
                      <a:round/>
                      <a:headEnd type="none" w="med" len="med"/>
                      <a:tailEnd type="none" w="med" len="med"/>
                    </a:lnB>
                    <a:solidFill>
                      <a:srgbClr val="EAECF0"/>
                    </a:solidFill>
                  </a:tcPr>
                </a:tc>
                <a:tc>
                  <a:txBody>
                    <a:bodyPr/>
                    <a:lstStyle/>
                    <a:p>
                      <a:pPr algn="ctr">
                        <a:buNone/>
                      </a:pPr>
                      <a:r>
                        <a:rPr lang="en-US" sz="1800" b="1" dirty="0">
                          <a:solidFill>
                            <a:srgbClr val="202122"/>
                          </a:solidFill>
                          <a:effectLst/>
                        </a:rPr>
                        <a:t>Status</a:t>
                      </a:r>
                    </a:p>
                  </a:txBody>
                  <a:tcPr marL="34789" marR="34789" marT="17394" marB="17394" anchor="ctr">
                    <a:lnL w="4763" cap="flat" cmpd="sng" algn="ctr">
                      <a:solidFill>
                        <a:srgbClr val="A2A9B1"/>
                      </a:solidFill>
                      <a:prstDash val="solid"/>
                      <a:round/>
                      <a:headEnd type="none" w="med" len="med"/>
                      <a:tailEnd type="none" w="med" len="med"/>
                    </a:lnL>
                    <a:lnR w="4763" cap="flat" cmpd="sng" algn="ctr">
                      <a:solidFill>
                        <a:srgbClr val="A2A9B1"/>
                      </a:solidFill>
                      <a:prstDash val="solid"/>
                      <a:round/>
                      <a:headEnd type="none" w="med" len="med"/>
                      <a:tailEnd type="none" w="med" len="med"/>
                    </a:lnR>
                    <a:lnT w="4763" cap="flat" cmpd="sng" algn="ctr">
                      <a:solidFill>
                        <a:srgbClr val="A2A9B1"/>
                      </a:solidFill>
                      <a:prstDash val="solid"/>
                      <a:round/>
                      <a:headEnd type="none" w="med" len="med"/>
                      <a:tailEnd type="none" w="med" len="med"/>
                    </a:lnT>
                    <a:lnB w="4763" cap="flat" cmpd="sng" algn="ctr">
                      <a:solidFill>
                        <a:srgbClr val="A2A9B1"/>
                      </a:solidFill>
                      <a:prstDash val="solid"/>
                      <a:round/>
                      <a:headEnd type="none" w="med" len="med"/>
                      <a:tailEnd type="none" w="med" len="med"/>
                    </a:lnB>
                    <a:solidFill>
                      <a:srgbClr val="EAECF0"/>
                    </a:solidFill>
                  </a:tcPr>
                </a:tc>
                <a:extLst>
                  <a:ext uri="{0D108BD9-81ED-4DB2-BD59-A6C34878D82A}">
                    <a16:rowId xmlns:a16="http://schemas.microsoft.com/office/drawing/2014/main" val="3218547795"/>
                  </a:ext>
                </a:extLst>
              </a:tr>
              <a:tr h="387052">
                <a:tc>
                  <a:txBody>
                    <a:bodyPr/>
                    <a:lstStyle/>
                    <a:p>
                      <a:pPr>
                        <a:buNone/>
                      </a:pPr>
                      <a:r>
                        <a:rPr lang="en-US" sz="1400">
                          <a:solidFill>
                            <a:srgbClr val="202122"/>
                          </a:solidFill>
                          <a:effectLst/>
                        </a:rPr>
                        <a:t>0.6</a:t>
                      </a:r>
                    </a:p>
                  </a:txBody>
                  <a:tcPr marL="34789" marR="34789" marT="17394" marB="17394" anchor="ctr">
                    <a:lnL w="4763" cap="flat" cmpd="sng" algn="ctr">
                      <a:solidFill>
                        <a:srgbClr val="A2A9B1"/>
                      </a:solidFill>
                      <a:prstDash val="solid"/>
                      <a:round/>
                      <a:headEnd type="none" w="med" len="med"/>
                      <a:tailEnd type="none" w="med" len="med"/>
                    </a:lnL>
                    <a:lnR w="4763" cap="flat" cmpd="sng" algn="ctr">
                      <a:solidFill>
                        <a:srgbClr val="A2A9B1"/>
                      </a:solidFill>
                      <a:prstDash val="solid"/>
                      <a:round/>
                      <a:headEnd type="none" w="med" len="med"/>
                      <a:tailEnd type="none" w="med" len="med"/>
                    </a:lnR>
                    <a:lnT w="4763" cap="flat" cmpd="sng" algn="ctr">
                      <a:solidFill>
                        <a:srgbClr val="A2A9B1"/>
                      </a:solidFill>
                      <a:prstDash val="solid"/>
                      <a:round/>
                      <a:headEnd type="none" w="med" len="med"/>
                      <a:tailEnd type="none" w="med" len="med"/>
                    </a:lnT>
                    <a:lnB w="4763" cap="flat" cmpd="sng" algn="ctr">
                      <a:solidFill>
                        <a:srgbClr val="A2A9B1"/>
                      </a:solidFill>
                      <a:prstDash val="solid"/>
                      <a:round/>
                      <a:headEnd type="none" w="med" len="med"/>
                      <a:tailEnd type="none" w="med" len="med"/>
                    </a:lnB>
                    <a:solidFill>
                      <a:srgbClr val="FDB3AB"/>
                    </a:solidFill>
                  </a:tcPr>
                </a:tc>
                <a:tc>
                  <a:txBody>
                    <a:bodyPr/>
                    <a:lstStyle/>
                    <a:p>
                      <a:pPr>
                        <a:buNone/>
                      </a:pPr>
                      <a:r>
                        <a:rPr lang="en-US" sz="1400">
                          <a:effectLst/>
                        </a:rPr>
                        <a:t>2010-04-12</a:t>
                      </a:r>
                    </a:p>
                  </a:txBody>
                  <a:tcPr marL="34789" marR="34789" marT="17394" marB="17394" anchor="ctr">
                    <a:lnL w="4763" cap="flat" cmpd="sng" algn="ctr">
                      <a:solidFill>
                        <a:srgbClr val="A2A9B1"/>
                      </a:solidFill>
                      <a:prstDash val="solid"/>
                      <a:round/>
                      <a:headEnd type="none" w="med" len="med"/>
                      <a:tailEnd type="none" w="med" len="med"/>
                    </a:lnL>
                    <a:lnR w="4763" cap="flat" cmpd="sng" algn="ctr">
                      <a:solidFill>
                        <a:srgbClr val="A2A9B1"/>
                      </a:solidFill>
                      <a:prstDash val="solid"/>
                      <a:round/>
                      <a:headEnd type="none" w="med" len="med"/>
                      <a:tailEnd type="none" w="med" len="med"/>
                    </a:lnR>
                    <a:lnT w="4763" cap="flat" cmpd="sng" algn="ctr">
                      <a:solidFill>
                        <a:srgbClr val="A2A9B1"/>
                      </a:solidFill>
                      <a:prstDash val="solid"/>
                      <a:round/>
                      <a:headEnd type="none" w="med" len="med"/>
                      <a:tailEnd type="none" w="med" len="med"/>
                    </a:lnT>
                    <a:lnB w="4763" cap="flat" cmpd="sng" algn="ctr">
                      <a:solidFill>
                        <a:srgbClr val="A2A9B1"/>
                      </a:solidFill>
                      <a:prstDash val="solid"/>
                      <a:round/>
                      <a:headEnd type="none" w="med" len="med"/>
                      <a:tailEnd type="none" w="med" len="med"/>
                    </a:lnB>
                    <a:solidFill>
                      <a:srgbClr val="F8F9FA"/>
                    </a:solidFill>
                  </a:tcPr>
                </a:tc>
                <a:tc>
                  <a:txBody>
                    <a:bodyPr/>
                    <a:lstStyle/>
                    <a:p>
                      <a:pPr>
                        <a:buNone/>
                      </a:pPr>
                      <a:r>
                        <a:rPr lang="en-US" sz="1400">
                          <a:effectLst/>
                        </a:rPr>
                        <a:t>0.6.13</a:t>
                      </a:r>
                    </a:p>
                  </a:txBody>
                  <a:tcPr marL="34789" marR="34789" marT="17394" marB="17394" anchor="ctr">
                    <a:lnL w="4763" cap="flat" cmpd="sng" algn="ctr">
                      <a:solidFill>
                        <a:srgbClr val="A2A9B1"/>
                      </a:solidFill>
                      <a:prstDash val="solid"/>
                      <a:round/>
                      <a:headEnd type="none" w="med" len="med"/>
                      <a:tailEnd type="none" w="med" len="med"/>
                    </a:lnL>
                    <a:lnR w="4763" cap="flat" cmpd="sng" algn="ctr">
                      <a:solidFill>
                        <a:srgbClr val="A2A9B1"/>
                      </a:solidFill>
                      <a:prstDash val="solid"/>
                      <a:round/>
                      <a:headEnd type="none" w="med" len="med"/>
                      <a:tailEnd type="none" w="med" len="med"/>
                    </a:lnR>
                    <a:lnT w="4763" cap="flat" cmpd="sng" algn="ctr">
                      <a:solidFill>
                        <a:srgbClr val="A2A9B1"/>
                      </a:solidFill>
                      <a:prstDash val="solid"/>
                      <a:round/>
                      <a:headEnd type="none" w="med" len="med"/>
                      <a:tailEnd type="none" w="med" len="med"/>
                    </a:lnT>
                    <a:lnB w="4763" cap="flat" cmpd="sng" algn="ctr">
                      <a:solidFill>
                        <a:srgbClr val="A2A9B1"/>
                      </a:solidFill>
                      <a:prstDash val="solid"/>
                      <a:round/>
                      <a:headEnd type="none" w="med" len="med"/>
                      <a:tailEnd type="none" w="med" len="med"/>
                    </a:lnB>
                    <a:solidFill>
                      <a:srgbClr val="F8F9FA"/>
                    </a:solidFill>
                  </a:tcPr>
                </a:tc>
                <a:tc>
                  <a:txBody>
                    <a:bodyPr/>
                    <a:lstStyle/>
                    <a:p>
                      <a:pPr>
                        <a:buNone/>
                      </a:pPr>
                      <a:r>
                        <a:rPr lang="en-US" sz="1400">
                          <a:effectLst/>
                        </a:rPr>
                        <a:t>2011-04-18</a:t>
                      </a:r>
                    </a:p>
                  </a:txBody>
                  <a:tcPr marL="34789" marR="34789" marT="17394" marB="17394" anchor="ctr">
                    <a:lnL w="4763" cap="flat" cmpd="sng" algn="ctr">
                      <a:solidFill>
                        <a:srgbClr val="A2A9B1"/>
                      </a:solidFill>
                      <a:prstDash val="solid"/>
                      <a:round/>
                      <a:headEnd type="none" w="med" len="med"/>
                      <a:tailEnd type="none" w="med" len="med"/>
                    </a:lnL>
                    <a:lnR w="4763" cap="flat" cmpd="sng" algn="ctr">
                      <a:solidFill>
                        <a:srgbClr val="A2A9B1"/>
                      </a:solidFill>
                      <a:prstDash val="solid"/>
                      <a:round/>
                      <a:headEnd type="none" w="med" len="med"/>
                      <a:tailEnd type="none" w="med" len="med"/>
                    </a:lnR>
                    <a:lnT w="4763" cap="flat" cmpd="sng" algn="ctr">
                      <a:solidFill>
                        <a:srgbClr val="A2A9B1"/>
                      </a:solidFill>
                      <a:prstDash val="solid"/>
                      <a:round/>
                      <a:headEnd type="none" w="med" len="med"/>
                      <a:tailEnd type="none" w="med" len="med"/>
                    </a:lnT>
                    <a:lnB w="4763" cap="flat" cmpd="sng" algn="ctr">
                      <a:solidFill>
                        <a:srgbClr val="A2A9B1"/>
                      </a:solidFill>
                      <a:prstDash val="solid"/>
                      <a:round/>
                      <a:headEnd type="none" w="med" len="med"/>
                      <a:tailEnd type="none" w="med" len="med"/>
                    </a:lnB>
                    <a:solidFill>
                      <a:srgbClr val="F8F9FA"/>
                    </a:solidFill>
                  </a:tcPr>
                </a:tc>
                <a:tc>
                  <a:txBody>
                    <a:bodyPr/>
                    <a:lstStyle/>
                    <a:p>
                      <a:pPr>
                        <a:buNone/>
                      </a:pPr>
                      <a:r>
                        <a:rPr lang="en-US" sz="1400">
                          <a:effectLst/>
                        </a:rPr>
                        <a:t>No longer maintained</a:t>
                      </a:r>
                    </a:p>
                  </a:txBody>
                  <a:tcPr marL="34789" marR="34789" marT="17394" marB="17394" anchor="ctr">
                    <a:lnL w="4763" cap="flat" cmpd="sng" algn="ctr">
                      <a:solidFill>
                        <a:srgbClr val="A2A9B1"/>
                      </a:solidFill>
                      <a:prstDash val="solid"/>
                      <a:round/>
                      <a:headEnd type="none" w="med" len="med"/>
                      <a:tailEnd type="none" w="med" len="med"/>
                    </a:lnL>
                    <a:lnR w="4763" cap="flat" cmpd="sng" algn="ctr">
                      <a:solidFill>
                        <a:srgbClr val="A2A9B1"/>
                      </a:solidFill>
                      <a:prstDash val="solid"/>
                      <a:round/>
                      <a:headEnd type="none" w="med" len="med"/>
                      <a:tailEnd type="none" w="med" len="med"/>
                    </a:lnR>
                    <a:lnT w="4763" cap="flat" cmpd="sng" algn="ctr">
                      <a:solidFill>
                        <a:srgbClr val="A2A9B1"/>
                      </a:solidFill>
                      <a:prstDash val="solid"/>
                      <a:round/>
                      <a:headEnd type="none" w="med" len="med"/>
                      <a:tailEnd type="none" w="med" len="med"/>
                    </a:lnT>
                    <a:lnB w="4763"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val="1170505281"/>
                  </a:ext>
                </a:extLst>
              </a:tr>
              <a:tr h="387052">
                <a:tc>
                  <a:txBody>
                    <a:bodyPr/>
                    <a:lstStyle/>
                    <a:p>
                      <a:pPr>
                        <a:buNone/>
                      </a:pPr>
                      <a:r>
                        <a:rPr lang="en-US" sz="1400">
                          <a:solidFill>
                            <a:srgbClr val="202122"/>
                          </a:solidFill>
                          <a:effectLst/>
                        </a:rPr>
                        <a:t>0.7</a:t>
                      </a:r>
                    </a:p>
                  </a:txBody>
                  <a:tcPr marL="34789" marR="34789" marT="17394" marB="17394" anchor="ctr">
                    <a:lnL w="4763" cap="flat" cmpd="sng" algn="ctr">
                      <a:solidFill>
                        <a:srgbClr val="A2A9B1"/>
                      </a:solidFill>
                      <a:prstDash val="solid"/>
                      <a:round/>
                      <a:headEnd type="none" w="med" len="med"/>
                      <a:tailEnd type="none" w="med" len="med"/>
                    </a:lnL>
                    <a:lnR w="4763" cap="flat" cmpd="sng" algn="ctr">
                      <a:solidFill>
                        <a:srgbClr val="A2A9B1"/>
                      </a:solidFill>
                      <a:prstDash val="solid"/>
                      <a:round/>
                      <a:headEnd type="none" w="med" len="med"/>
                      <a:tailEnd type="none" w="med" len="med"/>
                    </a:lnR>
                    <a:lnT w="4763" cap="flat" cmpd="sng" algn="ctr">
                      <a:solidFill>
                        <a:srgbClr val="A2A9B1"/>
                      </a:solidFill>
                      <a:prstDash val="solid"/>
                      <a:round/>
                      <a:headEnd type="none" w="med" len="med"/>
                      <a:tailEnd type="none" w="med" len="med"/>
                    </a:lnT>
                    <a:lnB w="4763" cap="flat" cmpd="sng" algn="ctr">
                      <a:solidFill>
                        <a:srgbClr val="A2A9B1"/>
                      </a:solidFill>
                      <a:prstDash val="solid"/>
                      <a:round/>
                      <a:headEnd type="none" w="med" len="med"/>
                      <a:tailEnd type="none" w="med" len="med"/>
                    </a:lnB>
                    <a:solidFill>
                      <a:srgbClr val="FDB3AB"/>
                    </a:solidFill>
                  </a:tcPr>
                </a:tc>
                <a:tc>
                  <a:txBody>
                    <a:bodyPr/>
                    <a:lstStyle/>
                    <a:p>
                      <a:pPr>
                        <a:buNone/>
                      </a:pPr>
                      <a:r>
                        <a:rPr lang="en-US" sz="1400">
                          <a:effectLst/>
                        </a:rPr>
                        <a:t>2011-01-10</a:t>
                      </a:r>
                    </a:p>
                  </a:txBody>
                  <a:tcPr marL="34789" marR="34789" marT="17394" marB="17394" anchor="ctr">
                    <a:lnL w="4763" cap="flat" cmpd="sng" algn="ctr">
                      <a:solidFill>
                        <a:srgbClr val="A2A9B1"/>
                      </a:solidFill>
                      <a:prstDash val="solid"/>
                      <a:round/>
                      <a:headEnd type="none" w="med" len="med"/>
                      <a:tailEnd type="none" w="med" len="med"/>
                    </a:lnL>
                    <a:lnR w="4763" cap="flat" cmpd="sng" algn="ctr">
                      <a:solidFill>
                        <a:srgbClr val="A2A9B1"/>
                      </a:solidFill>
                      <a:prstDash val="solid"/>
                      <a:round/>
                      <a:headEnd type="none" w="med" len="med"/>
                      <a:tailEnd type="none" w="med" len="med"/>
                    </a:lnR>
                    <a:lnT w="4763" cap="flat" cmpd="sng" algn="ctr">
                      <a:solidFill>
                        <a:srgbClr val="A2A9B1"/>
                      </a:solidFill>
                      <a:prstDash val="solid"/>
                      <a:round/>
                      <a:headEnd type="none" w="med" len="med"/>
                      <a:tailEnd type="none" w="med" len="med"/>
                    </a:lnT>
                    <a:lnB w="4763" cap="flat" cmpd="sng" algn="ctr">
                      <a:solidFill>
                        <a:srgbClr val="A2A9B1"/>
                      </a:solidFill>
                      <a:prstDash val="solid"/>
                      <a:round/>
                      <a:headEnd type="none" w="med" len="med"/>
                      <a:tailEnd type="none" w="med" len="med"/>
                    </a:lnB>
                    <a:solidFill>
                      <a:srgbClr val="F8F9FA"/>
                    </a:solidFill>
                  </a:tcPr>
                </a:tc>
                <a:tc>
                  <a:txBody>
                    <a:bodyPr/>
                    <a:lstStyle/>
                    <a:p>
                      <a:pPr>
                        <a:buNone/>
                      </a:pPr>
                      <a:r>
                        <a:rPr lang="en-US" sz="1400">
                          <a:effectLst/>
                        </a:rPr>
                        <a:t>0.7.10</a:t>
                      </a:r>
                    </a:p>
                  </a:txBody>
                  <a:tcPr marL="34789" marR="34789" marT="17394" marB="17394" anchor="ctr">
                    <a:lnL w="4763" cap="flat" cmpd="sng" algn="ctr">
                      <a:solidFill>
                        <a:srgbClr val="A2A9B1"/>
                      </a:solidFill>
                      <a:prstDash val="solid"/>
                      <a:round/>
                      <a:headEnd type="none" w="med" len="med"/>
                      <a:tailEnd type="none" w="med" len="med"/>
                    </a:lnL>
                    <a:lnR w="4763" cap="flat" cmpd="sng" algn="ctr">
                      <a:solidFill>
                        <a:srgbClr val="A2A9B1"/>
                      </a:solidFill>
                      <a:prstDash val="solid"/>
                      <a:round/>
                      <a:headEnd type="none" w="med" len="med"/>
                      <a:tailEnd type="none" w="med" len="med"/>
                    </a:lnR>
                    <a:lnT w="4763" cap="flat" cmpd="sng" algn="ctr">
                      <a:solidFill>
                        <a:srgbClr val="A2A9B1"/>
                      </a:solidFill>
                      <a:prstDash val="solid"/>
                      <a:round/>
                      <a:headEnd type="none" w="med" len="med"/>
                      <a:tailEnd type="none" w="med" len="med"/>
                    </a:lnT>
                    <a:lnB w="4763" cap="flat" cmpd="sng" algn="ctr">
                      <a:solidFill>
                        <a:srgbClr val="A2A9B1"/>
                      </a:solidFill>
                      <a:prstDash val="solid"/>
                      <a:round/>
                      <a:headEnd type="none" w="med" len="med"/>
                      <a:tailEnd type="none" w="med" len="med"/>
                    </a:lnB>
                    <a:solidFill>
                      <a:srgbClr val="F8F9FA"/>
                    </a:solidFill>
                  </a:tcPr>
                </a:tc>
                <a:tc>
                  <a:txBody>
                    <a:bodyPr/>
                    <a:lstStyle/>
                    <a:p>
                      <a:pPr>
                        <a:buNone/>
                      </a:pPr>
                      <a:r>
                        <a:rPr lang="en-US" sz="1400">
                          <a:effectLst/>
                        </a:rPr>
                        <a:t>2011-10-31</a:t>
                      </a:r>
                    </a:p>
                  </a:txBody>
                  <a:tcPr marL="34789" marR="34789" marT="17394" marB="17394" anchor="ctr">
                    <a:lnL w="4763" cap="flat" cmpd="sng" algn="ctr">
                      <a:solidFill>
                        <a:srgbClr val="A2A9B1"/>
                      </a:solidFill>
                      <a:prstDash val="solid"/>
                      <a:round/>
                      <a:headEnd type="none" w="med" len="med"/>
                      <a:tailEnd type="none" w="med" len="med"/>
                    </a:lnL>
                    <a:lnR w="4763" cap="flat" cmpd="sng" algn="ctr">
                      <a:solidFill>
                        <a:srgbClr val="A2A9B1"/>
                      </a:solidFill>
                      <a:prstDash val="solid"/>
                      <a:round/>
                      <a:headEnd type="none" w="med" len="med"/>
                      <a:tailEnd type="none" w="med" len="med"/>
                    </a:lnR>
                    <a:lnT w="4763" cap="flat" cmpd="sng" algn="ctr">
                      <a:solidFill>
                        <a:srgbClr val="A2A9B1"/>
                      </a:solidFill>
                      <a:prstDash val="solid"/>
                      <a:round/>
                      <a:headEnd type="none" w="med" len="med"/>
                      <a:tailEnd type="none" w="med" len="med"/>
                    </a:lnT>
                    <a:lnB w="4763" cap="flat" cmpd="sng" algn="ctr">
                      <a:solidFill>
                        <a:srgbClr val="A2A9B1"/>
                      </a:solidFill>
                      <a:prstDash val="solid"/>
                      <a:round/>
                      <a:headEnd type="none" w="med" len="med"/>
                      <a:tailEnd type="none" w="med" len="med"/>
                    </a:lnB>
                    <a:solidFill>
                      <a:srgbClr val="F8F9FA"/>
                    </a:solidFill>
                  </a:tcPr>
                </a:tc>
                <a:tc>
                  <a:txBody>
                    <a:bodyPr/>
                    <a:lstStyle/>
                    <a:p>
                      <a:pPr>
                        <a:buNone/>
                      </a:pPr>
                      <a:r>
                        <a:rPr lang="en-US" sz="1400">
                          <a:effectLst/>
                        </a:rPr>
                        <a:t>No longer maintained</a:t>
                      </a:r>
                    </a:p>
                  </a:txBody>
                  <a:tcPr marL="34789" marR="34789" marT="17394" marB="17394" anchor="ctr">
                    <a:lnL w="4763" cap="flat" cmpd="sng" algn="ctr">
                      <a:solidFill>
                        <a:srgbClr val="A2A9B1"/>
                      </a:solidFill>
                      <a:prstDash val="solid"/>
                      <a:round/>
                      <a:headEnd type="none" w="med" len="med"/>
                      <a:tailEnd type="none" w="med" len="med"/>
                    </a:lnL>
                    <a:lnR w="4763" cap="flat" cmpd="sng" algn="ctr">
                      <a:solidFill>
                        <a:srgbClr val="A2A9B1"/>
                      </a:solidFill>
                      <a:prstDash val="solid"/>
                      <a:round/>
                      <a:headEnd type="none" w="med" len="med"/>
                      <a:tailEnd type="none" w="med" len="med"/>
                    </a:lnR>
                    <a:lnT w="4763" cap="flat" cmpd="sng" algn="ctr">
                      <a:solidFill>
                        <a:srgbClr val="A2A9B1"/>
                      </a:solidFill>
                      <a:prstDash val="solid"/>
                      <a:round/>
                      <a:headEnd type="none" w="med" len="med"/>
                      <a:tailEnd type="none" w="med" len="med"/>
                    </a:lnT>
                    <a:lnB w="4763"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val="1222798049"/>
                  </a:ext>
                </a:extLst>
              </a:tr>
              <a:tr h="387052">
                <a:tc>
                  <a:txBody>
                    <a:bodyPr/>
                    <a:lstStyle/>
                    <a:p>
                      <a:pPr>
                        <a:buNone/>
                      </a:pPr>
                      <a:r>
                        <a:rPr lang="en-US" sz="1400">
                          <a:solidFill>
                            <a:srgbClr val="202122"/>
                          </a:solidFill>
                          <a:effectLst/>
                        </a:rPr>
                        <a:t>0.8</a:t>
                      </a:r>
                    </a:p>
                  </a:txBody>
                  <a:tcPr marL="34789" marR="34789" marT="17394" marB="17394" anchor="ctr">
                    <a:lnL w="4763" cap="flat" cmpd="sng" algn="ctr">
                      <a:solidFill>
                        <a:srgbClr val="A2A9B1"/>
                      </a:solidFill>
                      <a:prstDash val="solid"/>
                      <a:round/>
                      <a:headEnd type="none" w="med" len="med"/>
                      <a:tailEnd type="none" w="med" len="med"/>
                    </a:lnL>
                    <a:lnR w="4763" cap="flat" cmpd="sng" algn="ctr">
                      <a:solidFill>
                        <a:srgbClr val="A2A9B1"/>
                      </a:solidFill>
                      <a:prstDash val="solid"/>
                      <a:round/>
                      <a:headEnd type="none" w="med" len="med"/>
                      <a:tailEnd type="none" w="med" len="med"/>
                    </a:lnR>
                    <a:lnT w="4763" cap="flat" cmpd="sng" algn="ctr">
                      <a:solidFill>
                        <a:srgbClr val="A2A9B1"/>
                      </a:solidFill>
                      <a:prstDash val="solid"/>
                      <a:round/>
                      <a:headEnd type="none" w="med" len="med"/>
                      <a:tailEnd type="none" w="med" len="med"/>
                    </a:lnT>
                    <a:lnB w="4763" cap="flat" cmpd="sng" algn="ctr">
                      <a:solidFill>
                        <a:srgbClr val="A2A9B1"/>
                      </a:solidFill>
                      <a:prstDash val="solid"/>
                      <a:round/>
                      <a:headEnd type="none" w="med" len="med"/>
                      <a:tailEnd type="none" w="med" len="med"/>
                    </a:lnB>
                    <a:solidFill>
                      <a:srgbClr val="FDB3AB"/>
                    </a:solidFill>
                  </a:tcPr>
                </a:tc>
                <a:tc>
                  <a:txBody>
                    <a:bodyPr/>
                    <a:lstStyle/>
                    <a:p>
                      <a:pPr>
                        <a:buNone/>
                      </a:pPr>
                      <a:r>
                        <a:rPr lang="en-US" sz="1400">
                          <a:effectLst/>
                        </a:rPr>
                        <a:t>2011-06-03</a:t>
                      </a:r>
                    </a:p>
                  </a:txBody>
                  <a:tcPr marL="34789" marR="34789" marT="17394" marB="17394" anchor="ctr">
                    <a:lnL w="4763" cap="flat" cmpd="sng" algn="ctr">
                      <a:solidFill>
                        <a:srgbClr val="A2A9B1"/>
                      </a:solidFill>
                      <a:prstDash val="solid"/>
                      <a:round/>
                      <a:headEnd type="none" w="med" len="med"/>
                      <a:tailEnd type="none" w="med" len="med"/>
                    </a:lnL>
                    <a:lnR w="4763" cap="flat" cmpd="sng" algn="ctr">
                      <a:solidFill>
                        <a:srgbClr val="A2A9B1"/>
                      </a:solidFill>
                      <a:prstDash val="solid"/>
                      <a:round/>
                      <a:headEnd type="none" w="med" len="med"/>
                      <a:tailEnd type="none" w="med" len="med"/>
                    </a:lnR>
                    <a:lnT w="4763" cap="flat" cmpd="sng" algn="ctr">
                      <a:solidFill>
                        <a:srgbClr val="A2A9B1"/>
                      </a:solidFill>
                      <a:prstDash val="solid"/>
                      <a:round/>
                      <a:headEnd type="none" w="med" len="med"/>
                      <a:tailEnd type="none" w="med" len="med"/>
                    </a:lnT>
                    <a:lnB w="4763" cap="flat" cmpd="sng" algn="ctr">
                      <a:solidFill>
                        <a:srgbClr val="A2A9B1"/>
                      </a:solidFill>
                      <a:prstDash val="solid"/>
                      <a:round/>
                      <a:headEnd type="none" w="med" len="med"/>
                      <a:tailEnd type="none" w="med" len="med"/>
                    </a:lnB>
                    <a:solidFill>
                      <a:srgbClr val="F8F9FA"/>
                    </a:solidFill>
                  </a:tcPr>
                </a:tc>
                <a:tc>
                  <a:txBody>
                    <a:bodyPr/>
                    <a:lstStyle/>
                    <a:p>
                      <a:pPr>
                        <a:buNone/>
                      </a:pPr>
                      <a:r>
                        <a:rPr lang="en-US" sz="1400">
                          <a:effectLst/>
                        </a:rPr>
                        <a:t>0.8.10</a:t>
                      </a:r>
                    </a:p>
                  </a:txBody>
                  <a:tcPr marL="34789" marR="34789" marT="17394" marB="17394" anchor="ctr">
                    <a:lnL w="4763" cap="flat" cmpd="sng" algn="ctr">
                      <a:solidFill>
                        <a:srgbClr val="A2A9B1"/>
                      </a:solidFill>
                      <a:prstDash val="solid"/>
                      <a:round/>
                      <a:headEnd type="none" w="med" len="med"/>
                      <a:tailEnd type="none" w="med" len="med"/>
                    </a:lnL>
                    <a:lnR w="4763" cap="flat" cmpd="sng" algn="ctr">
                      <a:solidFill>
                        <a:srgbClr val="A2A9B1"/>
                      </a:solidFill>
                      <a:prstDash val="solid"/>
                      <a:round/>
                      <a:headEnd type="none" w="med" len="med"/>
                      <a:tailEnd type="none" w="med" len="med"/>
                    </a:lnR>
                    <a:lnT w="4763" cap="flat" cmpd="sng" algn="ctr">
                      <a:solidFill>
                        <a:srgbClr val="A2A9B1"/>
                      </a:solidFill>
                      <a:prstDash val="solid"/>
                      <a:round/>
                      <a:headEnd type="none" w="med" len="med"/>
                      <a:tailEnd type="none" w="med" len="med"/>
                    </a:lnT>
                    <a:lnB w="4763" cap="flat" cmpd="sng" algn="ctr">
                      <a:solidFill>
                        <a:srgbClr val="A2A9B1"/>
                      </a:solidFill>
                      <a:prstDash val="solid"/>
                      <a:round/>
                      <a:headEnd type="none" w="med" len="med"/>
                      <a:tailEnd type="none" w="med" len="med"/>
                    </a:lnB>
                    <a:solidFill>
                      <a:srgbClr val="F8F9FA"/>
                    </a:solidFill>
                  </a:tcPr>
                </a:tc>
                <a:tc>
                  <a:txBody>
                    <a:bodyPr/>
                    <a:lstStyle/>
                    <a:p>
                      <a:pPr>
                        <a:buNone/>
                      </a:pPr>
                      <a:r>
                        <a:rPr lang="en-US" sz="1400">
                          <a:effectLst/>
                        </a:rPr>
                        <a:t>2012-02-13</a:t>
                      </a:r>
                    </a:p>
                  </a:txBody>
                  <a:tcPr marL="34789" marR="34789" marT="17394" marB="17394" anchor="ctr">
                    <a:lnL w="4763" cap="flat" cmpd="sng" algn="ctr">
                      <a:solidFill>
                        <a:srgbClr val="A2A9B1"/>
                      </a:solidFill>
                      <a:prstDash val="solid"/>
                      <a:round/>
                      <a:headEnd type="none" w="med" len="med"/>
                      <a:tailEnd type="none" w="med" len="med"/>
                    </a:lnL>
                    <a:lnR w="4763" cap="flat" cmpd="sng" algn="ctr">
                      <a:solidFill>
                        <a:srgbClr val="A2A9B1"/>
                      </a:solidFill>
                      <a:prstDash val="solid"/>
                      <a:round/>
                      <a:headEnd type="none" w="med" len="med"/>
                      <a:tailEnd type="none" w="med" len="med"/>
                    </a:lnR>
                    <a:lnT w="4763" cap="flat" cmpd="sng" algn="ctr">
                      <a:solidFill>
                        <a:srgbClr val="A2A9B1"/>
                      </a:solidFill>
                      <a:prstDash val="solid"/>
                      <a:round/>
                      <a:headEnd type="none" w="med" len="med"/>
                      <a:tailEnd type="none" w="med" len="med"/>
                    </a:lnT>
                    <a:lnB w="4763" cap="flat" cmpd="sng" algn="ctr">
                      <a:solidFill>
                        <a:srgbClr val="A2A9B1"/>
                      </a:solidFill>
                      <a:prstDash val="solid"/>
                      <a:round/>
                      <a:headEnd type="none" w="med" len="med"/>
                      <a:tailEnd type="none" w="med" len="med"/>
                    </a:lnB>
                    <a:solidFill>
                      <a:srgbClr val="F8F9FA"/>
                    </a:solidFill>
                  </a:tcPr>
                </a:tc>
                <a:tc>
                  <a:txBody>
                    <a:bodyPr/>
                    <a:lstStyle/>
                    <a:p>
                      <a:pPr>
                        <a:buNone/>
                      </a:pPr>
                      <a:r>
                        <a:rPr lang="en-US" sz="1400">
                          <a:effectLst/>
                        </a:rPr>
                        <a:t>No longer maintained</a:t>
                      </a:r>
                    </a:p>
                  </a:txBody>
                  <a:tcPr marL="34789" marR="34789" marT="17394" marB="17394" anchor="ctr">
                    <a:lnL w="4763" cap="flat" cmpd="sng" algn="ctr">
                      <a:solidFill>
                        <a:srgbClr val="A2A9B1"/>
                      </a:solidFill>
                      <a:prstDash val="solid"/>
                      <a:round/>
                      <a:headEnd type="none" w="med" len="med"/>
                      <a:tailEnd type="none" w="med" len="med"/>
                    </a:lnL>
                    <a:lnR w="4763" cap="flat" cmpd="sng" algn="ctr">
                      <a:solidFill>
                        <a:srgbClr val="A2A9B1"/>
                      </a:solidFill>
                      <a:prstDash val="solid"/>
                      <a:round/>
                      <a:headEnd type="none" w="med" len="med"/>
                      <a:tailEnd type="none" w="med" len="med"/>
                    </a:lnR>
                    <a:lnT w="4763" cap="flat" cmpd="sng" algn="ctr">
                      <a:solidFill>
                        <a:srgbClr val="A2A9B1"/>
                      </a:solidFill>
                      <a:prstDash val="solid"/>
                      <a:round/>
                      <a:headEnd type="none" w="med" len="med"/>
                      <a:tailEnd type="none" w="med" len="med"/>
                    </a:lnT>
                    <a:lnB w="4763"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val="1039465422"/>
                  </a:ext>
                </a:extLst>
              </a:tr>
              <a:tr h="387052">
                <a:tc>
                  <a:txBody>
                    <a:bodyPr/>
                    <a:lstStyle/>
                    <a:p>
                      <a:pPr>
                        <a:buNone/>
                      </a:pPr>
                      <a:r>
                        <a:rPr lang="en-US" sz="1400">
                          <a:solidFill>
                            <a:srgbClr val="202122"/>
                          </a:solidFill>
                          <a:effectLst/>
                        </a:rPr>
                        <a:t>1.0</a:t>
                      </a:r>
                    </a:p>
                  </a:txBody>
                  <a:tcPr marL="34789" marR="34789" marT="17394" marB="17394" anchor="ctr">
                    <a:lnL w="4763" cap="flat" cmpd="sng" algn="ctr">
                      <a:solidFill>
                        <a:srgbClr val="A2A9B1"/>
                      </a:solidFill>
                      <a:prstDash val="solid"/>
                      <a:round/>
                      <a:headEnd type="none" w="med" len="med"/>
                      <a:tailEnd type="none" w="med" len="med"/>
                    </a:lnL>
                    <a:lnR w="4763" cap="flat" cmpd="sng" algn="ctr">
                      <a:solidFill>
                        <a:srgbClr val="A2A9B1"/>
                      </a:solidFill>
                      <a:prstDash val="solid"/>
                      <a:round/>
                      <a:headEnd type="none" w="med" len="med"/>
                      <a:tailEnd type="none" w="med" len="med"/>
                    </a:lnR>
                    <a:lnT w="4763" cap="flat" cmpd="sng" algn="ctr">
                      <a:solidFill>
                        <a:srgbClr val="A2A9B1"/>
                      </a:solidFill>
                      <a:prstDash val="solid"/>
                      <a:round/>
                      <a:headEnd type="none" w="med" len="med"/>
                      <a:tailEnd type="none" w="med" len="med"/>
                    </a:lnT>
                    <a:lnB w="4763" cap="flat" cmpd="sng" algn="ctr">
                      <a:solidFill>
                        <a:srgbClr val="A2A9B1"/>
                      </a:solidFill>
                      <a:prstDash val="solid"/>
                      <a:round/>
                      <a:headEnd type="none" w="med" len="med"/>
                      <a:tailEnd type="none" w="med" len="med"/>
                    </a:lnB>
                    <a:solidFill>
                      <a:srgbClr val="FDB3AB"/>
                    </a:solidFill>
                  </a:tcPr>
                </a:tc>
                <a:tc>
                  <a:txBody>
                    <a:bodyPr/>
                    <a:lstStyle/>
                    <a:p>
                      <a:pPr>
                        <a:buNone/>
                      </a:pPr>
                      <a:r>
                        <a:rPr lang="en-US" sz="1400" dirty="0">
                          <a:effectLst/>
                        </a:rPr>
                        <a:t>2011-10-18</a:t>
                      </a:r>
                    </a:p>
                  </a:txBody>
                  <a:tcPr marL="34789" marR="34789" marT="17394" marB="17394" anchor="ctr">
                    <a:lnL w="4763" cap="flat" cmpd="sng" algn="ctr">
                      <a:solidFill>
                        <a:srgbClr val="A2A9B1"/>
                      </a:solidFill>
                      <a:prstDash val="solid"/>
                      <a:round/>
                      <a:headEnd type="none" w="med" len="med"/>
                      <a:tailEnd type="none" w="med" len="med"/>
                    </a:lnL>
                    <a:lnR w="4763" cap="flat" cmpd="sng" algn="ctr">
                      <a:solidFill>
                        <a:srgbClr val="A2A9B1"/>
                      </a:solidFill>
                      <a:prstDash val="solid"/>
                      <a:round/>
                      <a:headEnd type="none" w="med" len="med"/>
                      <a:tailEnd type="none" w="med" len="med"/>
                    </a:lnR>
                    <a:lnT w="4763" cap="flat" cmpd="sng" algn="ctr">
                      <a:solidFill>
                        <a:srgbClr val="A2A9B1"/>
                      </a:solidFill>
                      <a:prstDash val="solid"/>
                      <a:round/>
                      <a:headEnd type="none" w="med" len="med"/>
                      <a:tailEnd type="none" w="med" len="med"/>
                    </a:lnT>
                    <a:lnB w="4763" cap="flat" cmpd="sng" algn="ctr">
                      <a:solidFill>
                        <a:srgbClr val="A2A9B1"/>
                      </a:solidFill>
                      <a:prstDash val="solid"/>
                      <a:round/>
                      <a:headEnd type="none" w="med" len="med"/>
                      <a:tailEnd type="none" w="med" len="med"/>
                    </a:lnB>
                    <a:solidFill>
                      <a:srgbClr val="F8F9FA"/>
                    </a:solidFill>
                  </a:tcPr>
                </a:tc>
                <a:tc>
                  <a:txBody>
                    <a:bodyPr/>
                    <a:lstStyle/>
                    <a:p>
                      <a:pPr>
                        <a:buNone/>
                      </a:pPr>
                      <a:r>
                        <a:rPr lang="en-US" sz="1400">
                          <a:effectLst/>
                        </a:rPr>
                        <a:t>1.0.12</a:t>
                      </a:r>
                    </a:p>
                  </a:txBody>
                  <a:tcPr marL="34789" marR="34789" marT="17394" marB="17394" anchor="ctr">
                    <a:lnL w="4763" cap="flat" cmpd="sng" algn="ctr">
                      <a:solidFill>
                        <a:srgbClr val="A2A9B1"/>
                      </a:solidFill>
                      <a:prstDash val="solid"/>
                      <a:round/>
                      <a:headEnd type="none" w="med" len="med"/>
                      <a:tailEnd type="none" w="med" len="med"/>
                    </a:lnL>
                    <a:lnR w="4763" cap="flat" cmpd="sng" algn="ctr">
                      <a:solidFill>
                        <a:srgbClr val="A2A9B1"/>
                      </a:solidFill>
                      <a:prstDash val="solid"/>
                      <a:round/>
                      <a:headEnd type="none" w="med" len="med"/>
                      <a:tailEnd type="none" w="med" len="med"/>
                    </a:lnR>
                    <a:lnT w="4763" cap="flat" cmpd="sng" algn="ctr">
                      <a:solidFill>
                        <a:srgbClr val="A2A9B1"/>
                      </a:solidFill>
                      <a:prstDash val="solid"/>
                      <a:round/>
                      <a:headEnd type="none" w="med" len="med"/>
                      <a:tailEnd type="none" w="med" len="med"/>
                    </a:lnT>
                    <a:lnB w="4763" cap="flat" cmpd="sng" algn="ctr">
                      <a:solidFill>
                        <a:srgbClr val="A2A9B1"/>
                      </a:solidFill>
                      <a:prstDash val="solid"/>
                      <a:round/>
                      <a:headEnd type="none" w="med" len="med"/>
                      <a:tailEnd type="none" w="med" len="med"/>
                    </a:lnB>
                    <a:solidFill>
                      <a:srgbClr val="F8F9FA"/>
                    </a:solidFill>
                  </a:tcPr>
                </a:tc>
                <a:tc>
                  <a:txBody>
                    <a:bodyPr/>
                    <a:lstStyle/>
                    <a:p>
                      <a:pPr>
                        <a:buNone/>
                      </a:pPr>
                      <a:r>
                        <a:rPr lang="en-US" sz="1400">
                          <a:effectLst/>
                        </a:rPr>
                        <a:t>2012-10-04</a:t>
                      </a:r>
                    </a:p>
                  </a:txBody>
                  <a:tcPr marL="34789" marR="34789" marT="17394" marB="17394" anchor="ctr">
                    <a:lnL w="4763" cap="flat" cmpd="sng" algn="ctr">
                      <a:solidFill>
                        <a:srgbClr val="A2A9B1"/>
                      </a:solidFill>
                      <a:prstDash val="solid"/>
                      <a:round/>
                      <a:headEnd type="none" w="med" len="med"/>
                      <a:tailEnd type="none" w="med" len="med"/>
                    </a:lnL>
                    <a:lnR w="4763" cap="flat" cmpd="sng" algn="ctr">
                      <a:solidFill>
                        <a:srgbClr val="A2A9B1"/>
                      </a:solidFill>
                      <a:prstDash val="solid"/>
                      <a:round/>
                      <a:headEnd type="none" w="med" len="med"/>
                      <a:tailEnd type="none" w="med" len="med"/>
                    </a:lnR>
                    <a:lnT w="4763" cap="flat" cmpd="sng" algn="ctr">
                      <a:solidFill>
                        <a:srgbClr val="A2A9B1"/>
                      </a:solidFill>
                      <a:prstDash val="solid"/>
                      <a:round/>
                      <a:headEnd type="none" w="med" len="med"/>
                      <a:tailEnd type="none" w="med" len="med"/>
                    </a:lnT>
                    <a:lnB w="4763" cap="flat" cmpd="sng" algn="ctr">
                      <a:solidFill>
                        <a:srgbClr val="A2A9B1"/>
                      </a:solidFill>
                      <a:prstDash val="solid"/>
                      <a:round/>
                      <a:headEnd type="none" w="med" len="med"/>
                      <a:tailEnd type="none" w="med" len="med"/>
                    </a:lnB>
                    <a:solidFill>
                      <a:srgbClr val="F8F9FA"/>
                    </a:solidFill>
                  </a:tcPr>
                </a:tc>
                <a:tc>
                  <a:txBody>
                    <a:bodyPr/>
                    <a:lstStyle/>
                    <a:p>
                      <a:pPr>
                        <a:buNone/>
                      </a:pPr>
                      <a:r>
                        <a:rPr lang="en-US" sz="1400">
                          <a:effectLst/>
                        </a:rPr>
                        <a:t>No longer maintained</a:t>
                      </a:r>
                    </a:p>
                  </a:txBody>
                  <a:tcPr marL="34789" marR="34789" marT="17394" marB="17394" anchor="ctr">
                    <a:lnL w="4763" cap="flat" cmpd="sng" algn="ctr">
                      <a:solidFill>
                        <a:srgbClr val="A2A9B1"/>
                      </a:solidFill>
                      <a:prstDash val="solid"/>
                      <a:round/>
                      <a:headEnd type="none" w="med" len="med"/>
                      <a:tailEnd type="none" w="med" len="med"/>
                    </a:lnL>
                    <a:lnR w="4763" cap="flat" cmpd="sng" algn="ctr">
                      <a:solidFill>
                        <a:srgbClr val="A2A9B1"/>
                      </a:solidFill>
                      <a:prstDash val="solid"/>
                      <a:round/>
                      <a:headEnd type="none" w="med" len="med"/>
                      <a:tailEnd type="none" w="med" len="med"/>
                    </a:lnR>
                    <a:lnT w="4763" cap="flat" cmpd="sng" algn="ctr">
                      <a:solidFill>
                        <a:srgbClr val="A2A9B1"/>
                      </a:solidFill>
                      <a:prstDash val="solid"/>
                      <a:round/>
                      <a:headEnd type="none" w="med" len="med"/>
                      <a:tailEnd type="none" w="med" len="med"/>
                    </a:lnT>
                    <a:lnB w="4763"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val="1509095576"/>
                  </a:ext>
                </a:extLst>
              </a:tr>
              <a:tr h="387052">
                <a:tc>
                  <a:txBody>
                    <a:bodyPr/>
                    <a:lstStyle/>
                    <a:p>
                      <a:pPr>
                        <a:buNone/>
                      </a:pPr>
                      <a:r>
                        <a:rPr lang="en-US" sz="1400">
                          <a:solidFill>
                            <a:srgbClr val="202122"/>
                          </a:solidFill>
                          <a:effectLst/>
                        </a:rPr>
                        <a:t>1.1</a:t>
                      </a:r>
                    </a:p>
                  </a:txBody>
                  <a:tcPr marL="34789" marR="34789" marT="17394" marB="17394" anchor="ctr">
                    <a:lnL w="4763" cap="flat" cmpd="sng" algn="ctr">
                      <a:solidFill>
                        <a:srgbClr val="A2A9B1"/>
                      </a:solidFill>
                      <a:prstDash val="solid"/>
                      <a:round/>
                      <a:headEnd type="none" w="med" len="med"/>
                      <a:tailEnd type="none" w="med" len="med"/>
                    </a:lnL>
                    <a:lnR w="4763" cap="flat" cmpd="sng" algn="ctr">
                      <a:solidFill>
                        <a:srgbClr val="A2A9B1"/>
                      </a:solidFill>
                      <a:prstDash val="solid"/>
                      <a:round/>
                      <a:headEnd type="none" w="med" len="med"/>
                      <a:tailEnd type="none" w="med" len="med"/>
                    </a:lnR>
                    <a:lnT w="4763" cap="flat" cmpd="sng" algn="ctr">
                      <a:solidFill>
                        <a:srgbClr val="A2A9B1"/>
                      </a:solidFill>
                      <a:prstDash val="solid"/>
                      <a:round/>
                      <a:headEnd type="none" w="med" len="med"/>
                      <a:tailEnd type="none" w="med" len="med"/>
                    </a:lnT>
                    <a:lnB w="4763" cap="flat" cmpd="sng" algn="ctr">
                      <a:solidFill>
                        <a:srgbClr val="A2A9B1"/>
                      </a:solidFill>
                      <a:prstDash val="solid"/>
                      <a:round/>
                      <a:headEnd type="none" w="med" len="med"/>
                      <a:tailEnd type="none" w="med" len="med"/>
                    </a:lnB>
                    <a:solidFill>
                      <a:srgbClr val="FDB3AB"/>
                    </a:solidFill>
                  </a:tcPr>
                </a:tc>
                <a:tc>
                  <a:txBody>
                    <a:bodyPr/>
                    <a:lstStyle/>
                    <a:p>
                      <a:pPr>
                        <a:buNone/>
                      </a:pPr>
                      <a:r>
                        <a:rPr lang="en-US" sz="1400">
                          <a:effectLst/>
                        </a:rPr>
                        <a:t>2012-04-24</a:t>
                      </a:r>
                    </a:p>
                  </a:txBody>
                  <a:tcPr marL="34789" marR="34789" marT="17394" marB="17394" anchor="ctr">
                    <a:lnL w="4763" cap="flat" cmpd="sng" algn="ctr">
                      <a:solidFill>
                        <a:srgbClr val="A2A9B1"/>
                      </a:solidFill>
                      <a:prstDash val="solid"/>
                      <a:round/>
                      <a:headEnd type="none" w="med" len="med"/>
                      <a:tailEnd type="none" w="med" len="med"/>
                    </a:lnL>
                    <a:lnR w="4763" cap="flat" cmpd="sng" algn="ctr">
                      <a:solidFill>
                        <a:srgbClr val="A2A9B1"/>
                      </a:solidFill>
                      <a:prstDash val="solid"/>
                      <a:round/>
                      <a:headEnd type="none" w="med" len="med"/>
                      <a:tailEnd type="none" w="med" len="med"/>
                    </a:lnR>
                    <a:lnT w="4763" cap="flat" cmpd="sng" algn="ctr">
                      <a:solidFill>
                        <a:srgbClr val="A2A9B1"/>
                      </a:solidFill>
                      <a:prstDash val="solid"/>
                      <a:round/>
                      <a:headEnd type="none" w="med" len="med"/>
                      <a:tailEnd type="none" w="med" len="med"/>
                    </a:lnT>
                    <a:lnB w="4763" cap="flat" cmpd="sng" algn="ctr">
                      <a:solidFill>
                        <a:srgbClr val="A2A9B1"/>
                      </a:solidFill>
                      <a:prstDash val="solid"/>
                      <a:round/>
                      <a:headEnd type="none" w="med" len="med"/>
                      <a:tailEnd type="none" w="med" len="med"/>
                    </a:lnB>
                    <a:solidFill>
                      <a:srgbClr val="F8F9FA"/>
                    </a:solidFill>
                  </a:tcPr>
                </a:tc>
                <a:tc>
                  <a:txBody>
                    <a:bodyPr/>
                    <a:lstStyle/>
                    <a:p>
                      <a:pPr>
                        <a:buNone/>
                      </a:pPr>
                      <a:r>
                        <a:rPr lang="en-US" sz="1400">
                          <a:effectLst/>
                        </a:rPr>
                        <a:t>1.1.12</a:t>
                      </a:r>
                    </a:p>
                  </a:txBody>
                  <a:tcPr marL="34789" marR="34789" marT="17394" marB="17394" anchor="ctr">
                    <a:lnL w="4763" cap="flat" cmpd="sng" algn="ctr">
                      <a:solidFill>
                        <a:srgbClr val="A2A9B1"/>
                      </a:solidFill>
                      <a:prstDash val="solid"/>
                      <a:round/>
                      <a:headEnd type="none" w="med" len="med"/>
                      <a:tailEnd type="none" w="med" len="med"/>
                    </a:lnL>
                    <a:lnR w="4763" cap="flat" cmpd="sng" algn="ctr">
                      <a:solidFill>
                        <a:srgbClr val="A2A9B1"/>
                      </a:solidFill>
                      <a:prstDash val="solid"/>
                      <a:round/>
                      <a:headEnd type="none" w="med" len="med"/>
                      <a:tailEnd type="none" w="med" len="med"/>
                    </a:lnR>
                    <a:lnT w="4763" cap="flat" cmpd="sng" algn="ctr">
                      <a:solidFill>
                        <a:srgbClr val="A2A9B1"/>
                      </a:solidFill>
                      <a:prstDash val="solid"/>
                      <a:round/>
                      <a:headEnd type="none" w="med" len="med"/>
                      <a:tailEnd type="none" w="med" len="med"/>
                    </a:lnT>
                    <a:lnB w="4763" cap="flat" cmpd="sng" algn="ctr">
                      <a:solidFill>
                        <a:srgbClr val="A2A9B1"/>
                      </a:solidFill>
                      <a:prstDash val="solid"/>
                      <a:round/>
                      <a:headEnd type="none" w="med" len="med"/>
                      <a:tailEnd type="none" w="med" len="med"/>
                    </a:lnB>
                    <a:solidFill>
                      <a:srgbClr val="F8F9FA"/>
                    </a:solidFill>
                  </a:tcPr>
                </a:tc>
                <a:tc>
                  <a:txBody>
                    <a:bodyPr/>
                    <a:lstStyle/>
                    <a:p>
                      <a:pPr>
                        <a:buNone/>
                      </a:pPr>
                      <a:r>
                        <a:rPr lang="en-US" sz="1400" dirty="0">
                          <a:effectLst/>
                        </a:rPr>
                        <a:t>2013-05-27</a:t>
                      </a:r>
                    </a:p>
                  </a:txBody>
                  <a:tcPr marL="34789" marR="34789" marT="17394" marB="17394" anchor="ctr">
                    <a:lnL w="4763" cap="flat" cmpd="sng" algn="ctr">
                      <a:solidFill>
                        <a:srgbClr val="A2A9B1"/>
                      </a:solidFill>
                      <a:prstDash val="solid"/>
                      <a:round/>
                      <a:headEnd type="none" w="med" len="med"/>
                      <a:tailEnd type="none" w="med" len="med"/>
                    </a:lnL>
                    <a:lnR w="4763" cap="flat" cmpd="sng" algn="ctr">
                      <a:solidFill>
                        <a:srgbClr val="A2A9B1"/>
                      </a:solidFill>
                      <a:prstDash val="solid"/>
                      <a:round/>
                      <a:headEnd type="none" w="med" len="med"/>
                      <a:tailEnd type="none" w="med" len="med"/>
                    </a:lnR>
                    <a:lnT w="4763" cap="flat" cmpd="sng" algn="ctr">
                      <a:solidFill>
                        <a:srgbClr val="A2A9B1"/>
                      </a:solidFill>
                      <a:prstDash val="solid"/>
                      <a:round/>
                      <a:headEnd type="none" w="med" len="med"/>
                      <a:tailEnd type="none" w="med" len="med"/>
                    </a:lnT>
                    <a:lnB w="4763" cap="flat" cmpd="sng" algn="ctr">
                      <a:solidFill>
                        <a:srgbClr val="A2A9B1"/>
                      </a:solidFill>
                      <a:prstDash val="solid"/>
                      <a:round/>
                      <a:headEnd type="none" w="med" len="med"/>
                      <a:tailEnd type="none" w="med" len="med"/>
                    </a:lnB>
                    <a:solidFill>
                      <a:srgbClr val="F8F9FA"/>
                    </a:solidFill>
                  </a:tcPr>
                </a:tc>
                <a:tc>
                  <a:txBody>
                    <a:bodyPr/>
                    <a:lstStyle/>
                    <a:p>
                      <a:pPr>
                        <a:buNone/>
                      </a:pPr>
                      <a:r>
                        <a:rPr lang="en-US" sz="1400">
                          <a:effectLst/>
                        </a:rPr>
                        <a:t>No longer maintained</a:t>
                      </a:r>
                    </a:p>
                  </a:txBody>
                  <a:tcPr marL="34789" marR="34789" marT="17394" marB="17394" anchor="ctr">
                    <a:lnL w="4763" cap="flat" cmpd="sng" algn="ctr">
                      <a:solidFill>
                        <a:srgbClr val="A2A9B1"/>
                      </a:solidFill>
                      <a:prstDash val="solid"/>
                      <a:round/>
                      <a:headEnd type="none" w="med" len="med"/>
                      <a:tailEnd type="none" w="med" len="med"/>
                    </a:lnL>
                    <a:lnR w="4763" cap="flat" cmpd="sng" algn="ctr">
                      <a:solidFill>
                        <a:srgbClr val="A2A9B1"/>
                      </a:solidFill>
                      <a:prstDash val="solid"/>
                      <a:round/>
                      <a:headEnd type="none" w="med" len="med"/>
                      <a:tailEnd type="none" w="med" len="med"/>
                    </a:lnR>
                    <a:lnT w="4763" cap="flat" cmpd="sng" algn="ctr">
                      <a:solidFill>
                        <a:srgbClr val="A2A9B1"/>
                      </a:solidFill>
                      <a:prstDash val="solid"/>
                      <a:round/>
                      <a:headEnd type="none" w="med" len="med"/>
                      <a:tailEnd type="none" w="med" len="med"/>
                    </a:lnT>
                    <a:lnB w="4763"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val="292384737"/>
                  </a:ext>
                </a:extLst>
              </a:tr>
              <a:tr h="387052">
                <a:tc>
                  <a:txBody>
                    <a:bodyPr/>
                    <a:lstStyle/>
                    <a:p>
                      <a:pPr>
                        <a:buNone/>
                      </a:pPr>
                      <a:r>
                        <a:rPr lang="en-US" sz="1400">
                          <a:solidFill>
                            <a:srgbClr val="202122"/>
                          </a:solidFill>
                          <a:effectLst/>
                        </a:rPr>
                        <a:t>1.2</a:t>
                      </a:r>
                    </a:p>
                  </a:txBody>
                  <a:tcPr marL="34789" marR="34789" marT="17394" marB="17394" anchor="ctr">
                    <a:lnL w="4763" cap="flat" cmpd="sng" algn="ctr">
                      <a:solidFill>
                        <a:srgbClr val="A2A9B1"/>
                      </a:solidFill>
                      <a:prstDash val="solid"/>
                      <a:round/>
                      <a:headEnd type="none" w="med" len="med"/>
                      <a:tailEnd type="none" w="med" len="med"/>
                    </a:lnL>
                    <a:lnR w="4763" cap="flat" cmpd="sng" algn="ctr">
                      <a:solidFill>
                        <a:srgbClr val="A2A9B1"/>
                      </a:solidFill>
                      <a:prstDash val="solid"/>
                      <a:round/>
                      <a:headEnd type="none" w="med" len="med"/>
                      <a:tailEnd type="none" w="med" len="med"/>
                    </a:lnR>
                    <a:lnT w="4763" cap="flat" cmpd="sng" algn="ctr">
                      <a:solidFill>
                        <a:srgbClr val="A2A9B1"/>
                      </a:solidFill>
                      <a:prstDash val="solid"/>
                      <a:round/>
                      <a:headEnd type="none" w="med" len="med"/>
                      <a:tailEnd type="none" w="med" len="med"/>
                    </a:lnT>
                    <a:lnB w="4763" cap="flat" cmpd="sng" algn="ctr">
                      <a:solidFill>
                        <a:srgbClr val="A2A9B1"/>
                      </a:solidFill>
                      <a:prstDash val="solid"/>
                      <a:round/>
                      <a:headEnd type="none" w="med" len="med"/>
                      <a:tailEnd type="none" w="med" len="med"/>
                    </a:lnB>
                    <a:solidFill>
                      <a:srgbClr val="FDB3AB"/>
                    </a:solidFill>
                  </a:tcPr>
                </a:tc>
                <a:tc>
                  <a:txBody>
                    <a:bodyPr/>
                    <a:lstStyle/>
                    <a:p>
                      <a:pPr>
                        <a:buNone/>
                      </a:pPr>
                      <a:r>
                        <a:rPr lang="en-US" sz="1400">
                          <a:effectLst/>
                        </a:rPr>
                        <a:t>2013-01-02</a:t>
                      </a:r>
                    </a:p>
                  </a:txBody>
                  <a:tcPr marL="34789" marR="34789" marT="17394" marB="17394" anchor="ctr">
                    <a:lnL w="4763" cap="flat" cmpd="sng" algn="ctr">
                      <a:solidFill>
                        <a:srgbClr val="A2A9B1"/>
                      </a:solidFill>
                      <a:prstDash val="solid"/>
                      <a:round/>
                      <a:headEnd type="none" w="med" len="med"/>
                      <a:tailEnd type="none" w="med" len="med"/>
                    </a:lnL>
                    <a:lnR w="4763" cap="flat" cmpd="sng" algn="ctr">
                      <a:solidFill>
                        <a:srgbClr val="A2A9B1"/>
                      </a:solidFill>
                      <a:prstDash val="solid"/>
                      <a:round/>
                      <a:headEnd type="none" w="med" len="med"/>
                      <a:tailEnd type="none" w="med" len="med"/>
                    </a:lnR>
                    <a:lnT w="4763" cap="flat" cmpd="sng" algn="ctr">
                      <a:solidFill>
                        <a:srgbClr val="A2A9B1"/>
                      </a:solidFill>
                      <a:prstDash val="solid"/>
                      <a:round/>
                      <a:headEnd type="none" w="med" len="med"/>
                      <a:tailEnd type="none" w="med" len="med"/>
                    </a:lnT>
                    <a:lnB w="4763" cap="flat" cmpd="sng" algn="ctr">
                      <a:solidFill>
                        <a:srgbClr val="A2A9B1"/>
                      </a:solidFill>
                      <a:prstDash val="solid"/>
                      <a:round/>
                      <a:headEnd type="none" w="med" len="med"/>
                      <a:tailEnd type="none" w="med" len="med"/>
                    </a:lnB>
                    <a:solidFill>
                      <a:srgbClr val="F8F9FA"/>
                    </a:solidFill>
                  </a:tcPr>
                </a:tc>
                <a:tc>
                  <a:txBody>
                    <a:bodyPr/>
                    <a:lstStyle/>
                    <a:p>
                      <a:pPr>
                        <a:buNone/>
                      </a:pPr>
                      <a:r>
                        <a:rPr lang="en-US" sz="1400">
                          <a:effectLst/>
                        </a:rPr>
                        <a:t>1.2.19</a:t>
                      </a:r>
                    </a:p>
                  </a:txBody>
                  <a:tcPr marL="34789" marR="34789" marT="17394" marB="17394" anchor="ctr">
                    <a:lnL w="4763" cap="flat" cmpd="sng" algn="ctr">
                      <a:solidFill>
                        <a:srgbClr val="A2A9B1"/>
                      </a:solidFill>
                      <a:prstDash val="solid"/>
                      <a:round/>
                      <a:headEnd type="none" w="med" len="med"/>
                      <a:tailEnd type="none" w="med" len="med"/>
                    </a:lnL>
                    <a:lnR w="4763" cap="flat" cmpd="sng" algn="ctr">
                      <a:solidFill>
                        <a:srgbClr val="A2A9B1"/>
                      </a:solidFill>
                      <a:prstDash val="solid"/>
                      <a:round/>
                      <a:headEnd type="none" w="med" len="med"/>
                      <a:tailEnd type="none" w="med" len="med"/>
                    </a:lnR>
                    <a:lnT w="4763" cap="flat" cmpd="sng" algn="ctr">
                      <a:solidFill>
                        <a:srgbClr val="A2A9B1"/>
                      </a:solidFill>
                      <a:prstDash val="solid"/>
                      <a:round/>
                      <a:headEnd type="none" w="med" len="med"/>
                      <a:tailEnd type="none" w="med" len="med"/>
                    </a:lnT>
                    <a:lnB w="4763" cap="flat" cmpd="sng" algn="ctr">
                      <a:solidFill>
                        <a:srgbClr val="A2A9B1"/>
                      </a:solidFill>
                      <a:prstDash val="solid"/>
                      <a:round/>
                      <a:headEnd type="none" w="med" len="med"/>
                      <a:tailEnd type="none" w="med" len="med"/>
                    </a:lnB>
                    <a:solidFill>
                      <a:srgbClr val="F8F9FA"/>
                    </a:solidFill>
                  </a:tcPr>
                </a:tc>
                <a:tc>
                  <a:txBody>
                    <a:bodyPr/>
                    <a:lstStyle/>
                    <a:p>
                      <a:pPr>
                        <a:buNone/>
                      </a:pPr>
                      <a:r>
                        <a:rPr lang="en-US" sz="1400">
                          <a:effectLst/>
                        </a:rPr>
                        <a:t>2014-09-18</a:t>
                      </a:r>
                    </a:p>
                  </a:txBody>
                  <a:tcPr marL="34789" marR="34789" marT="17394" marB="17394" anchor="ctr">
                    <a:lnL w="4763" cap="flat" cmpd="sng" algn="ctr">
                      <a:solidFill>
                        <a:srgbClr val="A2A9B1"/>
                      </a:solidFill>
                      <a:prstDash val="solid"/>
                      <a:round/>
                      <a:headEnd type="none" w="med" len="med"/>
                      <a:tailEnd type="none" w="med" len="med"/>
                    </a:lnL>
                    <a:lnR w="4763" cap="flat" cmpd="sng" algn="ctr">
                      <a:solidFill>
                        <a:srgbClr val="A2A9B1"/>
                      </a:solidFill>
                      <a:prstDash val="solid"/>
                      <a:round/>
                      <a:headEnd type="none" w="med" len="med"/>
                      <a:tailEnd type="none" w="med" len="med"/>
                    </a:lnR>
                    <a:lnT w="4763" cap="flat" cmpd="sng" algn="ctr">
                      <a:solidFill>
                        <a:srgbClr val="A2A9B1"/>
                      </a:solidFill>
                      <a:prstDash val="solid"/>
                      <a:round/>
                      <a:headEnd type="none" w="med" len="med"/>
                      <a:tailEnd type="none" w="med" len="med"/>
                    </a:lnT>
                    <a:lnB w="4763" cap="flat" cmpd="sng" algn="ctr">
                      <a:solidFill>
                        <a:srgbClr val="A2A9B1"/>
                      </a:solidFill>
                      <a:prstDash val="solid"/>
                      <a:round/>
                      <a:headEnd type="none" w="med" len="med"/>
                      <a:tailEnd type="none" w="med" len="med"/>
                    </a:lnB>
                    <a:solidFill>
                      <a:srgbClr val="F8F9FA"/>
                    </a:solidFill>
                  </a:tcPr>
                </a:tc>
                <a:tc>
                  <a:txBody>
                    <a:bodyPr/>
                    <a:lstStyle/>
                    <a:p>
                      <a:pPr>
                        <a:buNone/>
                      </a:pPr>
                      <a:r>
                        <a:rPr lang="en-US" sz="1400">
                          <a:effectLst/>
                        </a:rPr>
                        <a:t>No longer maintained</a:t>
                      </a:r>
                    </a:p>
                  </a:txBody>
                  <a:tcPr marL="34789" marR="34789" marT="17394" marB="17394" anchor="ctr">
                    <a:lnL w="4763" cap="flat" cmpd="sng" algn="ctr">
                      <a:solidFill>
                        <a:srgbClr val="A2A9B1"/>
                      </a:solidFill>
                      <a:prstDash val="solid"/>
                      <a:round/>
                      <a:headEnd type="none" w="med" len="med"/>
                      <a:tailEnd type="none" w="med" len="med"/>
                    </a:lnL>
                    <a:lnR w="4763" cap="flat" cmpd="sng" algn="ctr">
                      <a:solidFill>
                        <a:srgbClr val="A2A9B1"/>
                      </a:solidFill>
                      <a:prstDash val="solid"/>
                      <a:round/>
                      <a:headEnd type="none" w="med" len="med"/>
                      <a:tailEnd type="none" w="med" len="med"/>
                    </a:lnR>
                    <a:lnT w="4763" cap="flat" cmpd="sng" algn="ctr">
                      <a:solidFill>
                        <a:srgbClr val="A2A9B1"/>
                      </a:solidFill>
                      <a:prstDash val="solid"/>
                      <a:round/>
                      <a:headEnd type="none" w="med" len="med"/>
                      <a:tailEnd type="none" w="med" len="med"/>
                    </a:lnT>
                    <a:lnB w="4763"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val="3382764588"/>
                  </a:ext>
                </a:extLst>
              </a:tr>
              <a:tr h="387052">
                <a:tc>
                  <a:txBody>
                    <a:bodyPr/>
                    <a:lstStyle/>
                    <a:p>
                      <a:pPr>
                        <a:buNone/>
                      </a:pPr>
                      <a:r>
                        <a:rPr lang="en-US" sz="1400">
                          <a:solidFill>
                            <a:srgbClr val="202122"/>
                          </a:solidFill>
                          <a:effectLst/>
                        </a:rPr>
                        <a:t>2.0</a:t>
                      </a:r>
                    </a:p>
                  </a:txBody>
                  <a:tcPr marL="34789" marR="34789" marT="17394" marB="17394" anchor="ctr">
                    <a:lnL w="4763" cap="flat" cmpd="sng" algn="ctr">
                      <a:solidFill>
                        <a:srgbClr val="A2A9B1"/>
                      </a:solidFill>
                      <a:prstDash val="solid"/>
                      <a:round/>
                      <a:headEnd type="none" w="med" len="med"/>
                      <a:tailEnd type="none" w="med" len="med"/>
                    </a:lnL>
                    <a:lnR w="4763" cap="flat" cmpd="sng" algn="ctr">
                      <a:solidFill>
                        <a:srgbClr val="A2A9B1"/>
                      </a:solidFill>
                      <a:prstDash val="solid"/>
                      <a:round/>
                      <a:headEnd type="none" w="med" len="med"/>
                      <a:tailEnd type="none" w="med" len="med"/>
                    </a:lnR>
                    <a:lnT w="4763" cap="flat" cmpd="sng" algn="ctr">
                      <a:solidFill>
                        <a:srgbClr val="A2A9B1"/>
                      </a:solidFill>
                      <a:prstDash val="solid"/>
                      <a:round/>
                      <a:headEnd type="none" w="med" len="med"/>
                      <a:tailEnd type="none" w="med" len="med"/>
                    </a:lnT>
                    <a:lnB w="4763" cap="flat" cmpd="sng" algn="ctr">
                      <a:solidFill>
                        <a:srgbClr val="A2A9B1"/>
                      </a:solidFill>
                      <a:prstDash val="solid"/>
                      <a:round/>
                      <a:headEnd type="none" w="med" len="med"/>
                      <a:tailEnd type="none" w="med" len="med"/>
                    </a:lnB>
                    <a:solidFill>
                      <a:srgbClr val="FDB3AB"/>
                    </a:solidFill>
                  </a:tcPr>
                </a:tc>
                <a:tc>
                  <a:txBody>
                    <a:bodyPr/>
                    <a:lstStyle/>
                    <a:p>
                      <a:pPr>
                        <a:buNone/>
                      </a:pPr>
                      <a:r>
                        <a:rPr lang="en-US" sz="1400">
                          <a:effectLst/>
                        </a:rPr>
                        <a:t>2013-09-03</a:t>
                      </a:r>
                    </a:p>
                  </a:txBody>
                  <a:tcPr marL="34789" marR="34789" marT="17394" marB="17394" anchor="ctr">
                    <a:lnL w="4763" cap="flat" cmpd="sng" algn="ctr">
                      <a:solidFill>
                        <a:srgbClr val="A2A9B1"/>
                      </a:solidFill>
                      <a:prstDash val="solid"/>
                      <a:round/>
                      <a:headEnd type="none" w="med" len="med"/>
                      <a:tailEnd type="none" w="med" len="med"/>
                    </a:lnL>
                    <a:lnR w="4763" cap="flat" cmpd="sng" algn="ctr">
                      <a:solidFill>
                        <a:srgbClr val="A2A9B1"/>
                      </a:solidFill>
                      <a:prstDash val="solid"/>
                      <a:round/>
                      <a:headEnd type="none" w="med" len="med"/>
                      <a:tailEnd type="none" w="med" len="med"/>
                    </a:lnR>
                    <a:lnT w="4763" cap="flat" cmpd="sng" algn="ctr">
                      <a:solidFill>
                        <a:srgbClr val="A2A9B1"/>
                      </a:solidFill>
                      <a:prstDash val="solid"/>
                      <a:round/>
                      <a:headEnd type="none" w="med" len="med"/>
                      <a:tailEnd type="none" w="med" len="med"/>
                    </a:lnT>
                    <a:lnB w="4763" cap="flat" cmpd="sng" algn="ctr">
                      <a:solidFill>
                        <a:srgbClr val="A2A9B1"/>
                      </a:solidFill>
                      <a:prstDash val="solid"/>
                      <a:round/>
                      <a:headEnd type="none" w="med" len="med"/>
                      <a:tailEnd type="none" w="med" len="med"/>
                    </a:lnB>
                    <a:solidFill>
                      <a:srgbClr val="F8F9FA"/>
                    </a:solidFill>
                  </a:tcPr>
                </a:tc>
                <a:tc>
                  <a:txBody>
                    <a:bodyPr/>
                    <a:lstStyle/>
                    <a:p>
                      <a:pPr>
                        <a:buNone/>
                      </a:pPr>
                      <a:r>
                        <a:rPr lang="en-US" sz="1400">
                          <a:effectLst/>
                        </a:rPr>
                        <a:t>2.0.17</a:t>
                      </a:r>
                    </a:p>
                  </a:txBody>
                  <a:tcPr marL="34789" marR="34789" marT="17394" marB="17394" anchor="ctr">
                    <a:lnL w="4763" cap="flat" cmpd="sng" algn="ctr">
                      <a:solidFill>
                        <a:srgbClr val="A2A9B1"/>
                      </a:solidFill>
                      <a:prstDash val="solid"/>
                      <a:round/>
                      <a:headEnd type="none" w="med" len="med"/>
                      <a:tailEnd type="none" w="med" len="med"/>
                    </a:lnL>
                    <a:lnR w="4763" cap="flat" cmpd="sng" algn="ctr">
                      <a:solidFill>
                        <a:srgbClr val="A2A9B1"/>
                      </a:solidFill>
                      <a:prstDash val="solid"/>
                      <a:round/>
                      <a:headEnd type="none" w="med" len="med"/>
                      <a:tailEnd type="none" w="med" len="med"/>
                    </a:lnR>
                    <a:lnT w="4763" cap="flat" cmpd="sng" algn="ctr">
                      <a:solidFill>
                        <a:srgbClr val="A2A9B1"/>
                      </a:solidFill>
                      <a:prstDash val="solid"/>
                      <a:round/>
                      <a:headEnd type="none" w="med" len="med"/>
                      <a:tailEnd type="none" w="med" len="med"/>
                    </a:lnT>
                    <a:lnB w="4763" cap="flat" cmpd="sng" algn="ctr">
                      <a:solidFill>
                        <a:srgbClr val="A2A9B1"/>
                      </a:solidFill>
                      <a:prstDash val="solid"/>
                      <a:round/>
                      <a:headEnd type="none" w="med" len="med"/>
                      <a:tailEnd type="none" w="med" len="med"/>
                    </a:lnB>
                    <a:solidFill>
                      <a:srgbClr val="F8F9FA"/>
                    </a:solidFill>
                  </a:tcPr>
                </a:tc>
                <a:tc>
                  <a:txBody>
                    <a:bodyPr/>
                    <a:lstStyle/>
                    <a:p>
                      <a:pPr>
                        <a:buNone/>
                      </a:pPr>
                      <a:r>
                        <a:rPr lang="en-US" sz="1400">
                          <a:effectLst/>
                        </a:rPr>
                        <a:t>2015-09-21</a:t>
                      </a:r>
                    </a:p>
                  </a:txBody>
                  <a:tcPr marL="34789" marR="34789" marT="17394" marB="17394" anchor="ctr">
                    <a:lnL w="4763" cap="flat" cmpd="sng" algn="ctr">
                      <a:solidFill>
                        <a:srgbClr val="A2A9B1"/>
                      </a:solidFill>
                      <a:prstDash val="solid"/>
                      <a:round/>
                      <a:headEnd type="none" w="med" len="med"/>
                      <a:tailEnd type="none" w="med" len="med"/>
                    </a:lnL>
                    <a:lnR w="4763" cap="flat" cmpd="sng" algn="ctr">
                      <a:solidFill>
                        <a:srgbClr val="A2A9B1"/>
                      </a:solidFill>
                      <a:prstDash val="solid"/>
                      <a:round/>
                      <a:headEnd type="none" w="med" len="med"/>
                      <a:tailEnd type="none" w="med" len="med"/>
                    </a:lnR>
                    <a:lnT w="4763" cap="flat" cmpd="sng" algn="ctr">
                      <a:solidFill>
                        <a:srgbClr val="A2A9B1"/>
                      </a:solidFill>
                      <a:prstDash val="solid"/>
                      <a:round/>
                      <a:headEnd type="none" w="med" len="med"/>
                      <a:tailEnd type="none" w="med" len="med"/>
                    </a:lnT>
                    <a:lnB w="4763" cap="flat" cmpd="sng" algn="ctr">
                      <a:solidFill>
                        <a:srgbClr val="A2A9B1"/>
                      </a:solidFill>
                      <a:prstDash val="solid"/>
                      <a:round/>
                      <a:headEnd type="none" w="med" len="med"/>
                      <a:tailEnd type="none" w="med" len="med"/>
                    </a:lnB>
                    <a:solidFill>
                      <a:srgbClr val="F8F9FA"/>
                    </a:solidFill>
                  </a:tcPr>
                </a:tc>
                <a:tc>
                  <a:txBody>
                    <a:bodyPr/>
                    <a:lstStyle/>
                    <a:p>
                      <a:pPr>
                        <a:buNone/>
                      </a:pPr>
                      <a:r>
                        <a:rPr lang="en-US" sz="1400">
                          <a:effectLst/>
                        </a:rPr>
                        <a:t>No longer maintained</a:t>
                      </a:r>
                    </a:p>
                  </a:txBody>
                  <a:tcPr marL="34789" marR="34789" marT="17394" marB="17394" anchor="ctr">
                    <a:lnL w="4763" cap="flat" cmpd="sng" algn="ctr">
                      <a:solidFill>
                        <a:srgbClr val="A2A9B1"/>
                      </a:solidFill>
                      <a:prstDash val="solid"/>
                      <a:round/>
                      <a:headEnd type="none" w="med" len="med"/>
                      <a:tailEnd type="none" w="med" len="med"/>
                    </a:lnL>
                    <a:lnR w="4763" cap="flat" cmpd="sng" algn="ctr">
                      <a:solidFill>
                        <a:srgbClr val="A2A9B1"/>
                      </a:solidFill>
                      <a:prstDash val="solid"/>
                      <a:round/>
                      <a:headEnd type="none" w="med" len="med"/>
                      <a:tailEnd type="none" w="med" len="med"/>
                    </a:lnR>
                    <a:lnT w="4763" cap="flat" cmpd="sng" algn="ctr">
                      <a:solidFill>
                        <a:srgbClr val="A2A9B1"/>
                      </a:solidFill>
                      <a:prstDash val="solid"/>
                      <a:round/>
                      <a:headEnd type="none" w="med" len="med"/>
                      <a:tailEnd type="none" w="med" len="med"/>
                    </a:lnT>
                    <a:lnB w="4763"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val="2349303858"/>
                  </a:ext>
                </a:extLst>
              </a:tr>
              <a:tr h="387052">
                <a:tc>
                  <a:txBody>
                    <a:bodyPr/>
                    <a:lstStyle/>
                    <a:p>
                      <a:pPr>
                        <a:buNone/>
                      </a:pPr>
                      <a:r>
                        <a:rPr lang="en-US" sz="1400">
                          <a:solidFill>
                            <a:srgbClr val="202122"/>
                          </a:solidFill>
                          <a:effectLst/>
                        </a:rPr>
                        <a:t>2.1</a:t>
                      </a:r>
                    </a:p>
                  </a:txBody>
                  <a:tcPr marL="34789" marR="34789" marT="17394" marB="17394" anchor="ctr">
                    <a:lnL w="4763" cap="flat" cmpd="sng" algn="ctr">
                      <a:solidFill>
                        <a:srgbClr val="A2A9B1"/>
                      </a:solidFill>
                      <a:prstDash val="solid"/>
                      <a:round/>
                      <a:headEnd type="none" w="med" len="med"/>
                      <a:tailEnd type="none" w="med" len="med"/>
                    </a:lnL>
                    <a:lnR w="4763" cap="flat" cmpd="sng" algn="ctr">
                      <a:solidFill>
                        <a:srgbClr val="A2A9B1"/>
                      </a:solidFill>
                      <a:prstDash val="solid"/>
                      <a:round/>
                      <a:headEnd type="none" w="med" len="med"/>
                      <a:tailEnd type="none" w="med" len="med"/>
                    </a:lnR>
                    <a:lnT w="4763" cap="flat" cmpd="sng" algn="ctr">
                      <a:solidFill>
                        <a:srgbClr val="A2A9B1"/>
                      </a:solidFill>
                      <a:prstDash val="solid"/>
                      <a:round/>
                      <a:headEnd type="none" w="med" len="med"/>
                      <a:tailEnd type="none" w="med" len="med"/>
                    </a:lnT>
                    <a:lnB w="4763" cap="flat" cmpd="sng" algn="ctr">
                      <a:solidFill>
                        <a:srgbClr val="A2A9B1"/>
                      </a:solidFill>
                      <a:prstDash val="solid"/>
                      <a:round/>
                      <a:headEnd type="none" w="med" len="med"/>
                      <a:tailEnd type="none" w="med" len="med"/>
                    </a:lnB>
                    <a:solidFill>
                      <a:srgbClr val="FDB3AB"/>
                    </a:solidFill>
                  </a:tcPr>
                </a:tc>
                <a:tc>
                  <a:txBody>
                    <a:bodyPr/>
                    <a:lstStyle/>
                    <a:p>
                      <a:pPr>
                        <a:buNone/>
                      </a:pPr>
                      <a:r>
                        <a:rPr lang="en-US" sz="1400">
                          <a:effectLst/>
                        </a:rPr>
                        <a:t>2014-09-16</a:t>
                      </a:r>
                    </a:p>
                  </a:txBody>
                  <a:tcPr marL="34789" marR="34789" marT="17394" marB="17394" anchor="ctr">
                    <a:lnL w="4763" cap="flat" cmpd="sng" algn="ctr">
                      <a:solidFill>
                        <a:srgbClr val="A2A9B1"/>
                      </a:solidFill>
                      <a:prstDash val="solid"/>
                      <a:round/>
                      <a:headEnd type="none" w="med" len="med"/>
                      <a:tailEnd type="none" w="med" len="med"/>
                    </a:lnL>
                    <a:lnR w="4763" cap="flat" cmpd="sng" algn="ctr">
                      <a:solidFill>
                        <a:srgbClr val="A2A9B1"/>
                      </a:solidFill>
                      <a:prstDash val="solid"/>
                      <a:round/>
                      <a:headEnd type="none" w="med" len="med"/>
                      <a:tailEnd type="none" w="med" len="med"/>
                    </a:lnR>
                    <a:lnT w="4763" cap="flat" cmpd="sng" algn="ctr">
                      <a:solidFill>
                        <a:srgbClr val="A2A9B1"/>
                      </a:solidFill>
                      <a:prstDash val="solid"/>
                      <a:round/>
                      <a:headEnd type="none" w="med" len="med"/>
                      <a:tailEnd type="none" w="med" len="med"/>
                    </a:lnT>
                    <a:lnB w="4763" cap="flat" cmpd="sng" algn="ctr">
                      <a:solidFill>
                        <a:srgbClr val="A2A9B1"/>
                      </a:solidFill>
                      <a:prstDash val="solid"/>
                      <a:round/>
                      <a:headEnd type="none" w="med" len="med"/>
                      <a:tailEnd type="none" w="med" len="med"/>
                    </a:lnB>
                    <a:solidFill>
                      <a:srgbClr val="F8F9FA"/>
                    </a:solidFill>
                  </a:tcPr>
                </a:tc>
                <a:tc>
                  <a:txBody>
                    <a:bodyPr/>
                    <a:lstStyle/>
                    <a:p>
                      <a:pPr>
                        <a:buNone/>
                      </a:pPr>
                      <a:r>
                        <a:rPr lang="en-US" sz="1400" dirty="0">
                          <a:effectLst/>
                        </a:rPr>
                        <a:t>2.1.22</a:t>
                      </a:r>
                    </a:p>
                  </a:txBody>
                  <a:tcPr marL="34789" marR="34789" marT="17394" marB="17394" anchor="ctr">
                    <a:lnL w="4763" cap="flat" cmpd="sng" algn="ctr">
                      <a:solidFill>
                        <a:srgbClr val="A2A9B1"/>
                      </a:solidFill>
                      <a:prstDash val="solid"/>
                      <a:round/>
                      <a:headEnd type="none" w="med" len="med"/>
                      <a:tailEnd type="none" w="med" len="med"/>
                    </a:lnL>
                    <a:lnR w="4763" cap="flat" cmpd="sng" algn="ctr">
                      <a:solidFill>
                        <a:srgbClr val="A2A9B1"/>
                      </a:solidFill>
                      <a:prstDash val="solid"/>
                      <a:round/>
                      <a:headEnd type="none" w="med" len="med"/>
                      <a:tailEnd type="none" w="med" len="med"/>
                    </a:lnR>
                    <a:lnT w="4763" cap="flat" cmpd="sng" algn="ctr">
                      <a:solidFill>
                        <a:srgbClr val="A2A9B1"/>
                      </a:solidFill>
                      <a:prstDash val="solid"/>
                      <a:round/>
                      <a:headEnd type="none" w="med" len="med"/>
                      <a:tailEnd type="none" w="med" len="med"/>
                    </a:lnT>
                    <a:lnB w="4763" cap="flat" cmpd="sng" algn="ctr">
                      <a:solidFill>
                        <a:srgbClr val="A2A9B1"/>
                      </a:solidFill>
                      <a:prstDash val="solid"/>
                      <a:round/>
                      <a:headEnd type="none" w="med" len="med"/>
                      <a:tailEnd type="none" w="med" len="med"/>
                    </a:lnB>
                    <a:solidFill>
                      <a:srgbClr val="F8F9FA"/>
                    </a:solidFill>
                  </a:tcPr>
                </a:tc>
                <a:tc>
                  <a:txBody>
                    <a:bodyPr/>
                    <a:lstStyle/>
                    <a:p>
                      <a:pPr>
                        <a:buNone/>
                      </a:pPr>
                      <a:r>
                        <a:rPr lang="en-US" sz="1400">
                          <a:effectLst/>
                        </a:rPr>
                        <a:t>2020-08-31</a:t>
                      </a:r>
                    </a:p>
                  </a:txBody>
                  <a:tcPr marL="34789" marR="34789" marT="17394" marB="17394" anchor="ctr">
                    <a:lnL w="4763" cap="flat" cmpd="sng" algn="ctr">
                      <a:solidFill>
                        <a:srgbClr val="A2A9B1"/>
                      </a:solidFill>
                      <a:prstDash val="solid"/>
                      <a:round/>
                      <a:headEnd type="none" w="med" len="med"/>
                      <a:tailEnd type="none" w="med" len="med"/>
                    </a:lnL>
                    <a:lnR w="4763" cap="flat" cmpd="sng" algn="ctr">
                      <a:solidFill>
                        <a:srgbClr val="A2A9B1"/>
                      </a:solidFill>
                      <a:prstDash val="solid"/>
                      <a:round/>
                      <a:headEnd type="none" w="med" len="med"/>
                      <a:tailEnd type="none" w="med" len="med"/>
                    </a:lnR>
                    <a:lnT w="4763" cap="flat" cmpd="sng" algn="ctr">
                      <a:solidFill>
                        <a:srgbClr val="A2A9B1"/>
                      </a:solidFill>
                      <a:prstDash val="solid"/>
                      <a:round/>
                      <a:headEnd type="none" w="med" len="med"/>
                      <a:tailEnd type="none" w="med" len="med"/>
                    </a:lnT>
                    <a:lnB w="4763" cap="flat" cmpd="sng" algn="ctr">
                      <a:solidFill>
                        <a:srgbClr val="A2A9B1"/>
                      </a:solidFill>
                      <a:prstDash val="solid"/>
                      <a:round/>
                      <a:headEnd type="none" w="med" len="med"/>
                      <a:tailEnd type="none" w="med" len="med"/>
                    </a:lnB>
                    <a:solidFill>
                      <a:srgbClr val="F8F9FA"/>
                    </a:solidFill>
                  </a:tcPr>
                </a:tc>
                <a:tc>
                  <a:txBody>
                    <a:bodyPr/>
                    <a:lstStyle/>
                    <a:p>
                      <a:pPr>
                        <a:buNone/>
                      </a:pPr>
                      <a:r>
                        <a:rPr lang="en-US" sz="1400">
                          <a:effectLst/>
                        </a:rPr>
                        <a:t>No longer maintained</a:t>
                      </a:r>
                    </a:p>
                  </a:txBody>
                  <a:tcPr marL="34789" marR="34789" marT="17394" marB="17394" anchor="ctr">
                    <a:lnL w="4763" cap="flat" cmpd="sng" algn="ctr">
                      <a:solidFill>
                        <a:srgbClr val="A2A9B1"/>
                      </a:solidFill>
                      <a:prstDash val="solid"/>
                      <a:round/>
                      <a:headEnd type="none" w="med" len="med"/>
                      <a:tailEnd type="none" w="med" len="med"/>
                    </a:lnL>
                    <a:lnR w="4763" cap="flat" cmpd="sng" algn="ctr">
                      <a:solidFill>
                        <a:srgbClr val="A2A9B1"/>
                      </a:solidFill>
                      <a:prstDash val="solid"/>
                      <a:round/>
                      <a:headEnd type="none" w="med" len="med"/>
                      <a:tailEnd type="none" w="med" len="med"/>
                    </a:lnR>
                    <a:lnT w="4763" cap="flat" cmpd="sng" algn="ctr">
                      <a:solidFill>
                        <a:srgbClr val="A2A9B1"/>
                      </a:solidFill>
                      <a:prstDash val="solid"/>
                      <a:round/>
                      <a:headEnd type="none" w="med" len="med"/>
                      <a:tailEnd type="none" w="med" len="med"/>
                    </a:lnT>
                    <a:lnB w="4763"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val="2801289212"/>
                  </a:ext>
                </a:extLst>
              </a:tr>
              <a:tr h="387052">
                <a:tc>
                  <a:txBody>
                    <a:bodyPr/>
                    <a:lstStyle/>
                    <a:p>
                      <a:pPr>
                        <a:buNone/>
                      </a:pPr>
                      <a:r>
                        <a:rPr lang="en-US" sz="1400">
                          <a:solidFill>
                            <a:srgbClr val="202122"/>
                          </a:solidFill>
                          <a:effectLst/>
                        </a:rPr>
                        <a:t>2.2</a:t>
                      </a:r>
                    </a:p>
                  </a:txBody>
                  <a:tcPr marL="34789" marR="34789" marT="17394" marB="17394" anchor="ctr">
                    <a:lnL w="4763" cap="flat" cmpd="sng" algn="ctr">
                      <a:solidFill>
                        <a:srgbClr val="A2A9B1"/>
                      </a:solidFill>
                      <a:prstDash val="solid"/>
                      <a:round/>
                      <a:headEnd type="none" w="med" len="med"/>
                      <a:tailEnd type="none" w="med" len="med"/>
                    </a:lnL>
                    <a:lnR w="4763" cap="flat" cmpd="sng" algn="ctr">
                      <a:solidFill>
                        <a:srgbClr val="A2A9B1"/>
                      </a:solidFill>
                      <a:prstDash val="solid"/>
                      <a:round/>
                      <a:headEnd type="none" w="med" len="med"/>
                      <a:tailEnd type="none" w="med" len="med"/>
                    </a:lnR>
                    <a:lnT w="4763" cap="flat" cmpd="sng" algn="ctr">
                      <a:solidFill>
                        <a:srgbClr val="A2A9B1"/>
                      </a:solidFill>
                      <a:prstDash val="solid"/>
                      <a:round/>
                      <a:headEnd type="none" w="med" len="med"/>
                      <a:tailEnd type="none" w="med" len="med"/>
                    </a:lnT>
                    <a:lnB w="4763" cap="flat" cmpd="sng" algn="ctr">
                      <a:solidFill>
                        <a:srgbClr val="A2A9B1"/>
                      </a:solidFill>
                      <a:prstDash val="solid"/>
                      <a:round/>
                      <a:headEnd type="none" w="med" len="med"/>
                      <a:tailEnd type="none" w="med" len="med"/>
                    </a:lnB>
                    <a:solidFill>
                      <a:srgbClr val="FDB3AB"/>
                    </a:solidFill>
                  </a:tcPr>
                </a:tc>
                <a:tc>
                  <a:txBody>
                    <a:bodyPr/>
                    <a:lstStyle/>
                    <a:p>
                      <a:pPr>
                        <a:buNone/>
                      </a:pPr>
                      <a:r>
                        <a:rPr lang="en-US" sz="1400">
                          <a:effectLst/>
                        </a:rPr>
                        <a:t>2015-07-20</a:t>
                      </a:r>
                    </a:p>
                  </a:txBody>
                  <a:tcPr marL="34789" marR="34789" marT="17394" marB="17394" anchor="ctr">
                    <a:lnL w="4763" cap="flat" cmpd="sng" algn="ctr">
                      <a:solidFill>
                        <a:srgbClr val="A2A9B1"/>
                      </a:solidFill>
                      <a:prstDash val="solid"/>
                      <a:round/>
                      <a:headEnd type="none" w="med" len="med"/>
                      <a:tailEnd type="none" w="med" len="med"/>
                    </a:lnL>
                    <a:lnR w="4763" cap="flat" cmpd="sng" algn="ctr">
                      <a:solidFill>
                        <a:srgbClr val="A2A9B1"/>
                      </a:solidFill>
                      <a:prstDash val="solid"/>
                      <a:round/>
                      <a:headEnd type="none" w="med" len="med"/>
                      <a:tailEnd type="none" w="med" len="med"/>
                    </a:lnR>
                    <a:lnT w="4763" cap="flat" cmpd="sng" algn="ctr">
                      <a:solidFill>
                        <a:srgbClr val="A2A9B1"/>
                      </a:solidFill>
                      <a:prstDash val="solid"/>
                      <a:round/>
                      <a:headEnd type="none" w="med" len="med"/>
                      <a:tailEnd type="none" w="med" len="med"/>
                    </a:lnT>
                    <a:lnB w="4763" cap="flat" cmpd="sng" algn="ctr">
                      <a:solidFill>
                        <a:srgbClr val="A2A9B1"/>
                      </a:solidFill>
                      <a:prstDash val="solid"/>
                      <a:round/>
                      <a:headEnd type="none" w="med" len="med"/>
                      <a:tailEnd type="none" w="med" len="med"/>
                    </a:lnB>
                    <a:solidFill>
                      <a:srgbClr val="F8F9FA"/>
                    </a:solidFill>
                  </a:tcPr>
                </a:tc>
                <a:tc>
                  <a:txBody>
                    <a:bodyPr/>
                    <a:lstStyle/>
                    <a:p>
                      <a:pPr>
                        <a:buNone/>
                      </a:pPr>
                      <a:r>
                        <a:rPr lang="en-US" sz="1400">
                          <a:effectLst/>
                        </a:rPr>
                        <a:t>2.2.19</a:t>
                      </a:r>
                    </a:p>
                  </a:txBody>
                  <a:tcPr marL="34789" marR="34789" marT="17394" marB="17394" anchor="ctr">
                    <a:lnL w="4763" cap="flat" cmpd="sng" algn="ctr">
                      <a:solidFill>
                        <a:srgbClr val="A2A9B1"/>
                      </a:solidFill>
                      <a:prstDash val="solid"/>
                      <a:round/>
                      <a:headEnd type="none" w="med" len="med"/>
                      <a:tailEnd type="none" w="med" len="med"/>
                    </a:lnL>
                    <a:lnR w="4763" cap="flat" cmpd="sng" algn="ctr">
                      <a:solidFill>
                        <a:srgbClr val="A2A9B1"/>
                      </a:solidFill>
                      <a:prstDash val="solid"/>
                      <a:round/>
                      <a:headEnd type="none" w="med" len="med"/>
                      <a:tailEnd type="none" w="med" len="med"/>
                    </a:lnR>
                    <a:lnT w="4763" cap="flat" cmpd="sng" algn="ctr">
                      <a:solidFill>
                        <a:srgbClr val="A2A9B1"/>
                      </a:solidFill>
                      <a:prstDash val="solid"/>
                      <a:round/>
                      <a:headEnd type="none" w="med" len="med"/>
                      <a:tailEnd type="none" w="med" len="med"/>
                    </a:lnT>
                    <a:lnB w="4763" cap="flat" cmpd="sng" algn="ctr">
                      <a:solidFill>
                        <a:srgbClr val="A2A9B1"/>
                      </a:solidFill>
                      <a:prstDash val="solid"/>
                      <a:round/>
                      <a:headEnd type="none" w="med" len="med"/>
                      <a:tailEnd type="none" w="med" len="med"/>
                    </a:lnB>
                    <a:solidFill>
                      <a:srgbClr val="F8F9FA"/>
                    </a:solidFill>
                  </a:tcPr>
                </a:tc>
                <a:tc>
                  <a:txBody>
                    <a:bodyPr/>
                    <a:lstStyle/>
                    <a:p>
                      <a:pPr>
                        <a:buNone/>
                      </a:pPr>
                      <a:r>
                        <a:rPr lang="en-US" sz="1400">
                          <a:effectLst/>
                        </a:rPr>
                        <a:t>2020-11-04</a:t>
                      </a:r>
                    </a:p>
                  </a:txBody>
                  <a:tcPr marL="34789" marR="34789" marT="17394" marB="17394" anchor="ctr">
                    <a:lnL w="4763" cap="flat" cmpd="sng" algn="ctr">
                      <a:solidFill>
                        <a:srgbClr val="A2A9B1"/>
                      </a:solidFill>
                      <a:prstDash val="solid"/>
                      <a:round/>
                      <a:headEnd type="none" w="med" len="med"/>
                      <a:tailEnd type="none" w="med" len="med"/>
                    </a:lnL>
                    <a:lnR w="4763" cap="flat" cmpd="sng" algn="ctr">
                      <a:solidFill>
                        <a:srgbClr val="A2A9B1"/>
                      </a:solidFill>
                      <a:prstDash val="solid"/>
                      <a:round/>
                      <a:headEnd type="none" w="med" len="med"/>
                      <a:tailEnd type="none" w="med" len="med"/>
                    </a:lnR>
                    <a:lnT w="4763" cap="flat" cmpd="sng" algn="ctr">
                      <a:solidFill>
                        <a:srgbClr val="A2A9B1"/>
                      </a:solidFill>
                      <a:prstDash val="solid"/>
                      <a:round/>
                      <a:headEnd type="none" w="med" len="med"/>
                      <a:tailEnd type="none" w="med" len="med"/>
                    </a:lnT>
                    <a:lnB w="4763" cap="flat" cmpd="sng" algn="ctr">
                      <a:solidFill>
                        <a:srgbClr val="A2A9B1"/>
                      </a:solidFill>
                      <a:prstDash val="solid"/>
                      <a:round/>
                      <a:headEnd type="none" w="med" len="med"/>
                      <a:tailEnd type="none" w="med" len="med"/>
                    </a:lnB>
                    <a:solidFill>
                      <a:srgbClr val="F8F9FA"/>
                    </a:solidFill>
                  </a:tcPr>
                </a:tc>
                <a:tc>
                  <a:txBody>
                    <a:bodyPr/>
                    <a:lstStyle/>
                    <a:p>
                      <a:pPr>
                        <a:buNone/>
                      </a:pPr>
                      <a:r>
                        <a:rPr lang="en-US" sz="1400">
                          <a:effectLst/>
                        </a:rPr>
                        <a:t>No longer maintained</a:t>
                      </a:r>
                    </a:p>
                  </a:txBody>
                  <a:tcPr marL="34789" marR="34789" marT="17394" marB="17394" anchor="ctr">
                    <a:lnL w="4763" cap="flat" cmpd="sng" algn="ctr">
                      <a:solidFill>
                        <a:srgbClr val="A2A9B1"/>
                      </a:solidFill>
                      <a:prstDash val="solid"/>
                      <a:round/>
                      <a:headEnd type="none" w="med" len="med"/>
                      <a:tailEnd type="none" w="med" len="med"/>
                    </a:lnL>
                    <a:lnR w="4763" cap="flat" cmpd="sng" algn="ctr">
                      <a:solidFill>
                        <a:srgbClr val="A2A9B1"/>
                      </a:solidFill>
                      <a:prstDash val="solid"/>
                      <a:round/>
                      <a:headEnd type="none" w="med" len="med"/>
                      <a:tailEnd type="none" w="med" len="med"/>
                    </a:lnR>
                    <a:lnT w="4763" cap="flat" cmpd="sng" algn="ctr">
                      <a:solidFill>
                        <a:srgbClr val="A2A9B1"/>
                      </a:solidFill>
                      <a:prstDash val="solid"/>
                      <a:round/>
                      <a:headEnd type="none" w="med" len="med"/>
                      <a:tailEnd type="none" w="med" len="med"/>
                    </a:lnT>
                    <a:lnB w="4763"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val="1045182512"/>
                  </a:ext>
                </a:extLst>
              </a:tr>
              <a:tr h="387052">
                <a:tc>
                  <a:txBody>
                    <a:bodyPr/>
                    <a:lstStyle/>
                    <a:p>
                      <a:pPr>
                        <a:buNone/>
                      </a:pPr>
                      <a:r>
                        <a:rPr lang="en-US" sz="1400">
                          <a:solidFill>
                            <a:srgbClr val="202122"/>
                          </a:solidFill>
                          <a:effectLst/>
                        </a:rPr>
                        <a:t>3.0</a:t>
                      </a:r>
                    </a:p>
                  </a:txBody>
                  <a:tcPr marL="34789" marR="34789" marT="17394" marB="17394" anchor="ctr">
                    <a:lnL w="4763" cap="flat" cmpd="sng" algn="ctr">
                      <a:solidFill>
                        <a:srgbClr val="A2A9B1"/>
                      </a:solidFill>
                      <a:prstDash val="solid"/>
                      <a:round/>
                      <a:headEnd type="none" w="med" len="med"/>
                      <a:tailEnd type="none" w="med" len="med"/>
                    </a:lnL>
                    <a:lnR w="4763" cap="flat" cmpd="sng" algn="ctr">
                      <a:solidFill>
                        <a:srgbClr val="A2A9B1"/>
                      </a:solidFill>
                      <a:prstDash val="solid"/>
                      <a:round/>
                      <a:headEnd type="none" w="med" len="med"/>
                      <a:tailEnd type="none" w="med" len="med"/>
                    </a:lnR>
                    <a:lnT w="4763" cap="flat" cmpd="sng" algn="ctr">
                      <a:solidFill>
                        <a:srgbClr val="A2A9B1"/>
                      </a:solidFill>
                      <a:prstDash val="solid"/>
                      <a:round/>
                      <a:headEnd type="none" w="med" len="med"/>
                      <a:tailEnd type="none" w="med" len="med"/>
                    </a:lnT>
                    <a:lnB w="4763" cap="flat" cmpd="sng" algn="ctr">
                      <a:solidFill>
                        <a:srgbClr val="A2A9B1"/>
                      </a:solidFill>
                      <a:prstDash val="solid"/>
                      <a:round/>
                      <a:headEnd type="none" w="med" len="med"/>
                      <a:tailEnd type="none" w="med" len="med"/>
                    </a:lnB>
                    <a:solidFill>
                      <a:srgbClr val="FDB3AB"/>
                    </a:solidFill>
                  </a:tcPr>
                </a:tc>
                <a:tc>
                  <a:txBody>
                    <a:bodyPr/>
                    <a:lstStyle/>
                    <a:p>
                      <a:pPr>
                        <a:buNone/>
                      </a:pPr>
                      <a:r>
                        <a:rPr lang="en-US" sz="1400">
                          <a:effectLst/>
                        </a:rPr>
                        <a:t>2015-11-09</a:t>
                      </a:r>
                    </a:p>
                  </a:txBody>
                  <a:tcPr marL="34789" marR="34789" marT="17394" marB="17394" anchor="ctr">
                    <a:lnL w="4763" cap="flat" cmpd="sng" algn="ctr">
                      <a:solidFill>
                        <a:srgbClr val="A2A9B1"/>
                      </a:solidFill>
                      <a:prstDash val="solid"/>
                      <a:round/>
                      <a:headEnd type="none" w="med" len="med"/>
                      <a:tailEnd type="none" w="med" len="med"/>
                    </a:lnL>
                    <a:lnR w="4763" cap="flat" cmpd="sng" algn="ctr">
                      <a:solidFill>
                        <a:srgbClr val="A2A9B1"/>
                      </a:solidFill>
                      <a:prstDash val="solid"/>
                      <a:round/>
                      <a:headEnd type="none" w="med" len="med"/>
                      <a:tailEnd type="none" w="med" len="med"/>
                    </a:lnR>
                    <a:lnT w="4763" cap="flat" cmpd="sng" algn="ctr">
                      <a:solidFill>
                        <a:srgbClr val="A2A9B1"/>
                      </a:solidFill>
                      <a:prstDash val="solid"/>
                      <a:round/>
                      <a:headEnd type="none" w="med" len="med"/>
                      <a:tailEnd type="none" w="med" len="med"/>
                    </a:lnT>
                    <a:lnB w="4763" cap="flat" cmpd="sng" algn="ctr">
                      <a:solidFill>
                        <a:srgbClr val="A2A9B1"/>
                      </a:solidFill>
                      <a:prstDash val="solid"/>
                      <a:round/>
                      <a:headEnd type="none" w="med" len="med"/>
                      <a:tailEnd type="none" w="med" len="med"/>
                    </a:lnB>
                    <a:solidFill>
                      <a:srgbClr val="F8F9FA"/>
                    </a:solidFill>
                  </a:tcPr>
                </a:tc>
                <a:tc>
                  <a:txBody>
                    <a:bodyPr/>
                    <a:lstStyle/>
                    <a:p>
                      <a:pPr>
                        <a:buNone/>
                      </a:pPr>
                      <a:r>
                        <a:rPr lang="en-US" sz="1400">
                          <a:effectLst/>
                        </a:rPr>
                        <a:t>3.0.29</a:t>
                      </a:r>
                    </a:p>
                  </a:txBody>
                  <a:tcPr marL="34789" marR="34789" marT="17394" marB="17394" anchor="ctr">
                    <a:lnL w="4763" cap="flat" cmpd="sng" algn="ctr">
                      <a:solidFill>
                        <a:srgbClr val="A2A9B1"/>
                      </a:solidFill>
                      <a:prstDash val="solid"/>
                      <a:round/>
                      <a:headEnd type="none" w="med" len="med"/>
                      <a:tailEnd type="none" w="med" len="med"/>
                    </a:lnL>
                    <a:lnR w="4763" cap="flat" cmpd="sng" algn="ctr">
                      <a:solidFill>
                        <a:srgbClr val="A2A9B1"/>
                      </a:solidFill>
                      <a:prstDash val="solid"/>
                      <a:round/>
                      <a:headEnd type="none" w="med" len="med"/>
                      <a:tailEnd type="none" w="med" len="med"/>
                    </a:lnR>
                    <a:lnT w="4763" cap="flat" cmpd="sng" algn="ctr">
                      <a:solidFill>
                        <a:srgbClr val="A2A9B1"/>
                      </a:solidFill>
                      <a:prstDash val="solid"/>
                      <a:round/>
                      <a:headEnd type="none" w="med" len="med"/>
                      <a:tailEnd type="none" w="med" len="med"/>
                    </a:lnT>
                    <a:lnB w="4763" cap="flat" cmpd="sng" algn="ctr">
                      <a:solidFill>
                        <a:srgbClr val="A2A9B1"/>
                      </a:solidFill>
                      <a:prstDash val="solid"/>
                      <a:round/>
                      <a:headEnd type="none" w="med" len="med"/>
                      <a:tailEnd type="none" w="med" len="med"/>
                    </a:lnB>
                    <a:solidFill>
                      <a:srgbClr val="F8F9FA"/>
                    </a:solidFill>
                  </a:tcPr>
                </a:tc>
                <a:tc>
                  <a:txBody>
                    <a:bodyPr/>
                    <a:lstStyle/>
                    <a:p>
                      <a:pPr>
                        <a:buNone/>
                      </a:pPr>
                      <a:r>
                        <a:rPr lang="en-US" sz="1400">
                          <a:effectLst/>
                        </a:rPr>
                        <a:t>2023-05-15</a:t>
                      </a:r>
                    </a:p>
                  </a:txBody>
                  <a:tcPr marL="34789" marR="34789" marT="17394" marB="17394" anchor="ctr">
                    <a:lnL w="4763" cap="flat" cmpd="sng" algn="ctr">
                      <a:solidFill>
                        <a:srgbClr val="A2A9B1"/>
                      </a:solidFill>
                      <a:prstDash val="solid"/>
                      <a:round/>
                      <a:headEnd type="none" w="med" len="med"/>
                      <a:tailEnd type="none" w="med" len="med"/>
                    </a:lnL>
                    <a:lnR w="4763" cap="flat" cmpd="sng" algn="ctr">
                      <a:solidFill>
                        <a:srgbClr val="A2A9B1"/>
                      </a:solidFill>
                      <a:prstDash val="solid"/>
                      <a:round/>
                      <a:headEnd type="none" w="med" len="med"/>
                      <a:tailEnd type="none" w="med" len="med"/>
                    </a:lnR>
                    <a:lnT w="4763" cap="flat" cmpd="sng" algn="ctr">
                      <a:solidFill>
                        <a:srgbClr val="A2A9B1"/>
                      </a:solidFill>
                      <a:prstDash val="solid"/>
                      <a:round/>
                      <a:headEnd type="none" w="med" len="med"/>
                      <a:tailEnd type="none" w="med" len="med"/>
                    </a:lnT>
                    <a:lnB w="4763" cap="flat" cmpd="sng" algn="ctr">
                      <a:solidFill>
                        <a:srgbClr val="A2A9B1"/>
                      </a:solidFill>
                      <a:prstDash val="solid"/>
                      <a:round/>
                      <a:headEnd type="none" w="med" len="med"/>
                      <a:tailEnd type="none" w="med" len="med"/>
                    </a:lnB>
                    <a:solidFill>
                      <a:srgbClr val="F8F9FA"/>
                    </a:solidFill>
                  </a:tcPr>
                </a:tc>
                <a:tc>
                  <a:txBody>
                    <a:bodyPr/>
                    <a:lstStyle/>
                    <a:p>
                      <a:pPr>
                        <a:buNone/>
                      </a:pPr>
                      <a:r>
                        <a:rPr lang="en-US" sz="1400">
                          <a:effectLst/>
                        </a:rPr>
                        <a:t>No longer maintained</a:t>
                      </a:r>
                    </a:p>
                  </a:txBody>
                  <a:tcPr marL="34789" marR="34789" marT="17394" marB="17394" anchor="ctr">
                    <a:lnL w="4763" cap="flat" cmpd="sng" algn="ctr">
                      <a:solidFill>
                        <a:srgbClr val="A2A9B1"/>
                      </a:solidFill>
                      <a:prstDash val="solid"/>
                      <a:round/>
                      <a:headEnd type="none" w="med" len="med"/>
                      <a:tailEnd type="none" w="med" len="med"/>
                    </a:lnL>
                    <a:lnR w="4763" cap="flat" cmpd="sng" algn="ctr">
                      <a:solidFill>
                        <a:srgbClr val="A2A9B1"/>
                      </a:solidFill>
                      <a:prstDash val="solid"/>
                      <a:round/>
                      <a:headEnd type="none" w="med" len="med"/>
                      <a:tailEnd type="none" w="med" len="med"/>
                    </a:lnR>
                    <a:lnT w="4763" cap="flat" cmpd="sng" algn="ctr">
                      <a:solidFill>
                        <a:srgbClr val="A2A9B1"/>
                      </a:solidFill>
                      <a:prstDash val="solid"/>
                      <a:round/>
                      <a:headEnd type="none" w="med" len="med"/>
                      <a:tailEnd type="none" w="med" len="med"/>
                    </a:lnT>
                    <a:lnB w="4763"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val="2795842797"/>
                  </a:ext>
                </a:extLst>
              </a:tr>
              <a:tr h="387052">
                <a:tc>
                  <a:txBody>
                    <a:bodyPr/>
                    <a:lstStyle/>
                    <a:p>
                      <a:pPr>
                        <a:buNone/>
                      </a:pPr>
                      <a:r>
                        <a:rPr lang="en-US" sz="1400">
                          <a:solidFill>
                            <a:srgbClr val="202122"/>
                          </a:solidFill>
                          <a:effectLst/>
                        </a:rPr>
                        <a:t>3.11</a:t>
                      </a:r>
                    </a:p>
                  </a:txBody>
                  <a:tcPr marL="34789" marR="34789" marT="17394" marB="17394" anchor="ctr">
                    <a:lnL w="4763" cap="flat" cmpd="sng" algn="ctr">
                      <a:solidFill>
                        <a:srgbClr val="A2A9B1"/>
                      </a:solidFill>
                      <a:prstDash val="solid"/>
                      <a:round/>
                      <a:headEnd type="none" w="med" len="med"/>
                      <a:tailEnd type="none" w="med" len="med"/>
                    </a:lnL>
                    <a:lnR w="4763" cap="flat" cmpd="sng" algn="ctr">
                      <a:solidFill>
                        <a:srgbClr val="A2A9B1"/>
                      </a:solidFill>
                      <a:prstDash val="solid"/>
                      <a:round/>
                      <a:headEnd type="none" w="med" len="med"/>
                      <a:tailEnd type="none" w="med" len="med"/>
                    </a:lnR>
                    <a:lnT w="4763" cap="flat" cmpd="sng" algn="ctr">
                      <a:solidFill>
                        <a:srgbClr val="A2A9B1"/>
                      </a:solidFill>
                      <a:prstDash val="solid"/>
                      <a:round/>
                      <a:headEnd type="none" w="med" len="med"/>
                      <a:tailEnd type="none" w="med" len="med"/>
                    </a:lnT>
                    <a:lnB w="4763" cap="flat" cmpd="sng" algn="ctr">
                      <a:solidFill>
                        <a:srgbClr val="A2A9B1"/>
                      </a:solidFill>
                      <a:prstDash val="solid"/>
                      <a:round/>
                      <a:headEnd type="none" w="med" len="med"/>
                      <a:tailEnd type="none" w="med" len="med"/>
                    </a:lnB>
                    <a:solidFill>
                      <a:srgbClr val="FDB3AB"/>
                    </a:solidFill>
                  </a:tcPr>
                </a:tc>
                <a:tc>
                  <a:txBody>
                    <a:bodyPr/>
                    <a:lstStyle/>
                    <a:p>
                      <a:pPr>
                        <a:buNone/>
                      </a:pPr>
                      <a:r>
                        <a:rPr lang="en-US" sz="1400">
                          <a:effectLst/>
                        </a:rPr>
                        <a:t>2017-06-23</a:t>
                      </a:r>
                    </a:p>
                  </a:txBody>
                  <a:tcPr marL="34789" marR="34789" marT="17394" marB="17394" anchor="ctr">
                    <a:lnL w="4763" cap="flat" cmpd="sng" algn="ctr">
                      <a:solidFill>
                        <a:srgbClr val="A2A9B1"/>
                      </a:solidFill>
                      <a:prstDash val="solid"/>
                      <a:round/>
                      <a:headEnd type="none" w="med" len="med"/>
                      <a:tailEnd type="none" w="med" len="med"/>
                    </a:lnL>
                    <a:lnR w="4763" cap="flat" cmpd="sng" algn="ctr">
                      <a:solidFill>
                        <a:srgbClr val="A2A9B1"/>
                      </a:solidFill>
                      <a:prstDash val="solid"/>
                      <a:round/>
                      <a:headEnd type="none" w="med" len="med"/>
                      <a:tailEnd type="none" w="med" len="med"/>
                    </a:lnR>
                    <a:lnT w="4763" cap="flat" cmpd="sng" algn="ctr">
                      <a:solidFill>
                        <a:srgbClr val="A2A9B1"/>
                      </a:solidFill>
                      <a:prstDash val="solid"/>
                      <a:round/>
                      <a:headEnd type="none" w="med" len="med"/>
                      <a:tailEnd type="none" w="med" len="med"/>
                    </a:lnT>
                    <a:lnB w="4763" cap="flat" cmpd="sng" algn="ctr">
                      <a:solidFill>
                        <a:srgbClr val="A2A9B1"/>
                      </a:solidFill>
                      <a:prstDash val="solid"/>
                      <a:round/>
                      <a:headEnd type="none" w="med" len="med"/>
                      <a:tailEnd type="none" w="med" len="med"/>
                    </a:lnB>
                    <a:solidFill>
                      <a:srgbClr val="F8F9FA"/>
                    </a:solidFill>
                  </a:tcPr>
                </a:tc>
                <a:tc>
                  <a:txBody>
                    <a:bodyPr/>
                    <a:lstStyle/>
                    <a:p>
                      <a:pPr>
                        <a:buNone/>
                      </a:pPr>
                      <a:r>
                        <a:rPr lang="en-US" sz="1400">
                          <a:effectLst/>
                        </a:rPr>
                        <a:t>3.11.15</a:t>
                      </a:r>
                    </a:p>
                  </a:txBody>
                  <a:tcPr marL="34789" marR="34789" marT="17394" marB="17394" anchor="ctr">
                    <a:lnL w="4763" cap="flat" cmpd="sng" algn="ctr">
                      <a:solidFill>
                        <a:srgbClr val="A2A9B1"/>
                      </a:solidFill>
                      <a:prstDash val="solid"/>
                      <a:round/>
                      <a:headEnd type="none" w="med" len="med"/>
                      <a:tailEnd type="none" w="med" len="med"/>
                    </a:lnL>
                    <a:lnR w="4763" cap="flat" cmpd="sng" algn="ctr">
                      <a:solidFill>
                        <a:srgbClr val="A2A9B1"/>
                      </a:solidFill>
                      <a:prstDash val="solid"/>
                      <a:round/>
                      <a:headEnd type="none" w="med" len="med"/>
                      <a:tailEnd type="none" w="med" len="med"/>
                    </a:lnR>
                    <a:lnT w="4763" cap="flat" cmpd="sng" algn="ctr">
                      <a:solidFill>
                        <a:srgbClr val="A2A9B1"/>
                      </a:solidFill>
                      <a:prstDash val="solid"/>
                      <a:round/>
                      <a:headEnd type="none" w="med" len="med"/>
                      <a:tailEnd type="none" w="med" len="med"/>
                    </a:lnT>
                    <a:lnB w="4763" cap="flat" cmpd="sng" algn="ctr">
                      <a:solidFill>
                        <a:srgbClr val="A2A9B1"/>
                      </a:solidFill>
                      <a:prstDash val="solid"/>
                      <a:round/>
                      <a:headEnd type="none" w="med" len="med"/>
                      <a:tailEnd type="none" w="med" len="med"/>
                    </a:lnB>
                    <a:solidFill>
                      <a:srgbClr val="F8F9FA"/>
                    </a:solidFill>
                  </a:tcPr>
                </a:tc>
                <a:tc>
                  <a:txBody>
                    <a:bodyPr/>
                    <a:lstStyle/>
                    <a:p>
                      <a:pPr>
                        <a:buNone/>
                      </a:pPr>
                      <a:r>
                        <a:rPr lang="en-US" sz="1400">
                          <a:effectLst/>
                        </a:rPr>
                        <a:t>2023-05-05</a:t>
                      </a:r>
                    </a:p>
                  </a:txBody>
                  <a:tcPr marL="34789" marR="34789" marT="17394" marB="17394" anchor="ctr">
                    <a:lnL w="4763" cap="flat" cmpd="sng" algn="ctr">
                      <a:solidFill>
                        <a:srgbClr val="A2A9B1"/>
                      </a:solidFill>
                      <a:prstDash val="solid"/>
                      <a:round/>
                      <a:headEnd type="none" w="med" len="med"/>
                      <a:tailEnd type="none" w="med" len="med"/>
                    </a:lnL>
                    <a:lnR w="4763" cap="flat" cmpd="sng" algn="ctr">
                      <a:solidFill>
                        <a:srgbClr val="A2A9B1"/>
                      </a:solidFill>
                      <a:prstDash val="solid"/>
                      <a:round/>
                      <a:headEnd type="none" w="med" len="med"/>
                      <a:tailEnd type="none" w="med" len="med"/>
                    </a:lnR>
                    <a:lnT w="4763" cap="flat" cmpd="sng" algn="ctr">
                      <a:solidFill>
                        <a:srgbClr val="A2A9B1"/>
                      </a:solidFill>
                      <a:prstDash val="solid"/>
                      <a:round/>
                      <a:headEnd type="none" w="med" len="med"/>
                      <a:tailEnd type="none" w="med" len="med"/>
                    </a:lnT>
                    <a:lnB w="4763" cap="flat" cmpd="sng" algn="ctr">
                      <a:solidFill>
                        <a:srgbClr val="A2A9B1"/>
                      </a:solidFill>
                      <a:prstDash val="solid"/>
                      <a:round/>
                      <a:headEnd type="none" w="med" len="med"/>
                      <a:tailEnd type="none" w="med" len="med"/>
                    </a:lnB>
                    <a:solidFill>
                      <a:srgbClr val="F8F9FA"/>
                    </a:solidFill>
                  </a:tcPr>
                </a:tc>
                <a:tc>
                  <a:txBody>
                    <a:bodyPr/>
                    <a:lstStyle/>
                    <a:p>
                      <a:pPr>
                        <a:buNone/>
                      </a:pPr>
                      <a:r>
                        <a:rPr lang="en-US" sz="1400">
                          <a:effectLst/>
                        </a:rPr>
                        <a:t>No longer maintained</a:t>
                      </a:r>
                    </a:p>
                  </a:txBody>
                  <a:tcPr marL="34789" marR="34789" marT="17394" marB="17394" anchor="ctr">
                    <a:lnL w="4763" cap="flat" cmpd="sng" algn="ctr">
                      <a:solidFill>
                        <a:srgbClr val="A2A9B1"/>
                      </a:solidFill>
                      <a:prstDash val="solid"/>
                      <a:round/>
                      <a:headEnd type="none" w="med" len="med"/>
                      <a:tailEnd type="none" w="med" len="med"/>
                    </a:lnL>
                    <a:lnR w="4763" cap="flat" cmpd="sng" algn="ctr">
                      <a:solidFill>
                        <a:srgbClr val="A2A9B1"/>
                      </a:solidFill>
                      <a:prstDash val="solid"/>
                      <a:round/>
                      <a:headEnd type="none" w="med" len="med"/>
                      <a:tailEnd type="none" w="med" len="med"/>
                    </a:lnR>
                    <a:lnT w="4763" cap="flat" cmpd="sng" algn="ctr">
                      <a:solidFill>
                        <a:srgbClr val="A2A9B1"/>
                      </a:solidFill>
                      <a:prstDash val="solid"/>
                      <a:round/>
                      <a:headEnd type="none" w="med" len="med"/>
                      <a:tailEnd type="none" w="med" len="med"/>
                    </a:lnT>
                    <a:lnB w="4763"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val="2600476420"/>
                  </a:ext>
                </a:extLst>
              </a:tr>
              <a:tr h="387052">
                <a:tc>
                  <a:txBody>
                    <a:bodyPr/>
                    <a:lstStyle/>
                    <a:p>
                      <a:pPr>
                        <a:buNone/>
                      </a:pPr>
                      <a:r>
                        <a:rPr lang="en-US" sz="1400">
                          <a:solidFill>
                            <a:srgbClr val="202122"/>
                          </a:solidFill>
                          <a:effectLst/>
                        </a:rPr>
                        <a:t>4.0</a:t>
                      </a:r>
                    </a:p>
                  </a:txBody>
                  <a:tcPr marL="34789" marR="34789" marT="17394" marB="17394" anchor="ctr">
                    <a:lnL w="4763" cap="flat" cmpd="sng" algn="ctr">
                      <a:solidFill>
                        <a:srgbClr val="A2A9B1"/>
                      </a:solidFill>
                      <a:prstDash val="solid"/>
                      <a:round/>
                      <a:headEnd type="none" w="med" len="med"/>
                      <a:tailEnd type="none" w="med" len="med"/>
                    </a:lnL>
                    <a:lnR w="4763" cap="flat" cmpd="sng" algn="ctr">
                      <a:solidFill>
                        <a:srgbClr val="A2A9B1"/>
                      </a:solidFill>
                      <a:prstDash val="solid"/>
                      <a:round/>
                      <a:headEnd type="none" w="med" len="med"/>
                      <a:tailEnd type="none" w="med" len="med"/>
                    </a:lnR>
                    <a:lnT w="4763" cap="flat" cmpd="sng" algn="ctr">
                      <a:solidFill>
                        <a:srgbClr val="A2A9B1"/>
                      </a:solidFill>
                      <a:prstDash val="solid"/>
                      <a:round/>
                      <a:headEnd type="none" w="med" len="med"/>
                      <a:tailEnd type="none" w="med" len="med"/>
                    </a:lnT>
                    <a:lnB w="4763" cap="flat" cmpd="sng" algn="ctr">
                      <a:solidFill>
                        <a:srgbClr val="A2A9B1"/>
                      </a:solidFill>
                      <a:prstDash val="solid"/>
                      <a:round/>
                      <a:headEnd type="none" w="med" len="med"/>
                      <a:tailEnd type="none" w="med" len="med"/>
                    </a:lnB>
                    <a:solidFill>
                      <a:srgbClr val="F8EABA"/>
                    </a:solidFill>
                  </a:tcPr>
                </a:tc>
                <a:tc>
                  <a:txBody>
                    <a:bodyPr/>
                    <a:lstStyle/>
                    <a:p>
                      <a:pPr>
                        <a:buNone/>
                      </a:pPr>
                      <a:r>
                        <a:rPr lang="en-US" sz="1400">
                          <a:effectLst/>
                        </a:rPr>
                        <a:t>2021-07-26</a:t>
                      </a:r>
                    </a:p>
                  </a:txBody>
                  <a:tcPr marL="34789" marR="34789" marT="17394" marB="17394" anchor="ctr">
                    <a:lnL w="4763" cap="flat" cmpd="sng" algn="ctr">
                      <a:solidFill>
                        <a:srgbClr val="A2A9B1"/>
                      </a:solidFill>
                      <a:prstDash val="solid"/>
                      <a:round/>
                      <a:headEnd type="none" w="med" len="med"/>
                      <a:tailEnd type="none" w="med" len="med"/>
                    </a:lnL>
                    <a:lnR w="4763" cap="flat" cmpd="sng" algn="ctr">
                      <a:solidFill>
                        <a:srgbClr val="A2A9B1"/>
                      </a:solidFill>
                      <a:prstDash val="solid"/>
                      <a:round/>
                      <a:headEnd type="none" w="med" len="med"/>
                      <a:tailEnd type="none" w="med" len="med"/>
                    </a:lnR>
                    <a:lnT w="4763" cap="flat" cmpd="sng" algn="ctr">
                      <a:solidFill>
                        <a:srgbClr val="A2A9B1"/>
                      </a:solidFill>
                      <a:prstDash val="solid"/>
                      <a:round/>
                      <a:headEnd type="none" w="med" len="med"/>
                      <a:tailEnd type="none" w="med" len="med"/>
                    </a:lnT>
                    <a:lnB w="4763" cap="flat" cmpd="sng" algn="ctr">
                      <a:solidFill>
                        <a:srgbClr val="A2A9B1"/>
                      </a:solidFill>
                      <a:prstDash val="solid"/>
                      <a:round/>
                      <a:headEnd type="none" w="med" len="med"/>
                      <a:tailEnd type="none" w="med" len="med"/>
                    </a:lnB>
                    <a:solidFill>
                      <a:srgbClr val="F8F9FA"/>
                    </a:solidFill>
                  </a:tcPr>
                </a:tc>
                <a:tc>
                  <a:txBody>
                    <a:bodyPr/>
                    <a:lstStyle/>
                    <a:p>
                      <a:pPr>
                        <a:buNone/>
                      </a:pPr>
                      <a:r>
                        <a:rPr lang="en-US" sz="1400">
                          <a:effectLst/>
                        </a:rPr>
                        <a:t>4.0.18</a:t>
                      </a:r>
                    </a:p>
                  </a:txBody>
                  <a:tcPr marL="34789" marR="34789" marT="17394" marB="17394" anchor="ctr">
                    <a:lnL w="4763" cap="flat" cmpd="sng" algn="ctr">
                      <a:solidFill>
                        <a:srgbClr val="A2A9B1"/>
                      </a:solidFill>
                      <a:prstDash val="solid"/>
                      <a:round/>
                      <a:headEnd type="none" w="med" len="med"/>
                      <a:tailEnd type="none" w="med" len="med"/>
                    </a:lnL>
                    <a:lnR w="4763" cap="flat" cmpd="sng" algn="ctr">
                      <a:solidFill>
                        <a:srgbClr val="A2A9B1"/>
                      </a:solidFill>
                      <a:prstDash val="solid"/>
                      <a:round/>
                      <a:headEnd type="none" w="med" len="med"/>
                      <a:tailEnd type="none" w="med" len="med"/>
                    </a:lnR>
                    <a:lnT w="4763" cap="flat" cmpd="sng" algn="ctr">
                      <a:solidFill>
                        <a:srgbClr val="A2A9B1"/>
                      </a:solidFill>
                      <a:prstDash val="solid"/>
                      <a:round/>
                      <a:headEnd type="none" w="med" len="med"/>
                      <a:tailEnd type="none" w="med" len="med"/>
                    </a:lnT>
                    <a:lnB w="4763" cap="flat" cmpd="sng" algn="ctr">
                      <a:solidFill>
                        <a:srgbClr val="A2A9B1"/>
                      </a:solidFill>
                      <a:prstDash val="solid"/>
                      <a:round/>
                      <a:headEnd type="none" w="med" len="med"/>
                      <a:tailEnd type="none" w="med" len="med"/>
                    </a:lnB>
                    <a:solidFill>
                      <a:srgbClr val="F8F9FA"/>
                    </a:solidFill>
                  </a:tcPr>
                </a:tc>
                <a:tc>
                  <a:txBody>
                    <a:bodyPr/>
                    <a:lstStyle/>
                    <a:p>
                      <a:pPr>
                        <a:buNone/>
                      </a:pPr>
                      <a:r>
                        <a:rPr lang="en-US" sz="1400">
                          <a:effectLst/>
                        </a:rPr>
                        <a:t>2025-05-28</a:t>
                      </a:r>
                    </a:p>
                  </a:txBody>
                  <a:tcPr marL="34789" marR="34789" marT="17394" marB="17394" anchor="ctr">
                    <a:lnL w="4763" cap="flat" cmpd="sng" algn="ctr">
                      <a:solidFill>
                        <a:srgbClr val="A2A9B1"/>
                      </a:solidFill>
                      <a:prstDash val="solid"/>
                      <a:round/>
                      <a:headEnd type="none" w="med" len="med"/>
                      <a:tailEnd type="none" w="med" len="med"/>
                    </a:lnL>
                    <a:lnR w="4763" cap="flat" cmpd="sng" algn="ctr">
                      <a:solidFill>
                        <a:srgbClr val="A2A9B1"/>
                      </a:solidFill>
                      <a:prstDash val="solid"/>
                      <a:round/>
                      <a:headEnd type="none" w="med" len="med"/>
                      <a:tailEnd type="none" w="med" len="med"/>
                    </a:lnR>
                    <a:lnT w="4763" cap="flat" cmpd="sng" algn="ctr">
                      <a:solidFill>
                        <a:srgbClr val="A2A9B1"/>
                      </a:solidFill>
                      <a:prstDash val="solid"/>
                      <a:round/>
                      <a:headEnd type="none" w="med" len="med"/>
                      <a:tailEnd type="none" w="med" len="med"/>
                    </a:lnT>
                    <a:lnB w="4763" cap="flat" cmpd="sng" algn="ctr">
                      <a:solidFill>
                        <a:srgbClr val="A2A9B1"/>
                      </a:solidFill>
                      <a:prstDash val="solid"/>
                      <a:round/>
                      <a:headEnd type="none" w="med" len="med"/>
                      <a:tailEnd type="none" w="med" len="med"/>
                    </a:lnB>
                    <a:solidFill>
                      <a:srgbClr val="F8F9FA"/>
                    </a:solidFill>
                  </a:tcPr>
                </a:tc>
                <a:tc>
                  <a:txBody>
                    <a:bodyPr/>
                    <a:lstStyle/>
                    <a:p>
                      <a:pPr>
                        <a:buNone/>
                      </a:pPr>
                      <a:r>
                        <a:rPr lang="en-US" sz="1400">
                          <a:effectLst/>
                        </a:rPr>
                        <a:t>Maintained until 5.1.0 release</a:t>
                      </a:r>
                    </a:p>
                  </a:txBody>
                  <a:tcPr marL="34789" marR="34789" marT="17394" marB="17394" anchor="ctr">
                    <a:lnL w="4763" cap="flat" cmpd="sng" algn="ctr">
                      <a:solidFill>
                        <a:srgbClr val="A2A9B1"/>
                      </a:solidFill>
                      <a:prstDash val="solid"/>
                      <a:round/>
                      <a:headEnd type="none" w="med" len="med"/>
                      <a:tailEnd type="none" w="med" len="med"/>
                    </a:lnL>
                    <a:lnR w="4763" cap="flat" cmpd="sng" algn="ctr">
                      <a:solidFill>
                        <a:srgbClr val="A2A9B1"/>
                      </a:solidFill>
                      <a:prstDash val="solid"/>
                      <a:round/>
                      <a:headEnd type="none" w="med" len="med"/>
                      <a:tailEnd type="none" w="med" len="med"/>
                    </a:lnR>
                    <a:lnT w="4763" cap="flat" cmpd="sng" algn="ctr">
                      <a:solidFill>
                        <a:srgbClr val="A2A9B1"/>
                      </a:solidFill>
                      <a:prstDash val="solid"/>
                      <a:round/>
                      <a:headEnd type="none" w="med" len="med"/>
                      <a:tailEnd type="none" w="med" len="med"/>
                    </a:lnT>
                    <a:lnB w="4763"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val="3997447464"/>
                  </a:ext>
                </a:extLst>
              </a:tr>
              <a:tr h="387052">
                <a:tc>
                  <a:txBody>
                    <a:bodyPr/>
                    <a:lstStyle/>
                    <a:p>
                      <a:pPr>
                        <a:buNone/>
                      </a:pPr>
                      <a:r>
                        <a:rPr lang="en-US" sz="1400">
                          <a:solidFill>
                            <a:srgbClr val="202122"/>
                          </a:solidFill>
                          <a:effectLst/>
                        </a:rPr>
                        <a:t>4.1</a:t>
                      </a:r>
                    </a:p>
                  </a:txBody>
                  <a:tcPr marL="34789" marR="34789" marT="17394" marB="17394" anchor="ctr">
                    <a:lnL w="4763" cap="flat" cmpd="sng" algn="ctr">
                      <a:solidFill>
                        <a:srgbClr val="A2A9B1"/>
                      </a:solidFill>
                      <a:prstDash val="solid"/>
                      <a:round/>
                      <a:headEnd type="none" w="med" len="med"/>
                      <a:tailEnd type="none" w="med" len="med"/>
                    </a:lnL>
                    <a:lnR w="4763" cap="flat" cmpd="sng" algn="ctr">
                      <a:solidFill>
                        <a:srgbClr val="A2A9B1"/>
                      </a:solidFill>
                      <a:prstDash val="solid"/>
                      <a:round/>
                      <a:headEnd type="none" w="med" len="med"/>
                      <a:tailEnd type="none" w="med" len="med"/>
                    </a:lnR>
                    <a:lnT w="4763" cap="flat" cmpd="sng" algn="ctr">
                      <a:solidFill>
                        <a:srgbClr val="A2A9B1"/>
                      </a:solidFill>
                      <a:prstDash val="solid"/>
                      <a:round/>
                      <a:headEnd type="none" w="med" len="med"/>
                      <a:tailEnd type="none" w="med" len="med"/>
                    </a:lnT>
                    <a:lnB w="4763" cap="flat" cmpd="sng" algn="ctr">
                      <a:solidFill>
                        <a:srgbClr val="A2A9B1"/>
                      </a:solidFill>
                      <a:prstDash val="solid"/>
                      <a:round/>
                      <a:headEnd type="none" w="med" len="med"/>
                      <a:tailEnd type="none" w="med" len="med"/>
                    </a:lnB>
                    <a:solidFill>
                      <a:srgbClr val="F8EABA"/>
                    </a:solidFill>
                  </a:tcPr>
                </a:tc>
                <a:tc>
                  <a:txBody>
                    <a:bodyPr/>
                    <a:lstStyle/>
                    <a:p>
                      <a:pPr>
                        <a:buNone/>
                      </a:pPr>
                      <a:r>
                        <a:rPr lang="en-US" sz="1400">
                          <a:effectLst/>
                        </a:rPr>
                        <a:t>2022-06-17</a:t>
                      </a:r>
                    </a:p>
                  </a:txBody>
                  <a:tcPr marL="34789" marR="34789" marT="17394" marB="17394" anchor="ctr">
                    <a:lnL w="4763" cap="flat" cmpd="sng" algn="ctr">
                      <a:solidFill>
                        <a:srgbClr val="A2A9B1"/>
                      </a:solidFill>
                      <a:prstDash val="solid"/>
                      <a:round/>
                      <a:headEnd type="none" w="med" len="med"/>
                      <a:tailEnd type="none" w="med" len="med"/>
                    </a:lnL>
                    <a:lnR w="4763" cap="flat" cmpd="sng" algn="ctr">
                      <a:solidFill>
                        <a:srgbClr val="A2A9B1"/>
                      </a:solidFill>
                      <a:prstDash val="solid"/>
                      <a:round/>
                      <a:headEnd type="none" w="med" len="med"/>
                      <a:tailEnd type="none" w="med" len="med"/>
                    </a:lnR>
                    <a:lnT w="4763" cap="flat" cmpd="sng" algn="ctr">
                      <a:solidFill>
                        <a:srgbClr val="A2A9B1"/>
                      </a:solidFill>
                      <a:prstDash val="solid"/>
                      <a:round/>
                      <a:headEnd type="none" w="med" len="med"/>
                      <a:tailEnd type="none" w="med" len="med"/>
                    </a:lnT>
                    <a:lnB w="4763" cap="flat" cmpd="sng" algn="ctr">
                      <a:solidFill>
                        <a:srgbClr val="A2A9B1"/>
                      </a:solidFill>
                      <a:prstDash val="solid"/>
                      <a:round/>
                      <a:headEnd type="none" w="med" len="med"/>
                      <a:tailEnd type="none" w="med" len="med"/>
                    </a:lnB>
                    <a:solidFill>
                      <a:srgbClr val="F8F9FA"/>
                    </a:solidFill>
                  </a:tcPr>
                </a:tc>
                <a:tc>
                  <a:txBody>
                    <a:bodyPr/>
                    <a:lstStyle/>
                    <a:p>
                      <a:pPr>
                        <a:buNone/>
                      </a:pPr>
                      <a:r>
                        <a:rPr lang="en-US" sz="1400">
                          <a:effectLst/>
                        </a:rPr>
                        <a:t>4.1.9</a:t>
                      </a:r>
                    </a:p>
                  </a:txBody>
                  <a:tcPr marL="34789" marR="34789" marT="17394" marB="17394" anchor="ctr">
                    <a:lnL w="4763" cap="flat" cmpd="sng" algn="ctr">
                      <a:solidFill>
                        <a:srgbClr val="A2A9B1"/>
                      </a:solidFill>
                      <a:prstDash val="solid"/>
                      <a:round/>
                      <a:headEnd type="none" w="med" len="med"/>
                      <a:tailEnd type="none" w="med" len="med"/>
                    </a:lnL>
                    <a:lnR w="4763" cap="flat" cmpd="sng" algn="ctr">
                      <a:solidFill>
                        <a:srgbClr val="A2A9B1"/>
                      </a:solidFill>
                      <a:prstDash val="solid"/>
                      <a:round/>
                      <a:headEnd type="none" w="med" len="med"/>
                      <a:tailEnd type="none" w="med" len="med"/>
                    </a:lnR>
                    <a:lnT w="4763" cap="flat" cmpd="sng" algn="ctr">
                      <a:solidFill>
                        <a:srgbClr val="A2A9B1"/>
                      </a:solidFill>
                      <a:prstDash val="solid"/>
                      <a:round/>
                      <a:headEnd type="none" w="med" len="med"/>
                      <a:tailEnd type="none" w="med" len="med"/>
                    </a:lnT>
                    <a:lnB w="4763" cap="flat" cmpd="sng" algn="ctr">
                      <a:solidFill>
                        <a:srgbClr val="A2A9B1"/>
                      </a:solidFill>
                      <a:prstDash val="solid"/>
                      <a:round/>
                      <a:headEnd type="none" w="med" len="med"/>
                      <a:tailEnd type="none" w="med" len="med"/>
                    </a:lnB>
                    <a:solidFill>
                      <a:srgbClr val="F8F9FA"/>
                    </a:solidFill>
                  </a:tcPr>
                </a:tc>
                <a:tc>
                  <a:txBody>
                    <a:bodyPr/>
                    <a:lstStyle/>
                    <a:p>
                      <a:pPr>
                        <a:buNone/>
                      </a:pPr>
                      <a:r>
                        <a:rPr lang="en-US" sz="1400">
                          <a:effectLst/>
                        </a:rPr>
                        <a:t>2025-05-19</a:t>
                      </a:r>
                    </a:p>
                  </a:txBody>
                  <a:tcPr marL="34789" marR="34789" marT="17394" marB="17394" anchor="ctr">
                    <a:lnL w="4763" cap="flat" cmpd="sng" algn="ctr">
                      <a:solidFill>
                        <a:srgbClr val="A2A9B1"/>
                      </a:solidFill>
                      <a:prstDash val="solid"/>
                      <a:round/>
                      <a:headEnd type="none" w="med" len="med"/>
                      <a:tailEnd type="none" w="med" len="med"/>
                    </a:lnL>
                    <a:lnR w="4763" cap="flat" cmpd="sng" algn="ctr">
                      <a:solidFill>
                        <a:srgbClr val="A2A9B1"/>
                      </a:solidFill>
                      <a:prstDash val="solid"/>
                      <a:round/>
                      <a:headEnd type="none" w="med" len="med"/>
                      <a:tailEnd type="none" w="med" len="med"/>
                    </a:lnR>
                    <a:lnT w="4763" cap="flat" cmpd="sng" algn="ctr">
                      <a:solidFill>
                        <a:srgbClr val="A2A9B1"/>
                      </a:solidFill>
                      <a:prstDash val="solid"/>
                      <a:round/>
                      <a:headEnd type="none" w="med" len="med"/>
                      <a:tailEnd type="none" w="med" len="med"/>
                    </a:lnT>
                    <a:lnB w="4763" cap="flat" cmpd="sng" algn="ctr">
                      <a:solidFill>
                        <a:srgbClr val="A2A9B1"/>
                      </a:solidFill>
                      <a:prstDash val="solid"/>
                      <a:round/>
                      <a:headEnd type="none" w="med" len="med"/>
                      <a:tailEnd type="none" w="med" len="med"/>
                    </a:lnB>
                    <a:solidFill>
                      <a:srgbClr val="F8F9FA"/>
                    </a:solidFill>
                  </a:tcPr>
                </a:tc>
                <a:tc>
                  <a:txBody>
                    <a:bodyPr/>
                    <a:lstStyle/>
                    <a:p>
                      <a:pPr>
                        <a:buNone/>
                      </a:pPr>
                      <a:r>
                        <a:rPr lang="en-US" sz="1400">
                          <a:effectLst/>
                        </a:rPr>
                        <a:t>Maintained until 5.2.0 release</a:t>
                      </a:r>
                    </a:p>
                  </a:txBody>
                  <a:tcPr marL="34789" marR="34789" marT="17394" marB="17394" anchor="ctr">
                    <a:lnL w="4763" cap="flat" cmpd="sng" algn="ctr">
                      <a:solidFill>
                        <a:srgbClr val="A2A9B1"/>
                      </a:solidFill>
                      <a:prstDash val="solid"/>
                      <a:round/>
                      <a:headEnd type="none" w="med" len="med"/>
                      <a:tailEnd type="none" w="med" len="med"/>
                    </a:lnL>
                    <a:lnR w="4763" cap="flat" cmpd="sng" algn="ctr">
                      <a:solidFill>
                        <a:srgbClr val="A2A9B1"/>
                      </a:solidFill>
                      <a:prstDash val="solid"/>
                      <a:round/>
                      <a:headEnd type="none" w="med" len="med"/>
                      <a:tailEnd type="none" w="med" len="med"/>
                    </a:lnR>
                    <a:lnT w="4763" cap="flat" cmpd="sng" algn="ctr">
                      <a:solidFill>
                        <a:srgbClr val="A2A9B1"/>
                      </a:solidFill>
                      <a:prstDash val="solid"/>
                      <a:round/>
                      <a:headEnd type="none" w="med" len="med"/>
                      <a:tailEnd type="none" w="med" len="med"/>
                    </a:lnT>
                    <a:lnB w="4763"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val="3037001252"/>
                  </a:ext>
                </a:extLst>
              </a:tr>
              <a:tr h="553448">
                <a:tc>
                  <a:txBody>
                    <a:bodyPr/>
                    <a:lstStyle/>
                    <a:p>
                      <a:pPr>
                        <a:buNone/>
                      </a:pPr>
                      <a:r>
                        <a:rPr lang="en-US" sz="1400" b="1">
                          <a:solidFill>
                            <a:srgbClr val="202122"/>
                          </a:solidFill>
                          <a:effectLst/>
                        </a:rPr>
                        <a:t>5.0</a:t>
                      </a:r>
                      <a:endParaRPr lang="en-US" sz="1400">
                        <a:solidFill>
                          <a:srgbClr val="202122"/>
                        </a:solidFill>
                        <a:effectLst/>
                      </a:endParaRPr>
                    </a:p>
                  </a:txBody>
                  <a:tcPr marL="34789" marR="34789" marT="17394" marB="17394" anchor="ctr">
                    <a:lnL w="4763" cap="flat" cmpd="sng" algn="ctr">
                      <a:solidFill>
                        <a:srgbClr val="A2A9B1"/>
                      </a:solidFill>
                      <a:prstDash val="solid"/>
                      <a:round/>
                      <a:headEnd type="none" w="med" len="med"/>
                      <a:tailEnd type="none" w="med" len="med"/>
                    </a:lnL>
                    <a:lnR w="4763" cap="flat" cmpd="sng" algn="ctr">
                      <a:solidFill>
                        <a:srgbClr val="A2A9B1"/>
                      </a:solidFill>
                      <a:prstDash val="solid"/>
                      <a:round/>
                      <a:headEnd type="none" w="med" len="med"/>
                      <a:tailEnd type="none" w="med" len="med"/>
                    </a:lnR>
                    <a:lnT w="4763" cap="flat" cmpd="sng" algn="ctr">
                      <a:solidFill>
                        <a:srgbClr val="A2A9B1"/>
                      </a:solidFill>
                      <a:prstDash val="solid"/>
                      <a:round/>
                      <a:headEnd type="none" w="med" len="med"/>
                      <a:tailEnd type="none" w="med" len="med"/>
                    </a:lnT>
                    <a:lnB w="4763" cap="flat" cmpd="sng" algn="ctr">
                      <a:solidFill>
                        <a:srgbClr val="A2A9B1"/>
                      </a:solidFill>
                      <a:prstDash val="solid"/>
                      <a:round/>
                      <a:headEnd type="none" w="med" len="med"/>
                      <a:tailEnd type="none" w="med" len="med"/>
                    </a:lnB>
                    <a:solidFill>
                      <a:srgbClr val="D4F4B4"/>
                    </a:solidFill>
                  </a:tcPr>
                </a:tc>
                <a:tc>
                  <a:txBody>
                    <a:bodyPr/>
                    <a:lstStyle/>
                    <a:p>
                      <a:pPr>
                        <a:buNone/>
                      </a:pPr>
                      <a:r>
                        <a:rPr lang="en-US" sz="1400">
                          <a:effectLst/>
                        </a:rPr>
                        <a:t>2024-09-05</a:t>
                      </a:r>
                    </a:p>
                  </a:txBody>
                  <a:tcPr marL="34789" marR="34789" marT="17394" marB="17394" anchor="ctr">
                    <a:lnL w="4763" cap="flat" cmpd="sng" algn="ctr">
                      <a:solidFill>
                        <a:srgbClr val="A2A9B1"/>
                      </a:solidFill>
                      <a:prstDash val="solid"/>
                      <a:round/>
                      <a:headEnd type="none" w="med" len="med"/>
                      <a:tailEnd type="none" w="med" len="med"/>
                    </a:lnL>
                    <a:lnR w="4763" cap="flat" cmpd="sng" algn="ctr">
                      <a:solidFill>
                        <a:srgbClr val="A2A9B1"/>
                      </a:solidFill>
                      <a:prstDash val="solid"/>
                      <a:round/>
                      <a:headEnd type="none" w="med" len="med"/>
                      <a:tailEnd type="none" w="med" len="med"/>
                    </a:lnR>
                    <a:lnT w="4763" cap="flat" cmpd="sng" algn="ctr">
                      <a:solidFill>
                        <a:srgbClr val="A2A9B1"/>
                      </a:solidFill>
                      <a:prstDash val="solid"/>
                      <a:round/>
                      <a:headEnd type="none" w="med" len="med"/>
                      <a:tailEnd type="none" w="med" len="med"/>
                    </a:lnT>
                    <a:lnB w="4763" cap="flat" cmpd="sng" algn="ctr">
                      <a:solidFill>
                        <a:srgbClr val="A2A9B1"/>
                      </a:solidFill>
                      <a:prstDash val="solid"/>
                      <a:round/>
                      <a:headEnd type="none" w="med" len="med"/>
                      <a:tailEnd type="none" w="med" len="med"/>
                    </a:lnB>
                    <a:solidFill>
                      <a:srgbClr val="F8F9FA"/>
                    </a:solidFill>
                  </a:tcPr>
                </a:tc>
                <a:tc>
                  <a:txBody>
                    <a:bodyPr/>
                    <a:lstStyle/>
                    <a:p>
                      <a:pPr>
                        <a:buNone/>
                      </a:pPr>
                      <a:r>
                        <a:rPr lang="en-US" sz="1400">
                          <a:effectLst/>
                        </a:rPr>
                        <a:t>5.0.5</a:t>
                      </a:r>
                    </a:p>
                  </a:txBody>
                  <a:tcPr marL="34789" marR="34789" marT="17394" marB="17394" anchor="ctr">
                    <a:lnL w="4763" cap="flat" cmpd="sng" algn="ctr">
                      <a:solidFill>
                        <a:srgbClr val="A2A9B1"/>
                      </a:solidFill>
                      <a:prstDash val="solid"/>
                      <a:round/>
                      <a:headEnd type="none" w="med" len="med"/>
                      <a:tailEnd type="none" w="med" len="med"/>
                    </a:lnL>
                    <a:lnR w="4763" cap="flat" cmpd="sng" algn="ctr">
                      <a:solidFill>
                        <a:srgbClr val="A2A9B1"/>
                      </a:solidFill>
                      <a:prstDash val="solid"/>
                      <a:round/>
                      <a:headEnd type="none" w="med" len="med"/>
                      <a:tailEnd type="none" w="med" len="med"/>
                    </a:lnR>
                    <a:lnT w="4763" cap="flat" cmpd="sng" algn="ctr">
                      <a:solidFill>
                        <a:srgbClr val="A2A9B1"/>
                      </a:solidFill>
                      <a:prstDash val="solid"/>
                      <a:round/>
                      <a:headEnd type="none" w="med" len="med"/>
                      <a:tailEnd type="none" w="med" len="med"/>
                    </a:lnT>
                    <a:lnB w="4763" cap="flat" cmpd="sng" algn="ctr">
                      <a:solidFill>
                        <a:srgbClr val="A2A9B1"/>
                      </a:solidFill>
                      <a:prstDash val="solid"/>
                      <a:round/>
                      <a:headEnd type="none" w="med" len="med"/>
                      <a:tailEnd type="none" w="med" len="med"/>
                    </a:lnB>
                    <a:solidFill>
                      <a:srgbClr val="F8F9FA"/>
                    </a:solidFill>
                  </a:tcPr>
                </a:tc>
                <a:tc>
                  <a:txBody>
                    <a:bodyPr/>
                    <a:lstStyle/>
                    <a:p>
                      <a:pPr>
                        <a:buNone/>
                      </a:pPr>
                      <a:r>
                        <a:rPr lang="en-US" sz="1400">
                          <a:effectLst/>
                        </a:rPr>
                        <a:t>2025-08-05</a:t>
                      </a:r>
                    </a:p>
                  </a:txBody>
                  <a:tcPr marL="34789" marR="34789" marT="17394" marB="17394" anchor="ctr">
                    <a:lnL w="4763" cap="flat" cmpd="sng" algn="ctr">
                      <a:solidFill>
                        <a:srgbClr val="A2A9B1"/>
                      </a:solidFill>
                      <a:prstDash val="solid"/>
                      <a:round/>
                      <a:headEnd type="none" w="med" len="med"/>
                      <a:tailEnd type="none" w="med" len="med"/>
                    </a:lnL>
                    <a:lnR w="4763" cap="flat" cmpd="sng" algn="ctr">
                      <a:solidFill>
                        <a:srgbClr val="A2A9B1"/>
                      </a:solidFill>
                      <a:prstDash val="solid"/>
                      <a:round/>
                      <a:headEnd type="none" w="med" len="med"/>
                      <a:tailEnd type="none" w="med" len="med"/>
                    </a:lnR>
                    <a:lnT w="4763" cap="flat" cmpd="sng" algn="ctr">
                      <a:solidFill>
                        <a:srgbClr val="A2A9B1"/>
                      </a:solidFill>
                      <a:prstDash val="solid"/>
                      <a:round/>
                      <a:headEnd type="none" w="med" len="med"/>
                      <a:tailEnd type="none" w="med" len="med"/>
                    </a:lnT>
                    <a:lnB w="4763" cap="flat" cmpd="sng" algn="ctr">
                      <a:solidFill>
                        <a:srgbClr val="A2A9B1"/>
                      </a:solidFill>
                      <a:prstDash val="solid"/>
                      <a:round/>
                      <a:headEnd type="none" w="med" len="med"/>
                      <a:tailEnd type="none" w="med" len="med"/>
                    </a:lnB>
                    <a:solidFill>
                      <a:srgbClr val="F8F9FA"/>
                    </a:solidFill>
                  </a:tcPr>
                </a:tc>
                <a:tc>
                  <a:txBody>
                    <a:bodyPr/>
                    <a:lstStyle/>
                    <a:p>
                      <a:pPr>
                        <a:buNone/>
                      </a:pPr>
                      <a:r>
                        <a:rPr lang="en-US" sz="1400" dirty="0">
                          <a:effectLst/>
                        </a:rPr>
                        <a:t>Latest release. Maintained until 5.3.0 release</a:t>
                      </a:r>
                    </a:p>
                  </a:txBody>
                  <a:tcPr marL="34789" marR="34789" marT="17394" marB="17394" anchor="ctr">
                    <a:lnL w="4763" cap="flat" cmpd="sng" algn="ctr">
                      <a:solidFill>
                        <a:srgbClr val="A2A9B1"/>
                      </a:solidFill>
                      <a:prstDash val="solid"/>
                      <a:round/>
                      <a:headEnd type="none" w="med" len="med"/>
                      <a:tailEnd type="none" w="med" len="med"/>
                    </a:lnL>
                    <a:lnR w="4763" cap="flat" cmpd="sng" algn="ctr">
                      <a:solidFill>
                        <a:srgbClr val="A2A9B1"/>
                      </a:solidFill>
                      <a:prstDash val="solid"/>
                      <a:round/>
                      <a:headEnd type="none" w="med" len="med"/>
                      <a:tailEnd type="none" w="med" len="med"/>
                    </a:lnR>
                    <a:lnT w="4763" cap="flat" cmpd="sng" algn="ctr">
                      <a:solidFill>
                        <a:srgbClr val="A2A9B1"/>
                      </a:solidFill>
                      <a:prstDash val="solid"/>
                      <a:round/>
                      <a:headEnd type="none" w="med" len="med"/>
                      <a:tailEnd type="none" w="med" len="med"/>
                    </a:lnT>
                    <a:lnB w="4763"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val="2930306054"/>
                  </a:ext>
                </a:extLst>
              </a:tr>
            </a:tbl>
          </a:graphicData>
        </a:graphic>
      </p:graphicFrame>
    </p:spTree>
    <p:extLst>
      <p:ext uri="{BB962C8B-B14F-4D97-AF65-F5344CB8AC3E}">
        <p14:creationId xmlns:p14="http://schemas.microsoft.com/office/powerpoint/2010/main" val="22256725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96E7A3-43CD-064C-6867-B19E7ACDB2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4F6FB4-57EE-840A-A37F-3572752BF52F}"/>
              </a:ext>
            </a:extLst>
          </p:cNvPr>
          <p:cNvSpPr>
            <a:spLocks noGrp="1"/>
          </p:cNvSpPr>
          <p:nvPr>
            <p:ph type="title"/>
          </p:nvPr>
        </p:nvSpPr>
        <p:spPr>
          <a:xfrm>
            <a:off x="324018" y="-185739"/>
            <a:ext cx="11029616" cy="712157"/>
          </a:xfrm>
        </p:spPr>
        <p:txBody>
          <a:bodyPr/>
          <a:lstStyle/>
          <a:p>
            <a:r>
              <a:rPr lang="en-US" dirty="0"/>
              <a:t>Cassandra features</a:t>
            </a:r>
          </a:p>
        </p:txBody>
      </p:sp>
      <p:sp>
        <p:nvSpPr>
          <p:cNvPr id="6" name="TextBox 5">
            <a:extLst>
              <a:ext uri="{FF2B5EF4-FFF2-40B4-BE49-F238E27FC236}">
                <a16:creationId xmlns:a16="http://schemas.microsoft.com/office/drawing/2014/main" id="{553955FA-CCFF-E3C2-4F29-C84E4628264B}"/>
              </a:ext>
            </a:extLst>
          </p:cNvPr>
          <p:cNvSpPr txBox="1"/>
          <p:nvPr/>
        </p:nvSpPr>
        <p:spPr>
          <a:xfrm>
            <a:off x="509587" y="722987"/>
            <a:ext cx="11172825" cy="6135013"/>
          </a:xfrm>
          <a:prstGeom prst="rect">
            <a:avLst/>
          </a:prstGeom>
          <a:noFill/>
        </p:spPr>
        <p:txBody>
          <a:bodyPr wrap="square" rtlCol="0">
            <a:spAutoFit/>
          </a:bodyPr>
          <a:lstStyle/>
          <a:p>
            <a:pPr>
              <a:lnSpc>
                <a:spcPts val="2250"/>
              </a:lnSpc>
              <a:spcBef>
                <a:spcPts val="2400"/>
              </a:spcBef>
              <a:spcAft>
                <a:spcPts val="1200"/>
              </a:spcAft>
              <a:buNone/>
            </a:pPr>
            <a:r>
              <a:rPr lang="en-US" b="1" dirty="0">
                <a:solidFill>
                  <a:schemeClr val="accent2">
                    <a:lumMod val="75000"/>
                  </a:schemeClr>
                </a:solidFill>
              </a:rPr>
              <a:t>Distributed &amp; Decentralized Architecture</a:t>
            </a:r>
          </a:p>
          <a:p>
            <a:pPr marL="800100" lvl="1" indent="-342900">
              <a:buSzPts val="1000"/>
              <a:buFont typeface="Symbol" panose="05050102010706020507" pitchFamily="18" charset="2"/>
              <a:buChar char=""/>
              <a:tabLst>
                <a:tab pos="457200" algn="l"/>
              </a:tabLst>
            </a:pPr>
            <a:r>
              <a:rPr lang="en-US" dirty="0">
                <a:solidFill>
                  <a:srgbClr val="0F1115"/>
                </a:solidFill>
                <a:effectLst/>
                <a:ea typeface="Times New Roman" panose="02020603050405020304" pitchFamily="18" charset="0"/>
                <a:cs typeface="Times New Roman" panose="02020603050405020304" pitchFamily="18" charset="0"/>
              </a:rPr>
              <a:t>Masterless design: All nodes are identical, no single point of failure</a:t>
            </a:r>
            <a:endParaRPr lang="en-US" dirty="0">
              <a:solidFill>
                <a:srgbClr val="0F1115"/>
              </a:solidFill>
              <a:effectLst/>
              <a:ea typeface="Arial Unicode MS"/>
              <a:cs typeface="Times New Roman" panose="02020603050405020304" pitchFamily="18" charset="0"/>
            </a:endParaRPr>
          </a:p>
          <a:p>
            <a:pPr marL="800100" lvl="1" indent="-342900">
              <a:buSzPts val="1000"/>
              <a:buFont typeface="Symbol" panose="05050102010706020507" pitchFamily="18" charset="2"/>
              <a:buChar char=""/>
              <a:tabLst>
                <a:tab pos="457200" algn="l"/>
              </a:tabLst>
            </a:pPr>
            <a:r>
              <a:rPr lang="en-US" dirty="0">
                <a:solidFill>
                  <a:srgbClr val="0F1115"/>
                </a:solidFill>
                <a:effectLst/>
                <a:ea typeface="Times New Roman" panose="02020603050405020304" pitchFamily="18" charset="0"/>
                <a:cs typeface="Times New Roman" panose="02020603050405020304" pitchFamily="18" charset="0"/>
              </a:rPr>
              <a:t>Peer-to-peer architecture: Uses gossip protocol for node communication</a:t>
            </a:r>
            <a:endParaRPr lang="en-US" dirty="0">
              <a:solidFill>
                <a:srgbClr val="0F1115"/>
              </a:solidFill>
              <a:effectLst/>
              <a:ea typeface="Arial Unicode MS"/>
              <a:cs typeface="Times New Roman" panose="02020603050405020304" pitchFamily="18" charset="0"/>
            </a:endParaRPr>
          </a:p>
          <a:p>
            <a:pPr marL="800100" lvl="1" indent="-342900">
              <a:buSzPts val="1000"/>
              <a:buFont typeface="Symbol" panose="05050102010706020507" pitchFamily="18" charset="2"/>
              <a:buChar char=""/>
              <a:tabLst>
                <a:tab pos="457200" algn="l"/>
              </a:tabLst>
            </a:pPr>
            <a:r>
              <a:rPr lang="en-US" dirty="0">
                <a:solidFill>
                  <a:srgbClr val="0F1115"/>
                </a:solidFill>
                <a:effectLst/>
                <a:ea typeface="Times New Roman" panose="02020603050405020304" pitchFamily="18" charset="0"/>
                <a:cs typeface="Times New Roman" panose="02020603050405020304" pitchFamily="18" charset="0"/>
              </a:rPr>
              <a:t>Automatic data distribution: Data automatically partitioned across cluster</a:t>
            </a:r>
            <a:endParaRPr lang="en-US" dirty="0">
              <a:solidFill>
                <a:srgbClr val="0F1115"/>
              </a:solidFill>
              <a:effectLst/>
              <a:ea typeface="Arial Unicode MS"/>
              <a:cs typeface="Times New Roman" panose="02020603050405020304" pitchFamily="18" charset="0"/>
            </a:endParaRPr>
          </a:p>
          <a:p>
            <a:pPr>
              <a:lnSpc>
                <a:spcPts val="2250"/>
              </a:lnSpc>
              <a:spcBef>
                <a:spcPts val="2400"/>
              </a:spcBef>
              <a:spcAft>
                <a:spcPts val="1200"/>
              </a:spcAft>
            </a:pPr>
            <a:r>
              <a:rPr lang="en-US" b="1" dirty="0">
                <a:solidFill>
                  <a:schemeClr val="accent2">
                    <a:lumMod val="75000"/>
                  </a:schemeClr>
                </a:solidFill>
              </a:rPr>
              <a:t>High Availability &amp; Fault Tolerance</a:t>
            </a:r>
          </a:p>
          <a:p>
            <a:pPr marL="800100" lvl="1" indent="-342900">
              <a:buSzPts val="1000"/>
              <a:buFont typeface="Symbol" panose="05050102010706020507" pitchFamily="18" charset="2"/>
              <a:buChar char=""/>
              <a:tabLst>
                <a:tab pos="457200" algn="l"/>
              </a:tabLst>
            </a:pPr>
            <a:r>
              <a:rPr lang="en-US" dirty="0">
                <a:solidFill>
                  <a:srgbClr val="0F1115"/>
                </a:solidFill>
                <a:effectLst/>
                <a:ea typeface="Times New Roman" panose="02020603050405020304" pitchFamily="18" charset="0"/>
                <a:cs typeface="Times New Roman" panose="02020603050405020304" pitchFamily="18" charset="0"/>
              </a:rPr>
              <a:t>Built-in replication: Configurable replication factor (typically 3)</a:t>
            </a:r>
            <a:endParaRPr lang="en-US" dirty="0">
              <a:solidFill>
                <a:srgbClr val="0F1115"/>
              </a:solidFill>
              <a:effectLst/>
              <a:ea typeface="Arial Unicode MS"/>
              <a:cs typeface="Times New Roman" panose="02020603050405020304" pitchFamily="18" charset="0"/>
            </a:endParaRPr>
          </a:p>
          <a:p>
            <a:pPr marL="800100" lvl="1" indent="-342900">
              <a:buSzPts val="1000"/>
              <a:buFont typeface="Symbol" panose="05050102010706020507" pitchFamily="18" charset="2"/>
              <a:buChar char=""/>
              <a:tabLst>
                <a:tab pos="457200" algn="l"/>
              </a:tabLst>
            </a:pPr>
            <a:r>
              <a:rPr lang="en-US" dirty="0">
                <a:solidFill>
                  <a:srgbClr val="0F1115"/>
                </a:solidFill>
                <a:effectLst/>
                <a:ea typeface="Times New Roman" panose="02020603050405020304" pitchFamily="18" charset="0"/>
                <a:cs typeface="Times New Roman" panose="02020603050405020304" pitchFamily="18" charset="0"/>
              </a:rPr>
              <a:t>Tunable consistency: From eventual to strong consistency (ONE, QUORUM, ALL)</a:t>
            </a:r>
            <a:endParaRPr lang="en-US" dirty="0">
              <a:solidFill>
                <a:srgbClr val="0F1115"/>
              </a:solidFill>
              <a:effectLst/>
              <a:ea typeface="Arial Unicode MS"/>
              <a:cs typeface="Times New Roman" panose="02020603050405020304" pitchFamily="18" charset="0"/>
            </a:endParaRPr>
          </a:p>
          <a:p>
            <a:pPr marL="800100" lvl="1" indent="-342900">
              <a:buSzPts val="1000"/>
              <a:buFont typeface="Symbol" panose="05050102010706020507" pitchFamily="18" charset="2"/>
              <a:buChar char=""/>
              <a:tabLst>
                <a:tab pos="457200" algn="l"/>
              </a:tabLst>
            </a:pPr>
            <a:r>
              <a:rPr lang="en-US" dirty="0">
                <a:solidFill>
                  <a:srgbClr val="0F1115"/>
                </a:solidFill>
                <a:effectLst/>
                <a:ea typeface="Times New Roman" panose="02020603050405020304" pitchFamily="18" charset="0"/>
                <a:cs typeface="Times New Roman" panose="02020603050405020304" pitchFamily="18" charset="0"/>
              </a:rPr>
              <a:t>No single point of failure: Continuous availability during node failures</a:t>
            </a:r>
            <a:endParaRPr lang="en-US" dirty="0">
              <a:solidFill>
                <a:srgbClr val="0F1115"/>
              </a:solidFill>
              <a:effectLst/>
              <a:ea typeface="Arial Unicode MS"/>
              <a:cs typeface="Times New Roman" panose="02020603050405020304" pitchFamily="18" charset="0"/>
            </a:endParaRPr>
          </a:p>
          <a:p>
            <a:pPr>
              <a:lnSpc>
                <a:spcPts val="2250"/>
              </a:lnSpc>
              <a:spcBef>
                <a:spcPts val="2400"/>
              </a:spcBef>
              <a:spcAft>
                <a:spcPts val="1200"/>
              </a:spcAft>
              <a:buNone/>
            </a:pPr>
            <a:r>
              <a:rPr lang="en-US" b="1" dirty="0">
                <a:solidFill>
                  <a:schemeClr val="accent2">
                    <a:lumMod val="75000"/>
                  </a:schemeClr>
                </a:solidFill>
              </a:rPr>
              <a:t>Linear Scalability</a:t>
            </a:r>
          </a:p>
          <a:p>
            <a:pPr marL="800100" lvl="1" indent="-342900">
              <a:buSzPts val="1000"/>
              <a:buFont typeface="Symbol" panose="05050102010706020507" pitchFamily="18" charset="2"/>
              <a:buChar char=""/>
              <a:tabLst>
                <a:tab pos="457200" algn="l"/>
              </a:tabLst>
            </a:pPr>
            <a:r>
              <a:rPr lang="en-US" dirty="0">
                <a:solidFill>
                  <a:srgbClr val="0F1115"/>
                </a:solidFill>
                <a:effectLst/>
                <a:ea typeface="Times New Roman" panose="02020603050405020304" pitchFamily="18" charset="0"/>
                <a:cs typeface="Times New Roman" panose="02020603050405020304" pitchFamily="18" charset="0"/>
              </a:rPr>
              <a:t>Horizontal scaling: Add nodes to increase capacity linearly</a:t>
            </a:r>
            <a:endParaRPr lang="en-US" dirty="0">
              <a:solidFill>
                <a:srgbClr val="0F1115"/>
              </a:solidFill>
              <a:effectLst/>
              <a:ea typeface="Arial Unicode MS"/>
              <a:cs typeface="Times New Roman" panose="02020603050405020304" pitchFamily="18" charset="0"/>
            </a:endParaRPr>
          </a:p>
          <a:p>
            <a:pPr marL="800100" lvl="1" indent="-342900">
              <a:buSzPts val="1000"/>
              <a:buFont typeface="Symbol" panose="05050102010706020507" pitchFamily="18" charset="2"/>
              <a:buChar char=""/>
              <a:tabLst>
                <a:tab pos="457200" algn="l"/>
              </a:tabLst>
            </a:pPr>
            <a:r>
              <a:rPr lang="en-US" dirty="0">
                <a:solidFill>
                  <a:srgbClr val="0F1115"/>
                </a:solidFill>
                <a:effectLst/>
                <a:ea typeface="Times New Roman" panose="02020603050405020304" pitchFamily="18" charset="0"/>
                <a:cs typeface="Times New Roman" panose="02020603050405020304" pitchFamily="18" charset="0"/>
              </a:rPr>
              <a:t>No downtime for scaling: Add/remove nodes without interrupting service</a:t>
            </a:r>
            <a:endParaRPr lang="en-US" dirty="0">
              <a:solidFill>
                <a:srgbClr val="0F1115"/>
              </a:solidFill>
              <a:effectLst/>
              <a:ea typeface="Arial Unicode MS"/>
              <a:cs typeface="Times New Roman" panose="02020603050405020304" pitchFamily="18" charset="0"/>
            </a:endParaRPr>
          </a:p>
          <a:p>
            <a:pPr marL="800100" lvl="1" indent="-342900">
              <a:buSzPts val="1000"/>
              <a:buFont typeface="Symbol" panose="05050102010706020507" pitchFamily="18" charset="2"/>
              <a:buChar char=""/>
              <a:tabLst>
                <a:tab pos="457200" algn="l"/>
              </a:tabLst>
            </a:pPr>
            <a:r>
              <a:rPr lang="en-US" dirty="0">
                <a:solidFill>
                  <a:srgbClr val="0F1115"/>
                </a:solidFill>
                <a:effectLst/>
                <a:ea typeface="Times New Roman" panose="02020603050405020304" pitchFamily="18" charset="0"/>
                <a:cs typeface="Times New Roman" panose="02020603050405020304" pitchFamily="18" charset="0"/>
              </a:rPr>
              <a:t>Handles petabytes of data across hundreds of nodes</a:t>
            </a:r>
            <a:endParaRPr lang="en-US" dirty="0">
              <a:solidFill>
                <a:srgbClr val="0F1115"/>
              </a:solidFill>
              <a:effectLst/>
              <a:ea typeface="Arial Unicode MS"/>
              <a:cs typeface="Times New Roman" panose="02020603050405020304" pitchFamily="18" charset="0"/>
            </a:endParaRPr>
          </a:p>
          <a:p>
            <a:pPr>
              <a:lnSpc>
                <a:spcPts val="2250"/>
              </a:lnSpc>
              <a:spcBef>
                <a:spcPts val="2400"/>
              </a:spcBef>
              <a:spcAft>
                <a:spcPts val="1200"/>
              </a:spcAft>
            </a:pPr>
            <a:r>
              <a:rPr lang="en-US" b="1" dirty="0">
                <a:solidFill>
                  <a:schemeClr val="accent2">
                    <a:lumMod val="75000"/>
                  </a:schemeClr>
                </a:solidFill>
              </a:rPr>
              <a:t>High Performance</a:t>
            </a:r>
          </a:p>
          <a:p>
            <a:pPr marL="800100" lvl="1" indent="-342900">
              <a:buSzPts val="1000"/>
              <a:buFont typeface="Symbol" panose="05050102010706020507" pitchFamily="18" charset="2"/>
              <a:buChar char=""/>
              <a:tabLst>
                <a:tab pos="457200" algn="l"/>
              </a:tabLst>
            </a:pPr>
            <a:r>
              <a:rPr lang="en-US" dirty="0">
                <a:solidFill>
                  <a:srgbClr val="0F1115"/>
                </a:solidFill>
                <a:effectLst/>
                <a:ea typeface="Times New Roman" panose="02020603050405020304" pitchFamily="18" charset="0"/>
                <a:cs typeface="Times New Roman" panose="02020603050405020304" pitchFamily="18" charset="0"/>
              </a:rPr>
              <a:t>Optimized for write operations: Append-only storage structure</a:t>
            </a:r>
            <a:endParaRPr lang="en-US" dirty="0">
              <a:solidFill>
                <a:srgbClr val="0F1115"/>
              </a:solidFill>
              <a:effectLst/>
              <a:ea typeface="Arial Unicode MS"/>
              <a:cs typeface="Times New Roman" panose="02020603050405020304" pitchFamily="18" charset="0"/>
            </a:endParaRPr>
          </a:p>
          <a:p>
            <a:pPr marL="800100" lvl="1" indent="-342900">
              <a:buSzPts val="1000"/>
              <a:buFont typeface="Symbol" panose="05050102010706020507" pitchFamily="18" charset="2"/>
              <a:buChar char=""/>
              <a:tabLst>
                <a:tab pos="457200" algn="l"/>
              </a:tabLst>
            </a:pPr>
            <a:r>
              <a:rPr lang="en-US" dirty="0">
                <a:solidFill>
                  <a:srgbClr val="0F1115"/>
                </a:solidFill>
                <a:effectLst/>
                <a:ea typeface="Times New Roman" panose="02020603050405020304" pitchFamily="18" charset="0"/>
                <a:cs typeface="Times New Roman" panose="02020603050405020304" pitchFamily="18" charset="0"/>
              </a:rPr>
              <a:t>Read performance: Configurable through caching and data modeling</a:t>
            </a:r>
            <a:endParaRPr lang="en-US" dirty="0">
              <a:solidFill>
                <a:srgbClr val="0F1115"/>
              </a:solidFill>
              <a:effectLst/>
              <a:ea typeface="Arial Unicode MS"/>
              <a:cs typeface="Times New Roman" panose="02020603050405020304" pitchFamily="18" charset="0"/>
            </a:endParaRPr>
          </a:p>
          <a:p>
            <a:pPr marL="800100" lvl="1" indent="-342900">
              <a:buSzPts val="1000"/>
              <a:buFont typeface="Symbol" panose="05050102010706020507" pitchFamily="18" charset="2"/>
              <a:buChar char=""/>
              <a:tabLst>
                <a:tab pos="457200" algn="l"/>
              </a:tabLst>
            </a:pPr>
            <a:r>
              <a:rPr lang="en-US" dirty="0">
                <a:solidFill>
                  <a:srgbClr val="0F1115"/>
                </a:solidFill>
                <a:effectLst/>
                <a:ea typeface="Times New Roman" panose="02020603050405020304" pitchFamily="18" charset="0"/>
                <a:cs typeface="Times New Roman" panose="02020603050405020304" pitchFamily="18" charset="0"/>
              </a:rPr>
              <a:t>Low latency: Even with large datasets and high throughput</a:t>
            </a:r>
            <a:endParaRPr lang="en-US" dirty="0">
              <a:solidFill>
                <a:srgbClr val="0F1115"/>
              </a:solidFill>
              <a:effectLst/>
              <a:ea typeface="Arial Unicode MS"/>
              <a:cs typeface="Times New Roman" panose="02020603050405020304" pitchFamily="18" charset="0"/>
            </a:endParaRPr>
          </a:p>
        </p:txBody>
      </p:sp>
    </p:spTree>
    <p:extLst>
      <p:ext uri="{BB962C8B-B14F-4D97-AF65-F5344CB8AC3E}">
        <p14:creationId xmlns:p14="http://schemas.microsoft.com/office/powerpoint/2010/main" val="17865475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68295C-C897-E71F-90A2-618143823F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748328-6003-CBBC-14EE-F4D2A62C542C}"/>
              </a:ext>
            </a:extLst>
          </p:cNvPr>
          <p:cNvSpPr>
            <a:spLocks noGrp="1"/>
          </p:cNvSpPr>
          <p:nvPr>
            <p:ph type="title"/>
          </p:nvPr>
        </p:nvSpPr>
        <p:spPr>
          <a:xfrm>
            <a:off x="324018" y="-185739"/>
            <a:ext cx="11029616" cy="712157"/>
          </a:xfrm>
        </p:spPr>
        <p:txBody>
          <a:bodyPr/>
          <a:lstStyle/>
          <a:p>
            <a:r>
              <a:rPr lang="en-US" dirty="0"/>
              <a:t>Cassandra features</a:t>
            </a:r>
          </a:p>
        </p:txBody>
      </p:sp>
      <p:sp>
        <p:nvSpPr>
          <p:cNvPr id="6" name="TextBox 5">
            <a:extLst>
              <a:ext uri="{FF2B5EF4-FFF2-40B4-BE49-F238E27FC236}">
                <a16:creationId xmlns:a16="http://schemas.microsoft.com/office/drawing/2014/main" id="{E6790047-C487-685F-DAEB-CE76490D89F6}"/>
              </a:ext>
            </a:extLst>
          </p:cNvPr>
          <p:cNvSpPr txBox="1"/>
          <p:nvPr/>
        </p:nvSpPr>
        <p:spPr>
          <a:xfrm>
            <a:off x="423861" y="801567"/>
            <a:ext cx="11172825" cy="4824398"/>
          </a:xfrm>
          <a:prstGeom prst="rect">
            <a:avLst/>
          </a:prstGeom>
          <a:noFill/>
        </p:spPr>
        <p:txBody>
          <a:bodyPr wrap="square" rtlCol="0">
            <a:spAutoFit/>
          </a:bodyPr>
          <a:lstStyle/>
          <a:p>
            <a:pPr>
              <a:lnSpc>
                <a:spcPts val="2250"/>
              </a:lnSpc>
              <a:spcBef>
                <a:spcPts val="2400"/>
              </a:spcBef>
              <a:spcAft>
                <a:spcPts val="1200"/>
              </a:spcAft>
            </a:pPr>
            <a:r>
              <a:rPr lang="en-US" b="1" dirty="0">
                <a:solidFill>
                  <a:schemeClr val="accent2">
                    <a:lumMod val="75000"/>
                  </a:schemeClr>
                </a:solidFill>
              </a:rPr>
              <a:t>Flexible Data Model</a:t>
            </a:r>
          </a:p>
          <a:p>
            <a:pPr marL="800100" lvl="1" indent="-342900">
              <a:buSzPts val="1000"/>
              <a:buFont typeface="Symbol" panose="05050102010706020507" pitchFamily="18" charset="2"/>
              <a:buChar char=""/>
              <a:tabLst>
                <a:tab pos="457200" algn="l"/>
              </a:tabLst>
            </a:pPr>
            <a:r>
              <a:rPr lang="en-US" dirty="0">
                <a:solidFill>
                  <a:srgbClr val="0F1115"/>
                </a:solidFill>
                <a:effectLst/>
                <a:ea typeface="Times New Roman" panose="02020603050405020304" pitchFamily="18" charset="0"/>
                <a:cs typeface="Times New Roman" panose="02020603050405020304" pitchFamily="18" charset="0"/>
              </a:rPr>
              <a:t>Column-family structure: Organizes data into rows and columns</a:t>
            </a:r>
            <a:endParaRPr lang="en-US" dirty="0">
              <a:solidFill>
                <a:srgbClr val="0F1115"/>
              </a:solidFill>
              <a:effectLst/>
              <a:ea typeface="Arial Unicode MS"/>
              <a:cs typeface="Times New Roman" panose="02020603050405020304" pitchFamily="18" charset="0"/>
            </a:endParaRPr>
          </a:p>
          <a:p>
            <a:pPr marL="800100" lvl="1" indent="-342900">
              <a:buSzPts val="1000"/>
              <a:buFont typeface="Symbol" panose="05050102010706020507" pitchFamily="18" charset="2"/>
              <a:buChar char=""/>
              <a:tabLst>
                <a:tab pos="457200" algn="l"/>
              </a:tabLst>
            </a:pPr>
            <a:r>
              <a:rPr lang="en-US" dirty="0">
                <a:solidFill>
                  <a:srgbClr val="0F1115"/>
                </a:solidFill>
                <a:effectLst/>
                <a:ea typeface="Times New Roman" panose="02020603050405020304" pitchFamily="18" charset="0"/>
                <a:cs typeface="Times New Roman" panose="02020603050405020304" pitchFamily="18" charset="0"/>
              </a:rPr>
              <a:t>Schema-optional: Initially schema-less, now supports flexible schema definition</a:t>
            </a:r>
            <a:endParaRPr lang="en-US" dirty="0">
              <a:solidFill>
                <a:srgbClr val="0F1115"/>
              </a:solidFill>
              <a:effectLst/>
              <a:ea typeface="Arial Unicode MS"/>
              <a:cs typeface="Times New Roman" panose="02020603050405020304" pitchFamily="18" charset="0"/>
            </a:endParaRPr>
          </a:p>
          <a:p>
            <a:pPr marL="800100" lvl="1" indent="-342900">
              <a:buSzPts val="1000"/>
              <a:buFont typeface="Symbol" panose="05050102010706020507" pitchFamily="18" charset="2"/>
              <a:buChar char=""/>
              <a:tabLst>
                <a:tab pos="457200" algn="l"/>
              </a:tabLst>
            </a:pPr>
            <a:r>
              <a:rPr lang="en-US" dirty="0">
                <a:solidFill>
                  <a:srgbClr val="0F1115"/>
                </a:solidFill>
                <a:effectLst/>
                <a:ea typeface="Times New Roman" panose="02020603050405020304" pitchFamily="18" charset="0"/>
                <a:cs typeface="Times New Roman" panose="02020603050405020304" pitchFamily="18" charset="0"/>
              </a:rPr>
              <a:t>Collection data types: Supports lists, sets, and maps</a:t>
            </a:r>
            <a:endParaRPr lang="en-US" dirty="0">
              <a:solidFill>
                <a:srgbClr val="0F1115"/>
              </a:solidFill>
              <a:effectLst/>
              <a:ea typeface="Arial Unicode MS"/>
              <a:cs typeface="Times New Roman" panose="02020603050405020304" pitchFamily="18" charset="0"/>
            </a:endParaRPr>
          </a:p>
          <a:p>
            <a:pPr marL="800100" lvl="1" indent="-342900">
              <a:buSzPts val="1000"/>
              <a:buFont typeface="Symbol" panose="05050102010706020507" pitchFamily="18" charset="2"/>
              <a:buChar char=""/>
              <a:tabLst>
                <a:tab pos="457200" algn="l"/>
              </a:tabLst>
            </a:pPr>
            <a:r>
              <a:rPr lang="en-US" dirty="0">
                <a:solidFill>
                  <a:srgbClr val="0F1115"/>
                </a:solidFill>
                <a:effectLst/>
                <a:ea typeface="Times New Roman" panose="02020603050405020304" pitchFamily="18" charset="0"/>
                <a:cs typeface="Times New Roman" panose="02020603050405020304" pitchFamily="18" charset="0"/>
              </a:rPr>
              <a:t>User-defined types: Custom composite types</a:t>
            </a:r>
            <a:endParaRPr lang="en-US" dirty="0">
              <a:solidFill>
                <a:srgbClr val="0F1115"/>
              </a:solidFill>
              <a:effectLst/>
              <a:ea typeface="Arial Unicode MS"/>
              <a:cs typeface="Times New Roman" panose="02020603050405020304" pitchFamily="18" charset="0"/>
            </a:endParaRPr>
          </a:p>
          <a:p>
            <a:pPr>
              <a:lnSpc>
                <a:spcPts val="2250"/>
              </a:lnSpc>
              <a:spcBef>
                <a:spcPts val="2400"/>
              </a:spcBef>
              <a:spcAft>
                <a:spcPts val="1200"/>
              </a:spcAft>
              <a:buNone/>
            </a:pPr>
            <a:r>
              <a:rPr lang="en-US" b="1" dirty="0">
                <a:solidFill>
                  <a:schemeClr val="accent2">
                    <a:lumMod val="75000"/>
                  </a:schemeClr>
                </a:solidFill>
              </a:rPr>
              <a:t>Robust Support for Distributed Data</a:t>
            </a:r>
          </a:p>
          <a:p>
            <a:pPr marL="800100" lvl="1" indent="-342900">
              <a:buSzPts val="1000"/>
              <a:buFont typeface="Symbol" panose="05050102010706020507" pitchFamily="18" charset="2"/>
              <a:buChar char=""/>
              <a:tabLst>
                <a:tab pos="457200" algn="l"/>
              </a:tabLst>
            </a:pPr>
            <a:r>
              <a:rPr lang="en-US" dirty="0">
                <a:solidFill>
                  <a:srgbClr val="0F1115"/>
                </a:solidFill>
                <a:effectLst/>
                <a:ea typeface="Times New Roman" panose="02020603050405020304" pitchFamily="18" charset="0"/>
                <a:cs typeface="Times New Roman" panose="02020603050405020304" pitchFamily="18" charset="0"/>
              </a:rPr>
              <a:t>Multi-data center awareness: Built-in support for geographic distribution</a:t>
            </a:r>
            <a:endParaRPr lang="en-US" dirty="0">
              <a:solidFill>
                <a:srgbClr val="0F1115"/>
              </a:solidFill>
              <a:effectLst/>
              <a:ea typeface="Arial Unicode MS"/>
              <a:cs typeface="Times New Roman" panose="02020603050405020304" pitchFamily="18" charset="0"/>
            </a:endParaRPr>
          </a:p>
          <a:p>
            <a:pPr marL="800100" lvl="1" indent="-342900">
              <a:buSzPts val="1000"/>
              <a:buFont typeface="Symbol" panose="05050102010706020507" pitchFamily="18" charset="2"/>
              <a:buChar char=""/>
              <a:tabLst>
                <a:tab pos="457200" algn="l"/>
              </a:tabLst>
            </a:pPr>
            <a:r>
              <a:rPr lang="en-US" dirty="0">
                <a:solidFill>
                  <a:srgbClr val="0F1115"/>
                </a:solidFill>
                <a:effectLst/>
                <a:ea typeface="Times New Roman" panose="02020603050405020304" pitchFamily="18" charset="0"/>
                <a:cs typeface="Times New Roman" panose="02020603050405020304" pitchFamily="18" charset="0"/>
              </a:rPr>
              <a:t>Network topology awareness: Rack-aware and data center-aware replication</a:t>
            </a:r>
            <a:endParaRPr lang="en-US" dirty="0">
              <a:solidFill>
                <a:srgbClr val="0F1115"/>
              </a:solidFill>
              <a:effectLst/>
              <a:ea typeface="Arial Unicode MS"/>
              <a:cs typeface="Times New Roman" panose="02020603050405020304" pitchFamily="18" charset="0"/>
            </a:endParaRPr>
          </a:p>
          <a:p>
            <a:pPr marL="800100" lvl="1" indent="-342900">
              <a:buSzPts val="1000"/>
              <a:buFont typeface="Symbol" panose="05050102010706020507" pitchFamily="18" charset="2"/>
              <a:buChar char=""/>
              <a:tabLst>
                <a:tab pos="457200" algn="l"/>
              </a:tabLst>
            </a:pPr>
            <a:r>
              <a:rPr lang="en-US" dirty="0">
                <a:solidFill>
                  <a:srgbClr val="0F1115"/>
                </a:solidFill>
                <a:effectLst/>
                <a:ea typeface="Times New Roman" panose="02020603050405020304" pitchFamily="18" charset="0"/>
                <a:cs typeface="Times New Roman" panose="02020603050405020304" pitchFamily="18" charset="0"/>
              </a:rPr>
              <a:t>Cloud-native: Works well in cloud environments and containerized deployments</a:t>
            </a:r>
            <a:endParaRPr lang="en-US" dirty="0">
              <a:solidFill>
                <a:srgbClr val="0F1115"/>
              </a:solidFill>
              <a:effectLst/>
              <a:ea typeface="Arial Unicode MS"/>
              <a:cs typeface="Times New Roman" panose="02020603050405020304" pitchFamily="18" charset="0"/>
            </a:endParaRPr>
          </a:p>
          <a:p>
            <a:pPr>
              <a:lnSpc>
                <a:spcPts val="2250"/>
              </a:lnSpc>
              <a:spcBef>
                <a:spcPts val="2400"/>
              </a:spcBef>
              <a:spcAft>
                <a:spcPts val="1200"/>
              </a:spcAft>
            </a:pPr>
            <a:r>
              <a:rPr lang="en-US" b="1" dirty="0">
                <a:solidFill>
                  <a:schemeClr val="accent2">
                    <a:lumMod val="75000"/>
                  </a:schemeClr>
                </a:solidFill>
              </a:rPr>
              <a:t>CQL (Cassandra Query Language)</a:t>
            </a:r>
          </a:p>
          <a:p>
            <a:pPr marL="800100" lvl="1" indent="-342900">
              <a:buSzPts val="1000"/>
              <a:buFont typeface="Symbol" panose="05050102010706020507" pitchFamily="18" charset="2"/>
              <a:buChar char=""/>
              <a:tabLst>
                <a:tab pos="457200" algn="l"/>
              </a:tabLst>
            </a:pPr>
            <a:r>
              <a:rPr lang="en-US" dirty="0">
                <a:solidFill>
                  <a:srgbClr val="0F1115"/>
                </a:solidFill>
                <a:effectLst/>
                <a:ea typeface="Times New Roman" panose="02020603050405020304" pitchFamily="18" charset="0"/>
                <a:cs typeface="Times New Roman" panose="02020603050405020304" pitchFamily="18" charset="0"/>
              </a:rPr>
              <a:t>SQL-like syntax: Familiar interface for developers</a:t>
            </a:r>
            <a:endParaRPr lang="en-US" dirty="0">
              <a:solidFill>
                <a:srgbClr val="0F1115"/>
              </a:solidFill>
              <a:effectLst/>
              <a:ea typeface="Arial Unicode MS"/>
              <a:cs typeface="Times New Roman" panose="02020603050405020304" pitchFamily="18" charset="0"/>
            </a:endParaRPr>
          </a:p>
          <a:p>
            <a:pPr marL="800100" lvl="1" indent="-342900">
              <a:buSzPts val="1000"/>
              <a:buFont typeface="Symbol" panose="05050102010706020507" pitchFamily="18" charset="2"/>
              <a:buChar char=""/>
              <a:tabLst>
                <a:tab pos="457200" algn="l"/>
              </a:tabLst>
            </a:pPr>
            <a:r>
              <a:rPr lang="en-US" dirty="0">
                <a:solidFill>
                  <a:srgbClr val="0F1115"/>
                </a:solidFill>
                <a:effectLst/>
                <a:ea typeface="Times New Roman" panose="02020603050405020304" pitchFamily="18" charset="0"/>
                <a:cs typeface="Times New Roman" panose="02020603050405020304" pitchFamily="18" charset="0"/>
              </a:rPr>
              <a:t>Data manipulation: INSERT, UPDATE, DELETE, SELECT (with limitations)</a:t>
            </a:r>
            <a:endParaRPr lang="en-US" dirty="0">
              <a:solidFill>
                <a:srgbClr val="0F1115"/>
              </a:solidFill>
              <a:effectLst/>
              <a:ea typeface="Arial Unicode MS"/>
              <a:cs typeface="Times New Roman" panose="02020603050405020304" pitchFamily="18" charset="0"/>
            </a:endParaRPr>
          </a:p>
          <a:p>
            <a:pPr marL="800100" lvl="1" indent="-342900">
              <a:buSzPts val="1000"/>
              <a:buFont typeface="Symbol" panose="05050102010706020507" pitchFamily="18" charset="2"/>
              <a:buChar char=""/>
              <a:tabLst>
                <a:tab pos="457200" algn="l"/>
              </a:tabLst>
            </a:pPr>
            <a:r>
              <a:rPr lang="en-US" dirty="0">
                <a:solidFill>
                  <a:srgbClr val="0F1115"/>
                </a:solidFill>
                <a:effectLst/>
                <a:ea typeface="Times New Roman" panose="02020603050405020304" pitchFamily="18" charset="0"/>
                <a:cs typeface="Times New Roman" panose="02020603050405020304" pitchFamily="18" charset="0"/>
              </a:rPr>
              <a:t>No JOINs or subqueries: Denormalization encouraged for performance</a:t>
            </a:r>
            <a:endParaRPr lang="en-US" dirty="0">
              <a:solidFill>
                <a:srgbClr val="0F1115"/>
              </a:solidFill>
              <a:effectLst/>
              <a:ea typeface="Arial Unicode MS"/>
              <a:cs typeface="Times New Roman" panose="02020603050405020304" pitchFamily="18" charset="0"/>
            </a:endParaRPr>
          </a:p>
        </p:txBody>
      </p:sp>
    </p:spTree>
    <p:extLst>
      <p:ext uri="{BB962C8B-B14F-4D97-AF65-F5344CB8AC3E}">
        <p14:creationId xmlns:p14="http://schemas.microsoft.com/office/powerpoint/2010/main" val="9714383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5C2619-DAF6-AB2A-3B8C-97BC1AED91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E33F3D-9005-845F-90A5-40FF2A50155B}"/>
              </a:ext>
            </a:extLst>
          </p:cNvPr>
          <p:cNvSpPr>
            <a:spLocks noGrp="1"/>
          </p:cNvSpPr>
          <p:nvPr>
            <p:ph type="title"/>
          </p:nvPr>
        </p:nvSpPr>
        <p:spPr>
          <a:xfrm>
            <a:off x="324018" y="-185739"/>
            <a:ext cx="11029616" cy="712157"/>
          </a:xfrm>
        </p:spPr>
        <p:txBody>
          <a:bodyPr/>
          <a:lstStyle/>
          <a:p>
            <a:r>
              <a:rPr lang="en-US" dirty="0"/>
              <a:t>Cassandra features</a:t>
            </a:r>
          </a:p>
        </p:txBody>
      </p:sp>
      <p:sp>
        <p:nvSpPr>
          <p:cNvPr id="6" name="TextBox 5">
            <a:extLst>
              <a:ext uri="{FF2B5EF4-FFF2-40B4-BE49-F238E27FC236}">
                <a16:creationId xmlns:a16="http://schemas.microsoft.com/office/drawing/2014/main" id="{D2239161-F3BC-3E7D-C336-5B540B8DCA79}"/>
              </a:ext>
            </a:extLst>
          </p:cNvPr>
          <p:cNvSpPr txBox="1"/>
          <p:nvPr/>
        </p:nvSpPr>
        <p:spPr>
          <a:xfrm>
            <a:off x="509587" y="722987"/>
            <a:ext cx="11172825" cy="4824398"/>
          </a:xfrm>
          <a:prstGeom prst="rect">
            <a:avLst/>
          </a:prstGeom>
          <a:noFill/>
        </p:spPr>
        <p:txBody>
          <a:bodyPr wrap="square" rtlCol="0">
            <a:spAutoFit/>
          </a:bodyPr>
          <a:lstStyle/>
          <a:p>
            <a:pPr>
              <a:lnSpc>
                <a:spcPts val="2250"/>
              </a:lnSpc>
              <a:spcBef>
                <a:spcPts val="2400"/>
              </a:spcBef>
              <a:spcAft>
                <a:spcPts val="1200"/>
              </a:spcAft>
              <a:buNone/>
            </a:pPr>
            <a:r>
              <a:rPr lang="en-US" b="1" dirty="0">
                <a:solidFill>
                  <a:schemeClr val="accent2">
                    <a:lumMod val="75000"/>
                  </a:schemeClr>
                </a:solidFill>
              </a:rPr>
              <a:t>Tunable Data Consistency</a:t>
            </a:r>
          </a:p>
          <a:p>
            <a:pPr marL="800100" lvl="1" indent="-342900">
              <a:buSzPts val="1000"/>
              <a:buFont typeface="Symbol" panose="05050102010706020507" pitchFamily="18" charset="2"/>
              <a:buChar char=""/>
              <a:tabLst>
                <a:tab pos="457200" algn="l"/>
              </a:tabLst>
            </a:pPr>
            <a:r>
              <a:rPr lang="en-US" dirty="0">
                <a:solidFill>
                  <a:srgbClr val="0F1115"/>
                </a:solidFill>
                <a:cs typeface="Times New Roman" panose="02020603050405020304" pitchFamily="18" charset="0"/>
              </a:rPr>
              <a:t>Configurable per operation: Choose consistency level for each query</a:t>
            </a:r>
          </a:p>
          <a:p>
            <a:pPr marL="800100" lvl="1" indent="-342900">
              <a:buSzPts val="1000"/>
              <a:buFont typeface="Symbol" panose="05050102010706020507" pitchFamily="18" charset="2"/>
              <a:buChar char=""/>
              <a:tabLst>
                <a:tab pos="457200" algn="l"/>
              </a:tabLst>
            </a:pPr>
            <a:r>
              <a:rPr lang="en-US" dirty="0">
                <a:solidFill>
                  <a:srgbClr val="0F1115"/>
                </a:solidFill>
                <a:cs typeface="Times New Roman" panose="02020603050405020304" pitchFamily="18" charset="0"/>
              </a:rPr>
              <a:t>Support for eventual consistency: For high availability scenarios</a:t>
            </a:r>
          </a:p>
          <a:p>
            <a:pPr marL="800100" lvl="1" indent="-342900">
              <a:buSzPts val="1000"/>
              <a:buFont typeface="Symbol" panose="05050102010706020507" pitchFamily="18" charset="2"/>
              <a:buChar char=""/>
              <a:tabLst>
                <a:tab pos="457200" algn="l"/>
              </a:tabLst>
            </a:pPr>
            <a:r>
              <a:rPr lang="en-US" dirty="0">
                <a:solidFill>
                  <a:srgbClr val="0F1115"/>
                </a:solidFill>
                <a:cs typeface="Times New Roman" panose="02020603050405020304" pitchFamily="18" charset="0"/>
              </a:rPr>
              <a:t>Strong consistency options: When data accuracy is critical</a:t>
            </a:r>
          </a:p>
          <a:p>
            <a:pPr>
              <a:lnSpc>
                <a:spcPts val="2250"/>
              </a:lnSpc>
              <a:spcBef>
                <a:spcPts val="2400"/>
              </a:spcBef>
              <a:spcAft>
                <a:spcPts val="1200"/>
              </a:spcAft>
            </a:pPr>
            <a:r>
              <a:rPr lang="en-US" b="1" dirty="0">
                <a:solidFill>
                  <a:schemeClr val="accent2">
                    <a:lumMod val="75000"/>
                  </a:schemeClr>
                </a:solidFill>
              </a:rPr>
              <a:t>Built-in Compaction</a:t>
            </a:r>
          </a:p>
          <a:p>
            <a:pPr marL="800100" lvl="1" indent="-342900">
              <a:buSzPts val="1000"/>
              <a:buFont typeface="Symbol" panose="05050102010706020507" pitchFamily="18" charset="2"/>
              <a:buChar char=""/>
              <a:tabLst>
                <a:tab pos="457200" algn="l"/>
              </a:tabLst>
            </a:pPr>
            <a:r>
              <a:rPr lang="en-US" dirty="0">
                <a:solidFill>
                  <a:srgbClr val="0F1115"/>
                </a:solidFill>
                <a:cs typeface="Times New Roman" panose="02020603050405020304" pitchFamily="18" charset="0"/>
              </a:rPr>
              <a:t>Multiple strategies: </a:t>
            </a:r>
            <a:r>
              <a:rPr lang="en-US" dirty="0" err="1">
                <a:solidFill>
                  <a:srgbClr val="0F1115"/>
                </a:solidFill>
                <a:cs typeface="Times New Roman" panose="02020603050405020304" pitchFamily="18" charset="0"/>
              </a:rPr>
              <a:t>LeveledCompaction</a:t>
            </a:r>
            <a:r>
              <a:rPr lang="en-US" dirty="0">
                <a:solidFill>
                  <a:srgbClr val="0F1115"/>
                </a:solidFill>
                <a:cs typeface="Times New Roman" panose="02020603050405020304" pitchFamily="18" charset="0"/>
              </a:rPr>
              <a:t>, </a:t>
            </a:r>
            <a:r>
              <a:rPr lang="en-US" dirty="0" err="1">
                <a:solidFill>
                  <a:srgbClr val="0F1115"/>
                </a:solidFill>
                <a:cs typeface="Times New Roman" panose="02020603050405020304" pitchFamily="18" charset="0"/>
              </a:rPr>
              <a:t>SizeTieredCompaction</a:t>
            </a:r>
            <a:r>
              <a:rPr lang="en-US" dirty="0">
                <a:solidFill>
                  <a:srgbClr val="0F1115"/>
                </a:solidFill>
                <a:cs typeface="Times New Roman" panose="02020603050405020304" pitchFamily="18" charset="0"/>
              </a:rPr>
              <a:t>, </a:t>
            </a:r>
            <a:r>
              <a:rPr lang="en-US" dirty="0" err="1">
                <a:solidFill>
                  <a:srgbClr val="0F1115"/>
                </a:solidFill>
                <a:cs typeface="Times New Roman" panose="02020603050405020304" pitchFamily="18" charset="0"/>
              </a:rPr>
              <a:t>TimeWindowCompaction</a:t>
            </a:r>
            <a:endParaRPr lang="en-US" dirty="0">
              <a:solidFill>
                <a:srgbClr val="0F1115"/>
              </a:solidFill>
              <a:cs typeface="Times New Roman" panose="02020603050405020304" pitchFamily="18" charset="0"/>
            </a:endParaRPr>
          </a:p>
          <a:p>
            <a:pPr marL="800100" lvl="1" indent="-342900">
              <a:buSzPts val="1000"/>
              <a:buFont typeface="Symbol" panose="05050102010706020507" pitchFamily="18" charset="2"/>
              <a:buChar char=""/>
              <a:tabLst>
                <a:tab pos="457200" algn="l"/>
              </a:tabLst>
            </a:pPr>
            <a:r>
              <a:rPr lang="en-US" dirty="0">
                <a:solidFill>
                  <a:srgbClr val="0F1115"/>
                </a:solidFill>
                <a:cs typeface="Times New Roman" panose="02020603050405020304" pitchFamily="18" charset="0"/>
              </a:rPr>
              <a:t>Manages </a:t>
            </a:r>
            <a:r>
              <a:rPr lang="en-US" dirty="0" err="1">
                <a:solidFill>
                  <a:srgbClr val="0F1115"/>
                </a:solidFill>
                <a:cs typeface="Times New Roman" panose="02020603050405020304" pitchFamily="18" charset="0"/>
              </a:rPr>
              <a:t>SSTables</a:t>
            </a:r>
            <a:r>
              <a:rPr lang="en-US" dirty="0">
                <a:solidFill>
                  <a:srgbClr val="0F1115"/>
                </a:solidFill>
                <a:cs typeface="Times New Roman" panose="02020603050405020304" pitchFamily="18" charset="0"/>
              </a:rPr>
              <a:t>: Merges and optimizes data files in background</a:t>
            </a:r>
          </a:p>
          <a:p>
            <a:pPr marL="800100" lvl="1" indent="-342900">
              <a:buSzPts val="1000"/>
              <a:buFont typeface="Symbol" panose="05050102010706020507" pitchFamily="18" charset="2"/>
              <a:buChar char=""/>
              <a:tabLst>
                <a:tab pos="457200" algn="l"/>
              </a:tabLst>
            </a:pPr>
            <a:r>
              <a:rPr lang="en-US" dirty="0">
                <a:solidFill>
                  <a:srgbClr val="0F1115"/>
                </a:solidFill>
                <a:cs typeface="Times New Roman" panose="02020603050405020304" pitchFamily="18" charset="0"/>
              </a:rPr>
              <a:t>Space reclamation: Removes obsolete data</a:t>
            </a:r>
          </a:p>
          <a:p>
            <a:pPr>
              <a:lnSpc>
                <a:spcPts val="2250"/>
              </a:lnSpc>
              <a:spcBef>
                <a:spcPts val="2400"/>
              </a:spcBef>
              <a:spcAft>
                <a:spcPts val="1200"/>
              </a:spcAft>
              <a:buNone/>
            </a:pPr>
            <a:r>
              <a:rPr lang="en-US" b="1" dirty="0">
                <a:solidFill>
                  <a:schemeClr val="accent2">
                    <a:lumMod val="75000"/>
                  </a:schemeClr>
                </a:solidFill>
              </a:rPr>
              <a:t>Security Features</a:t>
            </a:r>
          </a:p>
          <a:p>
            <a:pPr marL="800100" lvl="1" indent="-342900">
              <a:buSzPts val="1000"/>
              <a:buFont typeface="Symbol" panose="05050102010706020507" pitchFamily="18" charset="2"/>
              <a:buChar char=""/>
              <a:tabLst>
                <a:tab pos="457200" algn="l"/>
              </a:tabLst>
            </a:pPr>
            <a:r>
              <a:rPr lang="en-US" dirty="0">
                <a:solidFill>
                  <a:srgbClr val="0F1115"/>
                </a:solidFill>
                <a:cs typeface="Times New Roman" panose="02020603050405020304" pitchFamily="18" charset="0"/>
              </a:rPr>
              <a:t>Authentication: Internal and LDAP authentication</a:t>
            </a:r>
          </a:p>
          <a:p>
            <a:pPr marL="800100" lvl="1" indent="-342900">
              <a:buSzPts val="1000"/>
              <a:buFont typeface="Symbol" panose="05050102010706020507" pitchFamily="18" charset="2"/>
              <a:buChar char=""/>
              <a:tabLst>
                <a:tab pos="457200" algn="l"/>
              </a:tabLst>
            </a:pPr>
            <a:r>
              <a:rPr lang="en-US" dirty="0">
                <a:solidFill>
                  <a:srgbClr val="0F1115"/>
                </a:solidFill>
                <a:cs typeface="Times New Roman" panose="02020603050405020304" pitchFamily="18" charset="0"/>
              </a:rPr>
              <a:t>Authorization: Role-based access control (RBAC)</a:t>
            </a:r>
          </a:p>
          <a:p>
            <a:pPr marL="800100" lvl="1" indent="-342900">
              <a:buSzPts val="1000"/>
              <a:buFont typeface="Symbol" panose="05050102010706020507" pitchFamily="18" charset="2"/>
              <a:buChar char=""/>
              <a:tabLst>
                <a:tab pos="457200" algn="l"/>
              </a:tabLst>
            </a:pPr>
            <a:r>
              <a:rPr lang="en-US" dirty="0">
                <a:solidFill>
                  <a:srgbClr val="0F1115"/>
                </a:solidFill>
                <a:cs typeface="Times New Roman" panose="02020603050405020304" pitchFamily="18" charset="0"/>
              </a:rPr>
              <a:t>Encryption: Client-to-node and node-to-node encryption</a:t>
            </a:r>
          </a:p>
          <a:p>
            <a:pPr marL="800100" lvl="1" indent="-342900">
              <a:buSzPts val="1000"/>
              <a:buFont typeface="Symbol" panose="05050102010706020507" pitchFamily="18" charset="2"/>
              <a:buChar char=""/>
              <a:tabLst>
                <a:tab pos="457200" algn="l"/>
              </a:tabLst>
            </a:pPr>
            <a:r>
              <a:rPr lang="en-US" dirty="0">
                <a:solidFill>
                  <a:srgbClr val="0F1115"/>
                </a:solidFill>
                <a:cs typeface="Times New Roman" panose="02020603050405020304" pitchFamily="18" charset="0"/>
              </a:rPr>
              <a:t>Audit logging: Track database activities</a:t>
            </a:r>
          </a:p>
        </p:txBody>
      </p:sp>
    </p:spTree>
    <p:extLst>
      <p:ext uri="{BB962C8B-B14F-4D97-AF65-F5344CB8AC3E}">
        <p14:creationId xmlns:p14="http://schemas.microsoft.com/office/powerpoint/2010/main" val="10331315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EF2606-7FBF-496D-AEED-3DF1B0BC8D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EF0DC7-B28D-D5B5-04B5-2044ABFB65B2}"/>
              </a:ext>
            </a:extLst>
          </p:cNvPr>
          <p:cNvSpPr>
            <a:spLocks noGrp="1"/>
          </p:cNvSpPr>
          <p:nvPr>
            <p:ph type="title"/>
          </p:nvPr>
        </p:nvSpPr>
        <p:spPr>
          <a:xfrm>
            <a:off x="324018" y="-185739"/>
            <a:ext cx="11029616" cy="712157"/>
          </a:xfrm>
        </p:spPr>
        <p:txBody>
          <a:bodyPr>
            <a:normAutofit/>
          </a:bodyPr>
          <a:lstStyle/>
          <a:p>
            <a:r>
              <a:rPr lang="en-US" b="1" dirty="0"/>
              <a:t>Cassandra vs. Traditional RDBMS</a:t>
            </a:r>
            <a:endParaRPr lang="en-US" dirty="0"/>
          </a:p>
        </p:txBody>
      </p:sp>
      <p:graphicFrame>
        <p:nvGraphicFramePr>
          <p:cNvPr id="5" name="Table 4">
            <a:extLst>
              <a:ext uri="{FF2B5EF4-FFF2-40B4-BE49-F238E27FC236}">
                <a16:creationId xmlns:a16="http://schemas.microsoft.com/office/drawing/2014/main" id="{EE026D0B-4171-DDDC-05FB-9E9107D342F0}"/>
              </a:ext>
            </a:extLst>
          </p:cNvPr>
          <p:cNvGraphicFramePr>
            <a:graphicFrameLocks noGrp="1"/>
          </p:cNvGraphicFramePr>
          <p:nvPr>
            <p:extLst>
              <p:ext uri="{D42A27DB-BD31-4B8C-83A1-F6EECF244321}">
                <p14:modId xmlns:p14="http://schemas.microsoft.com/office/powerpoint/2010/main" val="3863948392"/>
              </p:ext>
            </p:extLst>
          </p:nvPr>
        </p:nvGraphicFramePr>
        <p:xfrm>
          <a:off x="521493" y="938275"/>
          <a:ext cx="11229975" cy="5541109"/>
        </p:xfrm>
        <a:graphic>
          <a:graphicData uri="http://schemas.openxmlformats.org/drawingml/2006/table">
            <a:tbl>
              <a:tblPr firstRow="1" firstCol="1" bandRow="1">
                <a:tableStyleId>{5C22544A-7EE6-4342-B048-85BDC9FD1C3A}</a:tableStyleId>
              </a:tblPr>
              <a:tblGrid>
                <a:gridCol w="3743325">
                  <a:extLst>
                    <a:ext uri="{9D8B030D-6E8A-4147-A177-3AD203B41FA5}">
                      <a16:colId xmlns:a16="http://schemas.microsoft.com/office/drawing/2014/main" val="2190388605"/>
                    </a:ext>
                  </a:extLst>
                </a:gridCol>
                <a:gridCol w="3743325">
                  <a:extLst>
                    <a:ext uri="{9D8B030D-6E8A-4147-A177-3AD203B41FA5}">
                      <a16:colId xmlns:a16="http://schemas.microsoft.com/office/drawing/2014/main" val="1212935809"/>
                    </a:ext>
                  </a:extLst>
                </a:gridCol>
                <a:gridCol w="3743325">
                  <a:extLst>
                    <a:ext uri="{9D8B030D-6E8A-4147-A177-3AD203B41FA5}">
                      <a16:colId xmlns:a16="http://schemas.microsoft.com/office/drawing/2014/main" val="1890686115"/>
                    </a:ext>
                  </a:extLst>
                </a:gridCol>
              </a:tblGrid>
              <a:tr h="791587">
                <a:tc>
                  <a:txBody>
                    <a:bodyPr/>
                    <a:lstStyle/>
                    <a:p>
                      <a:pPr>
                        <a:lnSpc>
                          <a:spcPts val="1875"/>
                        </a:lnSpc>
                        <a:buNone/>
                      </a:pPr>
                      <a:r>
                        <a:rPr lang="en-US" sz="2400" kern="100">
                          <a:effectLst/>
                        </a:rPr>
                        <a:t>Aspect</a:t>
                      </a:r>
                      <a:endParaRPr lang="en-US" sz="2400" kern="100">
                        <a:effectLst/>
                        <a:latin typeface="Calibri" panose="020F0502020204030204" pitchFamily="34" charset="0"/>
                        <a:ea typeface="Arial Unicode MS"/>
                        <a:cs typeface="Times New Roman" panose="02020603050405020304" pitchFamily="18" charset="0"/>
                      </a:endParaRPr>
                    </a:p>
                  </a:txBody>
                  <a:tcPr marL="0" marR="152400" marT="95250" marB="95250" anchor="ctr"/>
                </a:tc>
                <a:tc>
                  <a:txBody>
                    <a:bodyPr/>
                    <a:lstStyle/>
                    <a:p>
                      <a:pPr>
                        <a:lnSpc>
                          <a:spcPts val="1875"/>
                        </a:lnSpc>
                        <a:buNone/>
                      </a:pPr>
                      <a:r>
                        <a:rPr lang="en-US" sz="2400" kern="100">
                          <a:effectLst/>
                        </a:rPr>
                        <a:t>Cassandra</a:t>
                      </a:r>
                      <a:endParaRPr lang="en-US" sz="2400" kern="100">
                        <a:effectLst/>
                        <a:latin typeface="Calibri" panose="020F0502020204030204" pitchFamily="34" charset="0"/>
                        <a:ea typeface="Arial Unicode MS"/>
                        <a:cs typeface="Times New Roman" panose="02020603050405020304" pitchFamily="18" charset="0"/>
                      </a:endParaRPr>
                    </a:p>
                  </a:txBody>
                  <a:tcPr marL="152400" marR="152400" marT="95250" marB="95250" anchor="ctr"/>
                </a:tc>
                <a:tc>
                  <a:txBody>
                    <a:bodyPr/>
                    <a:lstStyle/>
                    <a:p>
                      <a:pPr>
                        <a:lnSpc>
                          <a:spcPts val="1875"/>
                        </a:lnSpc>
                        <a:buNone/>
                      </a:pPr>
                      <a:r>
                        <a:rPr lang="en-US" sz="2400" kern="100" dirty="0">
                          <a:effectLst/>
                        </a:rPr>
                        <a:t>Traditional RDBMS</a:t>
                      </a:r>
                      <a:endParaRPr lang="en-US" sz="2400" kern="100" dirty="0">
                        <a:effectLst/>
                        <a:latin typeface="Calibri" panose="020F0502020204030204" pitchFamily="34" charset="0"/>
                        <a:ea typeface="Arial Unicode MS"/>
                        <a:cs typeface="Times New Roman" panose="02020603050405020304" pitchFamily="18" charset="0"/>
                      </a:endParaRPr>
                    </a:p>
                  </a:txBody>
                  <a:tcPr marL="152400" marR="152400" marT="95250" marB="95250" anchor="ctr"/>
                </a:tc>
                <a:extLst>
                  <a:ext uri="{0D108BD9-81ED-4DB2-BD59-A6C34878D82A}">
                    <a16:rowId xmlns:a16="http://schemas.microsoft.com/office/drawing/2014/main" val="4183472664"/>
                  </a:ext>
                </a:extLst>
              </a:tr>
              <a:tr h="791587">
                <a:tc>
                  <a:txBody>
                    <a:bodyPr/>
                    <a:lstStyle/>
                    <a:p>
                      <a:pPr>
                        <a:lnSpc>
                          <a:spcPts val="1875"/>
                        </a:lnSpc>
                        <a:buNone/>
                      </a:pPr>
                      <a:r>
                        <a:rPr lang="en-US" sz="1800" b="0" kern="100">
                          <a:effectLst/>
                        </a:rPr>
                        <a:t>Architecture</a:t>
                      </a:r>
                      <a:endParaRPr lang="en-US" sz="1800" b="0" kern="100">
                        <a:effectLst/>
                        <a:latin typeface="Calibri" panose="020F0502020204030204" pitchFamily="34" charset="0"/>
                        <a:ea typeface="Arial Unicode MS"/>
                        <a:cs typeface="Times New Roman" panose="02020603050405020304" pitchFamily="18" charset="0"/>
                      </a:endParaRPr>
                    </a:p>
                  </a:txBody>
                  <a:tcPr marL="0" marR="152400" marT="95250" marB="95250" anchor="ctr"/>
                </a:tc>
                <a:tc>
                  <a:txBody>
                    <a:bodyPr/>
                    <a:lstStyle/>
                    <a:p>
                      <a:pPr>
                        <a:lnSpc>
                          <a:spcPts val="1875"/>
                        </a:lnSpc>
                        <a:buNone/>
                      </a:pPr>
                      <a:r>
                        <a:rPr lang="en-US" sz="1800" b="0" kern="100">
                          <a:effectLst/>
                        </a:rPr>
                        <a:t>Distributed, decentralized</a:t>
                      </a:r>
                      <a:endParaRPr lang="en-US" sz="1800" b="0" kern="100">
                        <a:effectLst/>
                        <a:latin typeface="Calibri" panose="020F0502020204030204" pitchFamily="34" charset="0"/>
                        <a:ea typeface="Arial Unicode MS"/>
                        <a:cs typeface="Times New Roman" panose="02020603050405020304" pitchFamily="18" charset="0"/>
                      </a:endParaRPr>
                    </a:p>
                  </a:txBody>
                  <a:tcPr marL="152400" marR="152400" marT="95250" marB="95250" anchor="ctr"/>
                </a:tc>
                <a:tc>
                  <a:txBody>
                    <a:bodyPr/>
                    <a:lstStyle/>
                    <a:p>
                      <a:pPr>
                        <a:lnSpc>
                          <a:spcPts val="1875"/>
                        </a:lnSpc>
                        <a:buNone/>
                      </a:pPr>
                      <a:r>
                        <a:rPr lang="en-US" sz="1800" b="0" kern="100">
                          <a:effectLst/>
                        </a:rPr>
                        <a:t>Centralized</a:t>
                      </a:r>
                      <a:endParaRPr lang="en-US" sz="1800" b="0" kern="100">
                        <a:effectLst/>
                        <a:latin typeface="Calibri" panose="020F0502020204030204" pitchFamily="34" charset="0"/>
                        <a:ea typeface="Arial Unicode MS"/>
                        <a:cs typeface="Times New Roman" panose="02020603050405020304" pitchFamily="18" charset="0"/>
                      </a:endParaRPr>
                    </a:p>
                  </a:txBody>
                  <a:tcPr marL="152400" marR="0" marT="95250" marB="95250" anchor="ctr"/>
                </a:tc>
                <a:extLst>
                  <a:ext uri="{0D108BD9-81ED-4DB2-BD59-A6C34878D82A}">
                    <a16:rowId xmlns:a16="http://schemas.microsoft.com/office/drawing/2014/main" val="3041055917"/>
                  </a:ext>
                </a:extLst>
              </a:tr>
              <a:tr h="791587">
                <a:tc>
                  <a:txBody>
                    <a:bodyPr/>
                    <a:lstStyle/>
                    <a:p>
                      <a:pPr>
                        <a:lnSpc>
                          <a:spcPts val="1875"/>
                        </a:lnSpc>
                        <a:buNone/>
                      </a:pPr>
                      <a:r>
                        <a:rPr lang="en-US" sz="1800" b="0" kern="100" dirty="0">
                          <a:effectLst/>
                        </a:rPr>
                        <a:t>Schema</a:t>
                      </a:r>
                      <a:endParaRPr lang="en-US" sz="1800" b="0" kern="100" dirty="0">
                        <a:effectLst/>
                        <a:latin typeface="Calibri" panose="020F0502020204030204" pitchFamily="34" charset="0"/>
                        <a:ea typeface="Arial Unicode MS"/>
                        <a:cs typeface="Times New Roman" panose="02020603050405020304" pitchFamily="18" charset="0"/>
                      </a:endParaRPr>
                    </a:p>
                  </a:txBody>
                  <a:tcPr marL="0" marR="152400" marT="95250" marB="95250" anchor="ctr"/>
                </a:tc>
                <a:tc>
                  <a:txBody>
                    <a:bodyPr/>
                    <a:lstStyle/>
                    <a:p>
                      <a:pPr>
                        <a:lnSpc>
                          <a:spcPts val="1875"/>
                        </a:lnSpc>
                        <a:buNone/>
                      </a:pPr>
                      <a:r>
                        <a:rPr lang="en-US" sz="1800" b="0" kern="100">
                          <a:effectLst/>
                        </a:rPr>
                        <a:t>Flexible, can evolve</a:t>
                      </a:r>
                      <a:endParaRPr lang="en-US" sz="1800" b="0" kern="100">
                        <a:effectLst/>
                        <a:latin typeface="Calibri" panose="020F0502020204030204" pitchFamily="34" charset="0"/>
                        <a:ea typeface="Arial Unicode MS"/>
                        <a:cs typeface="Times New Roman" panose="02020603050405020304" pitchFamily="18" charset="0"/>
                      </a:endParaRPr>
                    </a:p>
                  </a:txBody>
                  <a:tcPr marL="152400" marR="152400" marT="95250" marB="95250" anchor="ctr"/>
                </a:tc>
                <a:tc>
                  <a:txBody>
                    <a:bodyPr/>
                    <a:lstStyle/>
                    <a:p>
                      <a:pPr>
                        <a:lnSpc>
                          <a:spcPts val="1875"/>
                        </a:lnSpc>
                        <a:buNone/>
                      </a:pPr>
                      <a:r>
                        <a:rPr lang="en-US" sz="1800" b="0" kern="100">
                          <a:effectLst/>
                        </a:rPr>
                        <a:t>Rigid, predefined</a:t>
                      </a:r>
                      <a:endParaRPr lang="en-US" sz="1800" b="0" kern="100">
                        <a:effectLst/>
                        <a:latin typeface="Calibri" panose="020F0502020204030204" pitchFamily="34" charset="0"/>
                        <a:ea typeface="Arial Unicode MS"/>
                        <a:cs typeface="Times New Roman" panose="02020603050405020304" pitchFamily="18" charset="0"/>
                      </a:endParaRPr>
                    </a:p>
                  </a:txBody>
                  <a:tcPr marL="152400" marR="0" marT="95250" marB="95250" anchor="ctr"/>
                </a:tc>
                <a:extLst>
                  <a:ext uri="{0D108BD9-81ED-4DB2-BD59-A6C34878D82A}">
                    <a16:rowId xmlns:a16="http://schemas.microsoft.com/office/drawing/2014/main" val="3270916300"/>
                  </a:ext>
                </a:extLst>
              </a:tr>
              <a:tr h="791587">
                <a:tc>
                  <a:txBody>
                    <a:bodyPr/>
                    <a:lstStyle/>
                    <a:p>
                      <a:pPr>
                        <a:lnSpc>
                          <a:spcPts val="1875"/>
                        </a:lnSpc>
                        <a:buNone/>
                      </a:pPr>
                      <a:r>
                        <a:rPr lang="en-US" sz="1800" b="0" kern="100" dirty="0">
                          <a:effectLst/>
                        </a:rPr>
                        <a:t>Scaling</a:t>
                      </a:r>
                      <a:endParaRPr lang="en-US" sz="1800" b="0" kern="100" dirty="0">
                        <a:effectLst/>
                        <a:latin typeface="Calibri" panose="020F0502020204030204" pitchFamily="34" charset="0"/>
                        <a:ea typeface="Arial Unicode MS"/>
                        <a:cs typeface="Times New Roman" panose="02020603050405020304" pitchFamily="18" charset="0"/>
                      </a:endParaRPr>
                    </a:p>
                  </a:txBody>
                  <a:tcPr marL="0" marR="152400" marT="95250" marB="95250" anchor="ctr"/>
                </a:tc>
                <a:tc>
                  <a:txBody>
                    <a:bodyPr/>
                    <a:lstStyle/>
                    <a:p>
                      <a:pPr>
                        <a:lnSpc>
                          <a:spcPts val="1875"/>
                        </a:lnSpc>
                        <a:buNone/>
                      </a:pPr>
                      <a:r>
                        <a:rPr lang="en-US" sz="1800" b="0" kern="100">
                          <a:effectLst/>
                        </a:rPr>
                        <a:t>Horizontal (add nodes)</a:t>
                      </a:r>
                      <a:endParaRPr lang="en-US" sz="1800" b="0" kern="100">
                        <a:effectLst/>
                        <a:latin typeface="Calibri" panose="020F0502020204030204" pitchFamily="34" charset="0"/>
                        <a:ea typeface="Arial Unicode MS"/>
                        <a:cs typeface="Times New Roman" panose="02020603050405020304" pitchFamily="18" charset="0"/>
                      </a:endParaRPr>
                    </a:p>
                  </a:txBody>
                  <a:tcPr marL="152400" marR="152400" marT="95250" marB="95250" anchor="ctr"/>
                </a:tc>
                <a:tc>
                  <a:txBody>
                    <a:bodyPr/>
                    <a:lstStyle/>
                    <a:p>
                      <a:pPr>
                        <a:lnSpc>
                          <a:spcPts val="1875"/>
                        </a:lnSpc>
                        <a:buNone/>
                      </a:pPr>
                      <a:r>
                        <a:rPr lang="en-US" sz="1800" b="0" kern="100">
                          <a:effectLst/>
                        </a:rPr>
                        <a:t>Vertical (add resources to single server)</a:t>
                      </a:r>
                      <a:endParaRPr lang="en-US" sz="1800" b="0" kern="100">
                        <a:effectLst/>
                        <a:latin typeface="Calibri" panose="020F0502020204030204" pitchFamily="34" charset="0"/>
                        <a:ea typeface="Arial Unicode MS"/>
                        <a:cs typeface="Times New Roman" panose="02020603050405020304" pitchFamily="18" charset="0"/>
                      </a:endParaRPr>
                    </a:p>
                  </a:txBody>
                  <a:tcPr marL="152400" marR="0" marT="95250" marB="95250" anchor="ctr"/>
                </a:tc>
                <a:extLst>
                  <a:ext uri="{0D108BD9-81ED-4DB2-BD59-A6C34878D82A}">
                    <a16:rowId xmlns:a16="http://schemas.microsoft.com/office/drawing/2014/main" val="1908769996"/>
                  </a:ext>
                </a:extLst>
              </a:tr>
              <a:tr h="791587">
                <a:tc>
                  <a:txBody>
                    <a:bodyPr/>
                    <a:lstStyle/>
                    <a:p>
                      <a:pPr>
                        <a:lnSpc>
                          <a:spcPts val="1875"/>
                        </a:lnSpc>
                        <a:buNone/>
                      </a:pPr>
                      <a:r>
                        <a:rPr lang="en-US" sz="1800" b="0" kern="100">
                          <a:effectLst/>
                        </a:rPr>
                        <a:t>Joins</a:t>
                      </a:r>
                      <a:endParaRPr lang="en-US" sz="1800" b="0" kern="100">
                        <a:effectLst/>
                        <a:latin typeface="Calibri" panose="020F0502020204030204" pitchFamily="34" charset="0"/>
                        <a:ea typeface="Arial Unicode MS"/>
                        <a:cs typeface="Times New Roman" panose="02020603050405020304" pitchFamily="18" charset="0"/>
                      </a:endParaRPr>
                    </a:p>
                  </a:txBody>
                  <a:tcPr marL="0" marR="152400" marT="95250" marB="95250" anchor="ctr"/>
                </a:tc>
                <a:tc>
                  <a:txBody>
                    <a:bodyPr/>
                    <a:lstStyle/>
                    <a:p>
                      <a:pPr>
                        <a:lnSpc>
                          <a:spcPts val="1875"/>
                        </a:lnSpc>
                        <a:buNone/>
                      </a:pPr>
                      <a:r>
                        <a:rPr lang="en-US" sz="1800" b="0" kern="100">
                          <a:effectLst/>
                        </a:rPr>
                        <a:t>Not supported (denormalize)</a:t>
                      </a:r>
                      <a:endParaRPr lang="en-US" sz="1800" b="0" kern="100">
                        <a:effectLst/>
                        <a:latin typeface="Calibri" panose="020F0502020204030204" pitchFamily="34" charset="0"/>
                        <a:ea typeface="Arial Unicode MS"/>
                        <a:cs typeface="Times New Roman" panose="02020603050405020304" pitchFamily="18" charset="0"/>
                      </a:endParaRPr>
                    </a:p>
                  </a:txBody>
                  <a:tcPr marL="152400" marR="152400" marT="95250" marB="95250" anchor="ctr"/>
                </a:tc>
                <a:tc>
                  <a:txBody>
                    <a:bodyPr/>
                    <a:lstStyle/>
                    <a:p>
                      <a:pPr>
                        <a:lnSpc>
                          <a:spcPts val="1875"/>
                        </a:lnSpc>
                        <a:buNone/>
                      </a:pPr>
                      <a:r>
                        <a:rPr lang="en-US" sz="1800" b="0" kern="100">
                          <a:effectLst/>
                        </a:rPr>
                        <a:t>Supported</a:t>
                      </a:r>
                      <a:endParaRPr lang="en-US" sz="1800" b="0" kern="100">
                        <a:effectLst/>
                        <a:latin typeface="Calibri" panose="020F0502020204030204" pitchFamily="34" charset="0"/>
                        <a:ea typeface="Arial Unicode MS"/>
                        <a:cs typeface="Times New Roman" panose="02020603050405020304" pitchFamily="18" charset="0"/>
                      </a:endParaRPr>
                    </a:p>
                  </a:txBody>
                  <a:tcPr marL="152400" marR="0" marT="95250" marB="95250" anchor="ctr"/>
                </a:tc>
                <a:extLst>
                  <a:ext uri="{0D108BD9-81ED-4DB2-BD59-A6C34878D82A}">
                    <a16:rowId xmlns:a16="http://schemas.microsoft.com/office/drawing/2014/main" val="985984274"/>
                  </a:ext>
                </a:extLst>
              </a:tr>
              <a:tr h="791587">
                <a:tc>
                  <a:txBody>
                    <a:bodyPr/>
                    <a:lstStyle/>
                    <a:p>
                      <a:pPr>
                        <a:lnSpc>
                          <a:spcPts val="1875"/>
                        </a:lnSpc>
                        <a:buNone/>
                      </a:pPr>
                      <a:r>
                        <a:rPr lang="en-US" sz="1800" b="0" kern="100">
                          <a:effectLst/>
                        </a:rPr>
                        <a:t>Transactions</a:t>
                      </a:r>
                      <a:endParaRPr lang="en-US" sz="1800" b="0" kern="100">
                        <a:effectLst/>
                        <a:latin typeface="Calibri" panose="020F0502020204030204" pitchFamily="34" charset="0"/>
                        <a:ea typeface="Arial Unicode MS"/>
                        <a:cs typeface="Times New Roman" panose="02020603050405020304" pitchFamily="18" charset="0"/>
                      </a:endParaRPr>
                    </a:p>
                  </a:txBody>
                  <a:tcPr marL="0" marR="152400" marT="95250" marB="95250" anchor="ctr"/>
                </a:tc>
                <a:tc>
                  <a:txBody>
                    <a:bodyPr/>
                    <a:lstStyle/>
                    <a:p>
                      <a:pPr>
                        <a:lnSpc>
                          <a:spcPts val="1875"/>
                        </a:lnSpc>
                        <a:buNone/>
                      </a:pPr>
                      <a:r>
                        <a:rPr lang="en-US" sz="1800" b="0" kern="100">
                          <a:effectLst/>
                        </a:rPr>
                        <a:t>Limited (batch operations)</a:t>
                      </a:r>
                      <a:endParaRPr lang="en-US" sz="1800" b="0" kern="100">
                        <a:effectLst/>
                        <a:latin typeface="Calibri" panose="020F0502020204030204" pitchFamily="34" charset="0"/>
                        <a:ea typeface="Arial Unicode MS"/>
                        <a:cs typeface="Times New Roman" panose="02020603050405020304" pitchFamily="18" charset="0"/>
                      </a:endParaRPr>
                    </a:p>
                  </a:txBody>
                  <a:tcPr marL="152400" marR="152400" marT="95250" marB="95250" anchor="ctr"/>
                </a:tc>
                <a:tc>
                  <a:txBody>
                    <a:bodyPr/>
                    <a:lstStyle/>
                    <a:p>
                      <a:pPr>
                        <a:lnSpc>
                          <a:spcPts val="1875"/>
                        </a:lnSpc>
                        <a:buNone/>
                      </a:pPr>
                      <a:r>
                        <a:rPr lang="en-US" sz="1800" b="0" kern="100">
                          <a:effectLst/>
                        </a:rPr>
                        <a:t>ACID compliant</a:t>
                      </a:r>
                      <a:endParaRPr lang="en-US" sz="1800" b="0" kern="100">
                        <a:effectLst/>
                        <a:latin typeface="Calibri" panose="020F0502020204030204" pitchFamily="34" charset="0"/>
                        <a:ea typeface="Arial Unicode MS"/>
                        <a:cs typeface="Times New Roman" panose="02020603050405020304" pitchFamily="18" charset="0"/>
                      </a:endParaRPr>
                    </a:p>
                  </a:txBody>
                  <a:tcPr marL="152400" marR="0" marT="95250" marB="95250" anchor="ctr"/>
                </a:tc>
                <a:extLst>
                  <a:ext uri="{0D108BD9-81ED-4DB2-BD59-A6C34878D82A}">
                    <a16:rowId xmlns:a16="http://schemas.microsoft.com/office/drawing/2014/main" val="1431692667"/>
                  </a:ext>
                </a:extLst>
              </a:tr>
              <a:tr h="791587">
                <a:tc>
                  <a:txBody>
                    <a:bodyPr/>
                    <a:lstStyle/>
                    <a:p>
                      <a:pPr>
                        <a:lnSpc>
                          <a:spcPts val="1875"/>
                        </a:lnSpc>
                        <a:buNone/>
                      </a:pPr>
                      <a:r>
                        <a:rPr lang="en-US" sz="1800" b="0" kern="100">
                          <a:effectLst/>
                        </a:rPr>
                        <a:t>Consistency</a:t>
                      </a:r>
                      <a:endParaRPr lang="en-US" sz="1800" b="0" kern="100">
                        <a:effectLst/>
                        <a:latin typeface="Calibri" panose="020F0502020204030204" pitchFamily="34" charset="0"/>
                        <a:ea typeface="Arial Unicode MS"/>
                        <a:cs typeface="Times New Roman" panose="02020603050405020304" pitchFamily="18" charset="0"/>
                      </a:endParaRPr>
                    </a:p>
                  </a:txBody>
                  <a:tcPr marL="0" marR="152400" marT="95250" marB="95250" anchor="ctr"/>
                </a:tc>
                <a:tc>
                  <a:txBody>
                    <a:bodyPr/>
                    <a:lstStyle/>
                    <a:p>
                      <a:pPr>
                        <a:lnSpc>
                          <a:spcPts val="1875"/>
                        </a:lnSpc>
                        <a:buNone/>
                      </a:pPr>
                      <a:r>
                        <a:rPr lang="en-US" sz="1800" b="0" kern="100">
                          <a:effectLst/>
                        </a:rPr>
                        <a:t>Tunable (eventual to strong)</a:t>
                      </a:r>
                      <a:endParaRPr lang="en-US" sz="1800" b="0" kern="100">
                        <a:effectLst/>
                        <a:latin typeface="Calibri" panose="020F0502020204030204" pitchFamily="34" charset="0"/>
                        <a:ea typeface="Arial Unicode MS"/>
                        <a:cs typeface="Times New Roman" panose="02020603050405020304" pitchFamily="18" charset="0"/>
                      </a:endParaRPr>
                    </a:p>
                  </a:txBody>
                  <a:tcPr marL="152400" marR="152400" marT="95250" marB="95250" anchor="ctr"/>
                </a:tc>
                <a:tc>
                  <a:txBody>
                    <a:bodyPr/>
                    <a:lstStyle/>
                    <a:p>
                      <a:pPr>
                        <a:lnSpc>
                          <a:spcPts val="1875"/>
                        </a:lnSpc>
                        <a:buNone/>
                      </a:pPr>
                      <a:r>
                        <a:rPr lang="en-US" sz="1800" b="0" kern="100" dirty="0">
                          <a:effectLst/>
                        </a:rPr>
                        <a:t>Strong (immediate)</a:t>
                      </a:r>
                      <a:endParaRPr lang="en-US" sz="1800" b="0" kern="100" dirty="0">
                        <a:effectLst/>
                        <a:latin typeface="Calibri" panose="020F0502020204030204" pitchFamily="34" charset="0"/>
                        <a:ea typeface="Arial Unicode MS"/>
                        <a:cs typeface="Times New Roman" panose="02020603050405020304" pitchFamily="18" charset="0"/>
                      </a:endParaRPr>
                    </a:p>
                  </a:txBody>
                  <a:tcPr marL="152400" marR="0" marT="95250" marB="95250" anchor="ctr"/>
                </a:tc>
                <a:extLst>
                  <a:ext uri="{0D108BD9-81ED-4DB2-BD59-A6C34878D82A}">
                    <a16:rowId xmlns:a16="http://schemas.microsoft.com/office/drawing/2014/main" val="769974327"/>
                  </a:ext>
                </a:extLst>
              </a:tr>
            </a:tbl>
          </a:graphicData>
        </a:graphic>
      </p:graphicFrame>
    </p:spTree>
    <p:extLst>
      <p:ext uri="{BB962C8B-B14F-4D97-AF65-F5344CB8AC3E}">
        <p14:creationId xmlns:p14="http://schemas.microsoft.com/office/powerpoint/2010/main" val="28926933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436B73-95B7-81A9-25B0-2E89443F53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E2BA7C-6DD1-E8F9-FDAC-7237D807F018}"/>
              </a:ext>
            </a:extLst>
          </p:cNvPr>
          <p:cNvSpPr>
            <a:spLocks noGrp="1"/>
          </p:cNvSpPr>
          <p:nvPr>
            <p:ph type="title"/>
          </p:nvPr>
        </p:nvSpPr>
        <p:spPr>
          <a:xfrm>
            <a:off x="324018" y="-185739"/>
            <a:ext cx="11029616" cy="712157"/>
          </a:xfrm>
        </p:spPr>
        <p:txBody>
          <a:bodyPr/>
          <a:lstStyle/>
          <a:p>
            <a:r>
              <a:rPr lang="en-US" dirty="0"/>
              <a:t>Cassandra use cases </a:t>
            </a:r>
          </a:p>
        </p:txBody>
      </p:sp>
      <p:sp>
        <p:nvSpPr>
          <p:cNvPr id="6" name="TextBox 5">
            <a:extLst>
              <a:ext uri="{FF2B5EF4-FFF2-40B4-BE49-F238E27FC236}">
                <a16:creationId xmlns:a16="http://schemas.microsoft.com/office/drawing/2014/main" id="{260152CB-7C6A-E457-76CF-2319AFEDA4B4}"/>
              </a:ext>
            </a:extLst>
          </p:cNvPr>
          <p:cNvSpPr txBox="1"/>
          <p:nvPr/>
        </p:nvSpPr>
        <p:spPr>
          <a:xfrm>
            <a:off x="459581" y="978695"/>
            <a:ext cx="11172825" cy="2119042"/>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b="1" dirty="0"/>
              <a:t>Time-series data: </a:t>
            </a:r>
            <a:r>
              <a:rPr lang="en-US" dirty="0"/>
              <a:t>IoT, monitoring, analytics</a:t>
            </a:r>
          </a:p>
          <a:p>
            <a:pPr marL="285750" indent="-285750">
              <a:lnSpc>
                <a:spcPct val="150000"/>
              </a:lnSpc>
              <a:buFont typeface="Arial" panose="020B0604020202020204" pitchFamily="34" charset="0"/>
              <a:buChar char="•"/>
            </a:pPr>
            <a:r>
              <a:rPr lang="en-US" b="1" dirty="0"/>
              <a:t>High-velocity writes: </a:t>
            </a:r>
            <a:r>
              <a:rPr lang="en-US" dirty="0"/>
              <a:t>Messaging, clickstream, logging</a:t>
            </a:r>
          </a:p>
          <a:p>
            <a:pPr marL="285750" indent="-285750">
              <a:lnSpc>
                <a:spcPct val="150000"/>
              </a:lnSpc>
              <a:buFont typeface="Arial" panose="020B0604020202020204" pitchFamily="34" charset="0"/>
              <a:buChar char="•"/>
            </a:pPr>
            <a:r>
              <a:rPr lang="en-US" b="1" dirty="0"/>
              <a:t>Product catalogs: </a:t>
            </a:r>
            <a:r>
              <a:rPr lang="en-US" dirty="0"/>
              <a:t>E-commerce with flexible attributes</a:t>
            </a:r>
          </a:p>
          <a:p>
            <a:pPr marL="285750" indent="-285750">
              <a:lnSpc>
                <a:spcPct val="150000"/>
              </a:lnSpc>
              <a:buFont typeface="Arial" panose="020B0604020202020204" pitchFamily="34" charset="0"/>
              <a:buChar char="•"/>
            </a:pPr>
            <a:r>
              <a:rPr lang="en-US" b="1" dirty="0"/>
              <a:t>Recommendation engines: </a:t>
            </a:r>
            <a:r>
              <a:rPr lang="en-US" dirty="0"/>
              <a:t>User preferences, personalization</a:t>
            </a:r>
          </a:p>
          <a:p>
            <a:pPr marL="285750" indent="-285750">
              <a:lnSpc>
                <a:spcPct val="150000"/>
              </a:lnSpc>
              <a:buFont typeface="Arial" panose="020B0604020202020204" pitchFamily="34" charset="0"/>
              <a:buChar char="•"/>
            </a:pPr>
            <a:r>
              <a:rPr lang="en-US" b="1" dirty="0"/>
              <a:t>Metadata stores: </a:t>
            </a:r>
            <a:r>
              <a:rPr lang="en-US" dirty="0"/>
              <a:t>Asset management, content repositories</a:t>
            </a:r>
          </a:p>
        </p:txBody>
      </p:sp>
    </p:spTree>
    <p:extLst>
      <p:ext uri="{BB962C8B-B14F-4D97-AF65-F5344CB8AC3E}">
        <p14:creationId xmlns:p14="http://schemas.microsoft.com/office/powerpoint/2010/main" val="40997895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61BB85-F8AF-4D74-375D-92EAEEDD7A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B3D1DE-CE71-1C3B-E70F-F74679C52E3A}"/>
              </a:ext>
            </a:extLst>
          </p:cNvPr>
          <p:cNvSpPr>
            <a:spLocks noGrp="1"/>
          </p:cNvSpPr>
          <p:nvPr>
            <p:ph type="title"/>
          </p:nvPr>
        </p:nvSpPr>
        <p:spPr>
          <a:xfrm>
            <a:off x="324018" y="-185739"/>
            <a:ext cx="11029616" cy="712157"/>
          </a:xfrm>
        </p:spPr>
        <p:txBody>
          <a:bodyPr/>
          <a:lstStyle/>
          <a:p>
            <a:pPr>
              <a:lnSpc>
                <a:spcPts val="2400"/>
              </a:lnSpc>
              <a:spcBef>
                <a:spcPts val="2400"/>
              </a:spcBef>
              <a:spcAft>
                <a:spcPts val="1200"/>
              </a:spcAft>
            </a:pPr>
            <a:r>
              <a:rPr lang="en-US" b="1" dirty="0">
                <a:solidFill>
                  <a:srgbClr val="0F1115"/>
                </a:solidFill>
                <a:latin typeface="quote-cjk-patch"/>
              </a:rPr>
              <a:t>Less Suitable For</a:t>
            </a:r>
          </a:p>
        </p:txBody>
      </p:sp>
      <p:sp>
        <p:nvSpPr>
          <p:cNvPr id="6" name="TextBox 5">
            <a:extLst>
              <a:ext uri="{FF2B5EF4-FFF2-40B4-BE49-F238E27FC236}">
                <a16:creationId xmlns:a16="http://schemas.microsoft.com/office/drawing/2014/main" id="{A75082F7-83EB-33C2-74C4-ACE85B546570}"/>
              </a:ext>
            </a:extLst>
          </p:cNvPr>
          <p:cNvSpPr txBox="1"/>
          <p:nvPr/>
        </p:nvSpPr>
        <p:spPr>
          <a:xfrm>
            <a:off x="459581" y="978695"/>
            <a:ext cx="11172825" cy="2357568"/>
          </a:xfrm>
          <a:prstGeom prst="rect">
            <a:avLst/>
          </a:prstGeom>
          <a:noFill/>
        </p:spPr>
        <p:txBody>
          <a:bodyPr wrap="square" rtlCol="0">
            <a:spAutoFit/>
          </a:bodyPr>
          <a:lstStyle/>
          <a:p>
            <a:pPr marL="285750" indent="-285750">
              <a:lnSpc>
                <a:spcPct val="150000"/>
              </a:lnSpc>
              <a:spcBef>
                <a:spcPts val="1200"/>
              </a:spcBef>
              <a:spcAft>
                <a:spcPts val="1200"/>
              </a:spcAft>
              <a:buFont typeface="Arial" panose="020B0604020202020204" pitchFamily="34" charset="0"/>
              <a:buChar char="•"/>
            </a:pPr>
            <a:r>
              <a:rPr lang="en-US" dirty="0"/>
              <a:t>Complex transactions requiring ACID properties</a:t>
            </a:r>
          </a:p>
          <a:p>
            <a:pPr marL="285750" indent="-285750">
              <a:lnSpc>
                <a:spcPct val="150000"/>
              </a:lnSpc>
              <a:spcBef>
                <a:spcPts val="450"/>
              </a:spcBef>
              <a:spcAft>
                <a:spcPts val="1200"/>
              </a:spcAft>
              <a:buFont typeface="Arial" panose="020B0604020202020204" pitchFamily="34" charset="0"/>
              <a:buChar char="•"/>
            </a:pPr>
            <a:r>
              <a:rPr lang="en-US" dirty="0"/>
              <a:t>Applications requiring frequent ad-hoc joins</a:t>
            </a:r>
          </a:p>
          <a:p>
            <a:pPr marL="285750" indent="-285750">
              <a:lnSpc>
                <a:spcPct val="150000"/>
              </a:lnSpc>
              <a:spcBef>
                <a:spcPts val="450"/>
              </a:spcBef>
              <a:spcAft>
                <a:spcPts val="1200"/>
              </a:spcAft>
              <a:buFont typeface="Arial" panose="020B0604020202020204" pitchFamily="34" charset="0"/>
              <a:buChar char="•"/>
            </a:pPr>
            <a:r>
              <a:rPr lang="en-US" dirty="0"/>
              <a:t>Systems where strong consistency is always required</a:t>
            </a:r>
          </a:p>
          <a:p>
            <a:pPr marL="285750" indent="-285750">
              <a:lnSpc>
                <a:spcPct val="150000"/>
              </a:lnSpc>
              <a:spcBef>
                <a:spcPts val="450"/>
              </a:spcBef>
              <a:spcAft>
                <a:spcPts val="1200"/>
              </a:spcAft>
              <a:buFont typeface="Arial" panose="020B0604020202020204" pitchFamily="34" charset="0"/>
              <a:buChar char="•"/>
            </a:pPr>
            <a:r>
              <a:rPr lang="en-US" dirty="0"/>
              <a:t>Small datasets that fit on single server</a:t>
            </a:r>
          </a:p>
        </p:txBody>
      </p:sp>
    </p:spTree>
    <p:extLst>
      <p:ext uri="{BB962C8B-B14F-4D97-AF65-F5344CB8AC3E}">
        <p14:creationId xmlns:p14="http://schemas.microsoft.com/office/powerpoint/2010/main" val="7920642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D32FA7F-DB44-559C-5A04-0AC3F8B737B2}"/>
            </a:ext>
          </a:extLst>
        </p:cNvPr>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82610279-1DE3-6856-E8F5-0C1EF5BDE8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6CDD8F8-5D83-74D2-7F77-011A7DF64EF8}"/>
              </a:ext>
            </a:extLst>
          </p:cNvPr>
          <p:cNvSpPr>
            <a:spLocks noGrp="1"/>
          </p:cNvSpPr>
          <p:nvPr>
            <p:ph type="ctrTitle"/>
          </p:nvPr>
        </p:nvSpPr>
        <p:spPr>
          <a:xfrm>
            <a:off x="581191" y="1020431"/>
            <a:ext cx="10993549" cy="1475013"/>
          </a:xfrm>
        </p:spPr>
        <p:txBody>
          <a:bodyPr>
            <a:normAutofit/>
          </a:bodyPr>
          <a:lstStyle/>
          <a:p>
            <a:r>
              <a:rPr lang="en-US" dirty="0" err="1"/>
              <a:t>Datastax</a:t>
            </a:r>
            <a:r>
              <a:rPr lang="en-US" dirty="0"/>
              <a:t> enterprise</a:t>
            </a:r>
          </a:p>
        </p:txBody>
      </p:sp>
      <p:sp>
        <p:nvSpPr>
          <p:cNvPr id="20" name="Rectangle 19">
            <a:extLst>
              <a:ext uri="{FF2B5EF4-FFF2-40B4-BE49-F238E27FC236}">
                <a16:creationId xmlns:a16="http://schemas.microsoft.com/office/drawing/2014/main" id="{FE3E2BCB-CD6C-A68E-70C1-38CE8DC225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1">
            <a:extLst>
              <a:ext uri="{FF2B5EF4-FFF2-40B4-BE49-F238E27FC236}">
                <a16:creationId xmlns:a16="http://schemas.microsoft.com/office/drawing/2014/main" id="{D8092AC8-BC0A-8A67-A57D-B6F39937D1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3">
            <a:extLst>
              <a:ext uri="{FF2B5EF4-FFF2-40B4-BE49-F238E27FC236}">
                <a16:creationId xmlns:a16="http://schemas.microsoft.com/office/drawing/2014/main" id="{35FAB70D-3DB4-CC62-4E14-45AD34D89A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pic>
        <p:nvPicPr>
          <p:cNvPr id="6" name="Picture 5" descr="abstract image">
            <a:extLst>
              <a:ext uri="{FF2B5EF4-FFF2-40B4-BE49-F238E27FC236}">
                <a16:creationId xmlns:a16="http://schemas.microsoft.com/office/drawing/2014/main" id="{10D8480C-B420-541D-2F86-B1F878564128}"/>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448733" y="3081867"/>
            <a:ext cx="11260667" cy="3310466"/>
          </a:xfrm>
          <a:prstGeom prst="rect">
            <a:avLst/>
          </a:prstGeom>
        </p:spPr>
      </p:pic>
    </p:spTree>
    <p:extLst>
      <p:ext uri="{BB962C8B-B14F-4D97-AF65-F5344CB8AC3E}">
        <p14:creationId xmlns:p14="http://schemas.microsoft.com/office/powerpoint/2010/main" val="41923184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394811-E9D2-D0DE-11B6-5AA581D56B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43E98E-CD1E-7D91-5EA0-AA49E28FEB5F}"/>
              </a:ext>
            </a:extLst>
          </p:cNvPr>
          <p:cNvSpPr>
            <a:spLocks noGrp="1"/>
          </p:cNvSpPr>
          <p:nvPr>
            <p:ph type="title"/>
          </p:nvPr>
        </p:nvSpPr>
        <p:spPr>
          <a:xfrm>
            <a:off x="324018" y="-185739"/>
            <a:ext cx="11029616" cy="712157"/>
          </a:xfrm>
        </p:spPr>
        <p:txBody>
          <a:bodyPr/>
          <a:lstStyle/>
          <a:p>
            <a:r>
              <a:rPr lang="en-US" dirty="0" err="1"/>
              <a:t>datastax</a:t>
            </a:r>
            <a:r>
              <a:rPr lang="en-US" dirty="0"/>
              <a:t>  intro</a:t>
            </a:r>
          </a:p>
        </p:txBody>
      </p:sp>
      <p:sp>
        <p:nvSpPr>
          <p:cNvPr id="6" name="TextBox 5">
            <a:extLst>
              <a:ext uri="{FF2B5EF4-FFF2-40B4-BE49-F238E27FC236}">
                <a16:creationId xmlns:a16="http://schemas.microsoft.com/office/drawing/2014/main" id="{ADC366B3-1E65-B12E-0D21-A65675E855B8}"/>
              </a:ext>
            </a:extLst>
          </p:cNvPr>
          <p:cNvSpPr txBox="1"/>
          <p:nvPr/>
        </p:nvSpPr>
        <p:spPr>
          <a:xfrm>
            <a:off x="492919" y="900113"/>
            <a:ext cx="11172825" cy="5096267"/>
          </a:xfrm>
          <a:prstGeom prst="rect">
            <a:avLst/>
          </a:prstGeom>
          <a:noFill/>
        </p:spPr>
        <p:txBody>
          <a:bodyPr wrap="square" rtlCol="0">
            <a:spAutoFit/>
          </a:bodyPr>
          <a:lstStyle/>
          <a:p>
            <a:pPr lvl="0">
              <a:lnSpc>
                <a:spcPct val="150000"/>
              </a:lnSpc>
            </a:pPr>
            <a:r>
              <a:rPr lang="en-US" b="1" dirty="0"/>
              <a:t>DataStax Enterprise (DSE)</a:t>
            </a:r>
            <a:r>
              <a:rPr lang="en-US" dirty="0"/>
              <a:t> is a commercial, enterprise-grade distribution of Apache Cassandra enhanced with additional enterprise features, tooling, and support.</a:t>
            </a:r>
          </a:p>
          <a:p>
            <a:pPr>
              <a:lnSpc>
                <a:spcPts val="2250"/>
              </a:lnSpc>
              <a:spcBef>
                <a:spcPts val="2400"/>
              </a:spcBef>
              <a:spcAft>
                <a:spcPts val="1200"/>
              </a:spcAft>
            </a:pPr>
            <a:r>
              <a:rPr lang="en-US" b="1" dirty="0">
                <a:solidFill>
                  <a:schemeClr val="accent2">
                    <a:lumMod val="75000"/>
                  </a:schemeClr>
                </a:solidFill>
              </a:rPr>
              <a:t>Core Concept</a:t>
            </a:r>
          </a:p>
          <a:p>
            <a:endParaRPr lang="en-US" b="1" dirty="0"/>
          </a:p>
          <a:p>
            <a:pPr marL="285750" indent="-285750">
              <a:spcAft>
                <a:spcPts val="1200"/>
              </a:spcAft>
              <a:buFont typeface="Arial" panose="020B0604020202020204" pitchFamily="34" charset="0"/>
              <a:buChar char="•"/>
            </a:pPr>
            <a:r>
              <a:rPr lang="en-US" dirty="0"/>
              <a:t>DSE is built on Apache Cassandra but extends it with:</a:t>
            </a:r>
          </a:p>
          <a:p>
            <a:pPr marL="285750" indent="-285750">
              <a:spcAft>
                <a:spcPts val="1200"/>
              </a:spcAft>
              <a:buFont typeface="Arial" panose="020B0604020202020204" pitchFamily="34" charset="0"/>
              <a:buChar char="•"/>
            </a:pPr>
            <a:r>
              <a:rPr lang="en-US" dirty="0"/>
              <a:t>Integrated analytics (Spark integration)</a:t>
            </a:r>
          </a:p>
          <a:p>
            <a:pPr marL="285750" indent="-285750">
              <a:spcAft>
                <a:spcPts val="1200"/>
              </a:spcAft>
              <a:buFont typeface="Arial" panose="020B0604020202020204" pitchFamily="34" charset="0"/>
              <a:buChar char="•"/>
            </a:pPr>
            <a:r>
              <a:rPr lang="en-US" dirty="0"/>
              <a:t>Built-in search (</a:t>
            </a:r>
            <a:r>
              <a:rPr lang="en-US" dirty="0" err="1"/>
              <a:t>Solr</a:t>
            </a:r>
            <a:r>
              <a:rPr lang="en-US" dirty="0"/>
              <a:t>/Lucene integration)</a:t>
            </a:r>
          </a:p>
          <a:p>
            <a:pPr marL="285750" indent="-285750">
              <a:spcAft>
                <a:spcPts val="1200"/>
              </a:spcAft>
              <a:buFont typeface="Arial" panose="020B0604020202020204" pitchFamily="34" charset="0"/>
              <a:buChar char="•"/>
            </a:pPr>
            <a:r>
              <a:rPr lang="en-US" dirty="0"/>
              <a:t>Enhanced security and management tools</a:t>
            </a:r>
          </a:p>
          <a:p>
            <a:pPr marL="285750" indent="-285750">
              <a:spcAft>
                <a:spcPts val="1200"/>
              </a:spcAft>
              <a:buFont typeface="Arial" panose="020B0604020202020204" pitchFamily="34" charset="0"/>
              <a:buChar char="•"/>
            </a:pPr>
            <a:r>
              <a:rPr lang="en-US" dirty="0"/>
              <a:t>Graph database capabilities (DSE Graph)</a:t>
            </a:r>
          </a:p>
          <a:p>
            <a:pPr marL="285750" indent="-285750">
              <a:spcAft>
                <a:spcPts val="1200"/>
              </a:spcAft>
              <a:buFont typeface="Arial" panose="020B0604020202020204" pitchFamily="34" charset="0"/>
              <a:buChar char="•"/>
            </a:pPr>
            <a:r>
              <a:rPr lang="en-US" dirty="0"/>
              <a:t>Professional support and consulting</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Franklin Gothic Book" panose="020B0502020104020203"/>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Franklin Gothic Book" panose="020B0502020104020203"/>
              <a:ea typeface="+mn-ea"/>
              <a:cs typeface="+mn-cs"/>
            </a:endParaRPr>
          </a:p>
        </p:txBody>
      </p:sp>
    </p:spTree>
    <p:extLst>
      <p:ext uri="{BB962C8B-B14F-4D97-AF65-F5344CB8AC3E}">
        <p14:creationId xmlns:p14="http://schemas.microsoft.com/office/powerpoint/2010/main" val="7029010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CDAB09-9EA3-DACD-6745-A952212018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6EC7FB-79F4-372D-BB6E-8EAA5741E6FA}"/>
              </a:ext>
            </a:extLst>
          </p:cNvPr>
          <p:cNvSpPr>
            <a:spLocks noGrp="1"/>
          </p:cNvSpPr>
          <p:nvPr>
            <p:ph type="title"/>
          </p:nvPr>
        </p:nvSpPr>
        <p:spPr>
          <a:xfrm>
            <a:off x="324018" y="-185739"/>
            <a:ext cx="11029616" cy="712157"/>
          </a:xfrm>
        </p:spPr>
        <p:txBody>
          <a:bodyPr/>
          <a:lstStyle/>
          <a:p>
            <a:r>
              <a:rPr lang="en-US" dirty="0" err="1"/>
              <a:t>datastax</a:t>
            </a:r>
            <a:r>
              <a:rPr lang="en-US" dirty="0"/>
              <a:t>  intro</a:t>
            </a:r>
          </a:p>
        </p:txBody>
      </p:sp>
      <p:sp>
        <p:nvSpPr>
          <p:cNvPr id="6" name="TextBox 5">
            <a:extLst>
              <a:ext uri="{FF2B5EF4-FFF2-40B4-BE49-F238E27FC236}">
                <a16:creationId xmlns:a16="http://schemas.microsoft.com/office/drawing/2014/main" id="{52DEE857-6ECB-B200-BDCC-5FB3A726C815}"/>
              </a:ext>
            </a:extLst>
          </p:cNvPr>
          <p:cNvSpPr txBox="1"/>
          <p:nvPr/>
        </p:nvSpPr>
        <p:spPr>
          <a:xfrm>
            <a:off x="492919" y="900113"/>
            <a:ext cx="11172825" cy="2818720"/>
          </a:xfrm>
          <a:prstGeom prst="rect">
            <a:avLst/>
          </a:prstGeom>
          <a:noFill/>
        </p:spPr>
        <p:txBody>
          <a:bodyPr wrap="square" rtlCol="0">
            <a:spAutoFit/>
          </a:bodyPr>
          <a:lstStyle/>
          <a:p>
            <a:pPr>
              <a:lnSpc>
                <a:spcPts val="2250"/>
              </a:lnSpc>
              <a:spcBef>
                <a:spcPts val="2400"/>
              </a:spcBef>
              <a:spcAft>
                <a:spcPts val="1200"/>
              </a:spcAft>
            </a:pPr>
            <a:r>
              <a:rPr lang="en-US" b="1" dirty="0">
                <a:solidFill>
                  <a:schemeClr val="accent2">
                    <a:lumMod val="75000"/>
                  </a:schemeClr>
                </a:solidFill>
              </a:rPr>
              <a:t>Key Positioning</a:t>
            </a:r>
          </a:p>
          <a:p>
            <a:pPr marL="285750" indent="-285750">
              <a:spcAft>
                <a:spcPts val="1200"/>
              </a:spcAft>
              <a:buFont typeface="Arial" panose="020B0604020202020204" pitchFamily="34" charset="0"/>
              <a:buChar char="•"/>
            </a:pPr>
            <a:r>
              <a:rPr lang="en-US" dirty="0"/>
              <a:t>Enterprise-ready: Production-hardened Cassandra distribution</a:t>
            </a:r>
          </a:p>
          <a:p>
            <a:pPr marL="285750" indent="-285750">
              <a:spcAft>
                <a:spcPts val="1200"/>
              </a:spcAft>
              <a:buFont typeface="Arial" panose="020B0604020202020204" pitchFamily="34" charset="0"/>
              <a:buChar char="•"/>
            </a:pPr>
            <a:r>
              <a:rPr lang="en-US" dirty="0"/>
              <a:t>Multi-model database: Combines multiple data models in one platform</a:t>
            </a:r>
          </a:p>
          <a:p>
            <a:pPr marL="285750" indent="-285750">
              <a:spcAft>
                <a:spcPts val="1200"/>
              </a:spcAft>
              <a:buFont typeface="Arial" panose="020B0604020202020204" pitchFamily="34" charset="0"/>
              <a:buChar char="•"/>
            </a:pPr>
            <a:r>
              <a:rPr lang="en-US" dirty="0"/>
              <a:t>Cloud-native: Optimized for hybrid and multi-cloud deployments</a:t>
            </a:r>
          </a:p>
          <a:p>
            <a:pPr marL="285750" indent="-285750">
              <a:spcAft>
                <a:spcPts val="1200"/>
              </a:spcAft>
              <a:buFont typeface="Arial" panose="020B0604020202020204" pitchFamily="34" charset="0"/>
              <a:buChar char="•"/>
            </a:pPr>
            <a:r>
              <a:rPr lang="en-US" dirty="0"/>
              <a:t>Mission-critical: Designed for 24/7 operations with SLA guarantees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Franklin Gothic Book" panose="020B0502020104020203"/>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Franklin Gothic Book" panose="020B0502020104020203"/>
              <a:ea typeface="+mn-ea"/>
              <a:cs typeface="+mn-cs"/>
            </a:endParaRPr>
          </a:p>
        </p:txBody>
      </p:sp>
    </p:spTree>
    <p:extLst>
      <p:ext uri="{BB962C8B-B14F-4D97-AF65-F5344CB8AC3E}">
        <p14:creationId xmlns:p14="http://schemas.microsoft.com/office/powerpoint/2010/main" val="34139243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4BFFD9-5EE7-1FA6-4BCF-85CE5FF3A3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CD2985-C1AD-1521-04A9-4ACDC1352050}"/>
              </a:ext>
            </a:extLst>
          </p:cNvPr>
          <p:cNvSpPr>
            <a:spLocks noGrp="1"/>
          </p:cNvSpPr>
          <p:nvPr>
            <p:ph type="title"/>
          </p:nvPr>
        </p:nvSpPr>
        <p:spPr>
          <a:xfrm>
            <a:off x="324018" y="-185739"/>
            <a:ext cx="11029616" cy="712157"/>
          </a:xfrm>
        </p:spPr>
        <p:txBody>
          <a:bodyPr/>
          <a:lstStyle/>
          <a:p>
            <a:r>
              <a:rPr lang="en-US" dirty="0" err="1"/>
              <a:t>datastax</a:t>
            </a:r>
            <a:r>
              <a:rPr lang="en-US" dirty="0"/>
              <a:t>  history</a:t>
            </a:r>
          </a:p>
        </p:txBody>
      </p:sp>
      <p:sp>
        <p:nvSpPr>
          <p:cNvPr id="6" name="TextBox 5">
            <a:extLst>
              <a:ext uri="{FF2B5EF4-FFF2-40B4-BE49-F238E27FC236}">
                <a16:creationId xmlns:a16="http://schemas.microsoft.com/office/drawing/2014/main" id="{44B76B50-A281-6C59-52D6-C9C4549020BA}"/>
              </a:ext>
            </a:extLst>
          </p:cNvPr>
          <p:cNvSpPr txBox="1"/>
          <p:nvPr/>
        </p:nvSpPr>
        <p:spPr>
          <a:xfrm>
            <a:off x="492919" y="900113"/>
            <a:ext cx="11172825" cy="2534540"/>
          </a:xfrm>
          <a:prstGeom prst="rect">
            <a:avLst/>
          </a:prstGeom>
          <a:noFill/>
        </p:spPr>
        <p:txBody>
          <a:bodyPr wrap="square" rtlCol="0">
            <a:spAutoFit/>
          </a:bodyPr>
          <a:lstStyle/>
          <a:p>
            <a:pPr marL="285750" lvl="0" indent="-285750">
              <a:lnSpc>
                <a:spcPct val="150000"/>
              </a:lnSpc>
              <a:buFont typeface="Arial" panose="020B0604020202020204" pitchFamily="34" charset="0"/>
              <a:buChar char="•"/>
              <a:defRPr/>
            </a:pPr>
            <a:r>
              <a:rPr lang="en-US" dirty="0"/>
              <a:t>2010 - Jonathan Ellis and Matt Pfeil left Rackspace started DataStax </a:t>
            </a:r>
          </a:p>
          <a:p>
            <a:pPr marL="285750" lvl="0" indent="-285750">
              <a:lnSpc>
                <a:spcPct val="150000"/>
              </a:lnSpc>
              <a:buFont typeface="Arial" panose="020B0604020202020204" pitchFamily="34" charset="0"/>
              <a:buChar char="•"/>
              <a:defRPr/>
            </a:pPr>
            <a:r>
              <a:rPr lang="en-US" dirty="0"/>
              <a:t>Initial Focus Commercial support and training for Apache Cassandra</a:t>
            </a:r>
            <a:endParaRPr kumimoji="0" lang="en-US" sz="1800" b="0" i="0" u="none" strike="noStrike" kern="1200" cap="none" spc="0" normalizeH="0" baseline="0" noProof="0" dirty="0">
              <a:ln>
                <a:noFill/>
              </a:ln>
              <a:solidFill>
                <a:prstClr val="black"/>
              </a:solidFill>
              <a:effectLst/>
              <a:uLnTx/>
              <a:uFillTx/>
              <a:latin typeface="Franklin Gothic Book" panose="020B0502020104020203"/>
              <a:ea typeface="+mn-ea"/>
              <a:cs typeface="+mn-cs"/>
            </a:endParaRP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Franklin Gothic Book" panose="020B0502020104020203"/>
                <a:ea typeface="+mn-ea"/>
                <a:cs typeface="+mn-cs"/>
              </a:rPr>
              <a:t>2011 - DSE version 1.0 was</a:t>
            </a:r>
            <a:r>
              <a:rPr lang="en-US" dirty="0">
                <a:solidFill>
                  <a:prstClr val="black"/>
                </a:solidFill>
                <a:latin typeface="Franklin Gothic Book" panose="020B0502020104020203"/>
              </a:rPr>
              <a:t> released</a:t>
            </a:r>
            <a:endParaRPr kumimoji="0" lang="en-US" sz="1800" b="1" i="0" u="none" strike="noStrike" kern="1200" cap="none" spc="0" normalizeH="0" baseline="0" noProof="0" dirty="0">
              <a:ln>
                <a:noFill/>
              </a:ln>
              <a:solidFill>
                <a:prstClr val="black"/>
              </a:solidFill>
              <a:effectLst/>
              <a:uLnTx/>
              <a:uFillTx/>
              <a:latin typeface="Franklin Gothic Book" panose="020B0502020104020203"/>
              <a:ea typeface="+mn-ea"/>
              <a:cs typeface="+mn-cs"/>
            </a:endParaRPr>
          </a:p>
          <a:p>
            <a:pPr marL="285750" lvl="0" indent="-285750">
              <a:lnSpc>
                <a:spcPct val="150000"/>
              </a:lnSpc>
              <a:buFont typeface="Arial" panose="020B0604020202020204" pitchFamily="34" charset="0"/>
              <a:buChar char="•"/>
              <a:defRPr/>
            </a:pPr>
            <a:r>
              <a:rPr lang="en-US" dirty="0"/>
              <a:t>2018 - Reversal - open-sourced previously proprietary features</a:t>
            </a:r>
          </a:p>
          <a:p>
            <a:pPr marL="285750" lvl="0" indent="-285750">
              <a:lnSpc>
                <a:spcPct val="150000"/>
              </a:lnSpc>
              <a:buFont typeface="Arial" panose="020B0604020202020204" pitchFamily="34" charset="0"/>
              <a:buChar char="•"/>
              <a:defRPr/>
            </a:pPr>
            <a:r>
              <a:rPr lang="en-US" dirty="0"/>
              <a:t>2020 - Launched DataStax Astra - fully managed cloud service</a:t>
            </a:r>
          </a:p>
          <a:p>
            <a:pPr marL="285750" lvl="0" indent="-285750">
              <a:lnSpc>
                <a:spcPct val="150000"/>
              </a:lnSpc>
              <a:buFont typeface="Arial" panose="020B0604020202020204" pitchFamily="34" charset="0"/>
              <a:buChar char="•"/>
              <a:defRPr/>
            </a:pPr>
            <a:r>
              <a:rPr lang="en-US" dirty="0"/>
              <a:t>6.9 is the current version of </a:t>
            </a:r>
            <a:r>
              <a:rPr lang="en-US" dirty="0" err="1"/>
              <a:t>Datastax</a:t>
            </a:r>
            <a:r>
              <a:rPr lang="en-US" dirty="0"/>
              <a:t> Enterprise</a:t>
            </a:r>
          </a:p>
        </p:txBody>
      </p:sp>
    </p:spTree>
    <p:extLst>
      <p:ext uri="{BB962C8B-B14F-4D97-AF65-F5344CB8AC3E}">
        <p14:creationId xmlns:p14="http://schemas.microsoft.com/office/powerpoint/2010/main" val="20991910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CDA59B-3462-9267-9EBA-D7AAA0EF8B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B0E389-CB8A-E807-B556-18A653E04AF9}"/>
              </a:ext>
            </a:extLst>
          </p:cNvPr>
          <p:cNvSpPr>
            <a:spLocks noGrp="1"/>
          </p:cNvSpPr>
          <p:nvPr>
            <p:ph type="title"/>
          </p:nvPr>
        </p:nvSpPr>
        <p:spPr>
          <a:xfrm>
            <a:off x="324018" y="-185739"/>
            <a:ext cx="11029616" cy="712157"/>
          </a:xfrm>
        </p:spPr>
        <p:txBody>
          <a:bodyPr/>
          <a:lstStyle/>
          <a:p>
            <a:r>
              <a:rPr lang="en-US" dirty="0"/>
              <a:t>Cassandra vs </a:t>
            </a:r>
            <a:r>
              <a:rPr lang="en-US" dirty="0" err="1"/>
              <a:t>datastax</a:t>
            </a:r>
            <a:endParaRPr lang="en-US" dirty="0"/>
          </a:p>
        </p:txBody>
      </p:sp>
      <p:graphicFrame>
        <p:nvGraphicFramePr>
          <p:cNvPr id="4" name="Table 3">
            <a:extLst>
              <a:ext uri="{FF2B5EF4-FFF2-40B4-BE49-F238E27FC236}">
                <a16:creationId xmlns:a16="http://schemas.microsoft.com/office/drawing/2014/main" id="{82EA1A15-E3B0-01C1-CECC-F4C314020546}"/>
              </a:ext>
            </a:extLst>
          </p:cNvPr>
          <p:cNvGraphicFramePr>
            <a:graphicFrameLocks noGrp="1"/>
          </p:cNvGraphicFramePr>
          <p:nvPr>
            <p:extLst>
              <p:ext uri="{D42A27DB-BD31-4B8C-83A1-F6EECF244321}">
                <p14:modId xmlns:p14="http://schemas.microsoft.com/office/powerpoint/2010/main" val="1063791684"/>
              </p:ext>
            </p:extLst>
          </p:nvPr>
        </p:nvGraphicFramePr>
        <p:xfrm>
          <a:off x="514350" y="1007269"/>
          <a:ext cx="11194257" cy="5150646"/>
        </p:xfrm>
        <a:graphic>
          <a:graphicData uri="http://schemas.openxmlformats.org/drawingml/2006/table">
            <a:tbl>
              <a:tblPr firstRow="1" firstCol="1" bandRow="1">
                <a:tableStyleId>{5C22544A-7EE6-4342-B048-85BDC9FD1C3A}</a:tableStyleId>
              </a:tblPr>
              <a:tblGrid>
                <a:gridCol w="3731419">
                  <a:extLst>
                    <a:ext uri="{9D8B030D-6E8A-4147-A177-3AD203B41FA5}">
                      <a16:colId xmlns:a16="http://schemas.microsoft.com/office/drawing/2014/main" val="683756621"/>
                    </a:ext>
                  </a:extLst>
                </a:gridCol>
                <a:gridCol w="3731419">
                  <a:extLst>
                    <a:ext uri="{9D8B030D-6E8A-4147-A177-3AD203B41FA5}">
                      <a16:colId xmlns:a16="http://schemas.microsoft.com/office/drawing/2014/main" val="487921565"/>
                    </a:ext>
                  </a:extLst>
                </a:gridCol>
                <a:gridCol w="3731419">
                  <a:extLst>
                    <a:ext uri="{9D8B030D-6E8A-4147-A177-3AD203B41FA5}">
                      <a16:colId xmlns:a16="http://schemas.microsoft.com/office/drawing/2014/main" val="2495839220"/>
                    </a:ext>
                  </a:extLst>
                </a:gridCol>
              </a:tblGrid>
              <a:tr h="681328">
                <a:tc>
                  <a:txBody>
                    <a:bodyPr/>
                    <a:lstStyle/>
                    <a:p>
                      <a:pPr>
                        <a:lnSpc>
                          <a:spcPct val="107000"/>
                        </a:lnSpc>
                        <a:buNone/>
                      </a:pPr>
                      <a:r>
                        <a:rPr lang="en-US" sz="2400" kern="100">
                          <a:effectLst/>
                        </a:rPr>
                        <a:t>Component</a:t>
                      </a:r>
                      <a:endParaRPr lang="en-US" sz="2400" kern="100">
                        <a:effectLst/>
                        <a:latin typeface="Calibri" panose="020F0502020204030204" pitchFamily="34" charset="0"/>
                        <a:ea typeface="Arial Unicode MS"/>
                        <a:cs typeface="Times New Roman" panose="02020603050405020304" pitchFamily="18" charset="0"/>
                      </a:endParaRPr>
                    </a:p>
                  </a:txBody>
                  <a:tcPr marL="0" marR="152400" marT="95250" marB="95250" anchor="ctr"/>
                </a:tc>
                <a:tc>
                  <a:txBody>
                    <a:bodyPr/>
                    <a:lstStyle/>
                    <a:p>
                      <a:pPr>
                        <a:lnSpc>
                          <a:spcPct val="107000"/>
                        </a:lnSpc>
                        <a:buNone/>
                      </a:pPr>
                      <a:r>
                        <a:rPr lang="en-US" sz="2400" kern="100">
                          <a:effectLst/>
                        </a:rPr>
                        <a:t>Apache Cassandra</a:t>
                      </a:r>
                      <a:endParaRPr lang="en-US" sz="2400" kern="100">
                        <a:effectLst/>
                        <a:latin typeface="Calibri" panose="020F0502020204030204" pitchFamily="34" charset="0"/>
                        <a:ea typeface="Arial Unicode MS"/>
                        <a:cs typeface="Times New Roman" panose="02020603050405020304" pitchFamily="18" charset="0"/>
                      </a:endParaRPr>
                    </a:p>
                  </a:txBody>
                  <a:tcPr marL="152400" marR="152400" marT="95250" marB="95250" anchor="ctr"/>
                </a:tc>
                <a:tc>
                  <a:txBody>
                    <a:bodyPr/>
                    <a:lstStyle/>
                    <a:p>
                      <a:pPr>
                        <a:lnSpc>
                          <a:spcPct val="107000"/>
                        </a:lnSpc>
                        <a:buNone/>
                      </a:pPr>
                      <a:r>
                        <a:rPr lang="en-US" sz="2400" kern="100" dirty="0">
                          <a:effectLst/>
                        </a:rPr>
                        <a:t>DataStax Enterprise</a:t>
                      </a:r>
                      <a:endParaRPr lang="en-US" sz="2400" kern="100" dirty="0">
                        <a:effectLst/>
                        <a:latin typeface="Calibri" panose="020F0502020204030204" pitchFamily="34" charset="0"/>
                        <a:ea typeface="Arial Unicode MS"/>
                        <a:cs typeface="Times New Roman" panose="02020603050405020304" pitchFamily="18" charset="0"/>
                      </a:endParaRPr>
                    </a:p>
                  </a:txBody>
                  <a:tcPr marL="152400" marR="152400" marT="95250" marB="95250" anchor="ctr"/>
                </a:tc>
                <a:extLst>
                  <a:ext uri="{0D108BD9-81ED-4DB2-BD59-A6C34878D82A}">
                    <a16:rowId xmlns:a16="http://schemas.microsoft.com/office/drawing/2014/main" val="2459931091"/>
                  </a:ext>
                </a:extLst>
              </a:tr>
              <a:tr h="1035554">
                <a:tc>
                  <a:txBody>
                    <a:bodyPr/>
                    <a:lstStyle/>
                    <a:p>
                      <a:pPr>
                        <a:lnSpc>
                          <a:spcPct val="107000"/>
                        </a:lnSpc>
                        <a:buNone/>
                      </a:pPr>
                      <a:r>
                        <a:rPr lang="en-US" sz="1800" kern="100" dirty="0">
                          <a:effectLst/>
                        </a:rPr>
                        <a:t>Core Engine</a:t>
                      </a:r>
                      <a:endParaRPr lang="en-US" sz="1800" kern="100" dirty="0">
                        <a:effectLst/>
                        <a:latin typeface="Calibri" panose="020F0502020204030204" pitchFamily="34" charset="0"/>
                        <a:ea typeface="Arial Unicode MS"/>
                        <a:cs typeface="Times New Roman" panose="02020603050405020304" pitchFamily="18" charset="0"/>
                      </a:endParaRPr>
                    </a:p>
                  </a:txBody>
                  <a:tcPr marL="0" marR="152400" marT="95250" marB="95250" anchor="ctr"/>
                </a:tc>
                <a:tc>
                  <a:txBody>
                    <a:bodyPr/>
                    <a:lstStyle/>
                    <a:p>
                      <a:pPr>
                        <a:lnSpc>
                          <a:spcPct val="107000"/>
                        </a:lnSpc>
                        <a:buNone/>
                      </a:pPr>
                      <a:r>
                        <a:rPr lang="en-US" sz="1800" kern="100" dirty="0">
                          <a:effectLst/>
                        </a:rPr>
                        <a:t>Pure Apache Cassandra</a:t>
                      </a:r>
                      <a:endParaRPr lang="en-US" sz="1800" kern="100" dirty="0">
                        <a:effectLst/>
                        <a:latin typeface="Calibri" panose="020F0502020204030204" pitchFamily="34" charset="0"/>
                        <a:ea typeface="Arial Unicode MS"/>
                        <a:cs typeface="Times New Roman" panose="02020603050405020304" pitchFamily="18" charset="0"/>
                      </a:endParaRPr>
                    </a:p>
                  </a:txBody>
                  <a:tcPr marL="152400" marR="152400" marT="95250" marB="95250" anchor="ctr"/>
                </a:tc>
                <a:tc>
                  <a:txBody>
                    <a:bodyPr/>
                    <a:lstStyle/>
                    <a:p>
                      <a:pPr>
                        <a:lnSpc>
                          <a:spcPct val="107000"/>
                        </a:lnSpc>
                        <a:buNone/>
                      </a:pPr>
                      <a:r>
                        <a:rPr lang="en-US" sz="1800" kern="100">
                          <a:effectLst/>
                        </a:rPr>
                        <a:t>Enhanced Cassandra with optimizations</a:t>
                      </a:r>
                      <a:endParaRPr lang="en-US" sz="1800" kern="100">
                        <a:effectLst/>
                        <a:latin typeface="Calibri" panose="020F0502020204030204" pitchFamily="34" charset="0"/>
                        <a:ea typeface="Arial Unicode MS"/>
                        <a:cs typeface="Times New Roman" panose="02020603050405020304" pitchFamily="18" charset="0"/>
                      </a:endParaRPr>
                    </a:p>
                  </a:txBody>
                  <a:tcPr marL="152400" marR="0" marT="95250" marB="95250" anchor="ctr"/>
                </a:tc>
                <a:extLst>
                  <a:ext uri="{0D108BD9-81ED-4DB2-BD59-A6C34878D82A}">
                    <a16:rowId xmlns:a16="http://schemas.microsoft.com/office/drawing/2014/main" val="1022841048"/>
                  </a:ext>
                </a:extLst>
              </a:tr>
              <a:tr h="681328">
                <a:tc>
                  <a:txBody>
                    <a:bodyPr/>
                    <a:lstStyle/>
                    <a:p>
                      <a:pPr>
                        <a:lnSpc>
                          <a:spcPct val="107000"/>
                        </a:lnSpc>
                        <a:buNone/>
                      </a:pPr>
                      <a:r>
                        <a:rPr lang="en-US" sz="1800" kern="100" dirty="0">
                          <a:effectLst/>
                        </a:rPr>
                        <a:t>Analytics</a:t>
                      </a:r>
                      <a:endParaRPr lang="en-US" sz="1800" kern="100" dirty="0">
                        <a:effectLst/>
                        <a:latin typeface="Calibri" panose="020F0502020204030204" pitchFamily="34" charset="0"/>
                        <a:ea typeface="Arial Unicode MS"/>
                        <a:cs typeface="Times New Roman" panose="02020603050405020304" pitchFamily="18" charset="0"/>
                      </a:endParaRPr>
                    </a:p>
                  </a:txBody>
                  <a:tcPr marL="0" marR="152400" marT="95250" marB="95250" anchor="ctr"/>
                </a:tc>
                <a:tc>
                  <a:txBody>
                    <a:bodyPr/>
                    <a:lstStyle/>
                    <a:p>
                      <a:pPr>
                        <a:lnSpc>
                          <a:spcPct val="107000"/>
                        </a:lnSpc>
                        <a:buNone/>
                      </a:pPr>
                      <a:r>
                        <a:rPr lang="en-US" sz="1800" kern="100" dirty="0">
                          <a:effectLst/>
                        </a:rPr>
                        <a:t>Requires separate Spark cluster</a:t>
                      </a:r>
                      <a:endParaRPr lang="en-US" sz="1800" kern="100" dirty="0">
                        <a:effectLst/>
                        <a:latin typeface="Calibri" panose="020F0502020204030204" pitchFamily="34" charset="0"/>
                        <a:ea typeface="Arial Unicode MS"/>
                        <a:cs typeface="Times New Roman" panose="02020603050405020304" pitchFamily="18" charset="0"/>
                      </a:endParaRPr>
                    </a:p>
                  </a:txBody>
                  <a:tcPr marL="152400" marR="152400" marT="95250" marB="95250" anchor="ctr"/>
                </a:tc>
                <a:tc>
                  <a:txBody>
                    <a:bodyPr/>
                    <a:lstStyle/>
                    <a:p>
                      <a:pPr>
                        <a:lnSpc>
                          <a:spcPct val="107000"/>
                        </a:lnSpc>
                        <a:buNone/>
                      </a:pPr>
                      <a:r>
                        <a:rPr lang="en-US" sz="1800" kern="100">
                          <a:effectLst/>
                        </a:rPr>
                        <a:t>Built-in Spark (DSE Analytics)</a:t>
                      </a:r>
                      <a:endParaRPr lang="en-US" sz="1800" kern="100">
                        <a:effectLst/>
                        <a:latin typeface="Calibri" panose="020F0502020204030204" pitchFamily="34" charset="0"/>
                        <a:ea typeface="Arial Unicode MS"/>
                        <a:cs typeface="Times New Roman" panose="02020603050405020304" pitchFamily="18" charset="0"/>
                      </a:endParaRPr>
                    </a:p>
                  </a:txBody>
                  <a:tcPr marL="152400" marR="0" marT="95250" marB="95250" anchor="ctr"/>
                </a:tc>
                <a:extLst>
                  <a:ext uri="{0D108BD9-81ED-4DB2-BD59-A6C34878D82A}">
                    <a16:rowId xmlns:a16="http://schemas.microsoft.com/office/drawing/2014/main" val="857610594"/>
                  </a:ext>
                </a:extLst>
              </a:tr>
              <a:tr h="1035554">
                <a:tc>
                  <a:txBody>
                    <a:bodyPr/>
                    <a:lstStyle/>
                    <a:p>
                      <a:pPr>
                        <a:lnSpc>
                          <a:spcPct val="107000"/>
                        </a:lnSpc>
                        <a:buNone/>
                      </a:pPr>
                      <a:r>
                        <a:rPr lang="en-US" sz="1800" kern="100">
                          <a:effectLst/>
                        </a:rPr>
                        <a:t>Search</a:t>
                      </a:r>
                      <a:endParaRPr lang="en-US" sz="1800" kern="100">
                        <a:effectLst/>
                        <a:latin typeface="Calibri" panose="020F0502020204030204" pitchFamily="34" charset="0"/>
                        <a:ea typeface="Arial Unicode MS"/>
                        <a:cs typeface="Times New Roman" panose="02020603050405020304" pitchFamily="18" charset="0"/>
                      </a:endParaRPr>
                    </a:p>
                  </a:txBody>
                  <a:tcPr marL="0" marR="152400" marT="95250" marB="95250" anchor="ctr"/>
                </a:tc>
                <a:tc>
                  <a:txBody>
                    <a:bodyPr/>
                    <a:lstStyle/>
                    <a:p>
                      <a:pPr>
                        <a:lnSpc>
                          <a:spcPct val="107000"/>
                        </a:lnSpc>
                        <a:buNone/>
                      </a:pPr>
                      <a:r>
                        <a:rPr lang="en-US" sz="1800" kern="100" dirty="0">
                          <a:effectLst/>
                        </a:rPr>
                        <a:t>Requires separate </a:t>
                      </a:r>
                      <a:r>
                        <a:rPr lang="en-US" sz="1800" kern="100" dirty="0" err="1">
                          <a:effectLst/>
                        </a:rPr>
                        <a:t>Solr</a:t>
                      </a:r>
                      <a:r>
                        <a:rPr lang="en-US" sz="1800" kern="100" dirty="0">
                          <a:effectLst/>
                        </a:rPr>
                        <a:t>/Elasticsearch</a:t>
                      </a:r>
                      <a:endParaRPr lang="en-US" sz="1800" kern="100" dirty="0">
                        <a:effectLst/>
                        <a:latin typeface="Calibri" panose="020F0502020204030204" pitchFamily="34" charset="0"/>
                        <a:ea typeface="Arial Unicode MS"/>
                        <a:cs typeface="Times New Roman" panose="02020603050405020304" pitchFamily="18" charset="0"/>
                      </a:endParaRPr>
                    </a:p>
                  </a:txBody>
                  <a:tcPr marL="152400" marR="152400" marT="95250" marB="95250" anchor="ctr"/>
                </a:tc>
                <a:tc>
                  <a:txBody>
                    <a:bodyPr/>
                    <a:lstStyle/>
                    <a:p>
                      <a:pPr>
                        <a:lnSpc>
                          <a:spcPct val="107000"/>
                        </a:lnSpc>
                        <a:buNone/>
                      </a:pPr>
                      <a:r>
                        <a:rPr lang="en-US" sz="1800" kern="100">
                          <a:effectLst/>
                        </a:rPr>
                        <a:t>Built-in Solr (DSE Search)</a:t>
                      </a:r>
                      <a:endParaRPr lang="en-US" sz="1800" kern="100">
                        <a:effectLst/>
                        <a:latin typeface="Calibri" panose="020F0502020204030204" pitchFamily="34" charset="0"/>
                        <a:ea typeface="Arial Unicode MS"/>
                        <a:cs typeface="Times New Roman" panose="02020603050405020304" pitchFamily="18" charset="0"/>
                      </a:endParaRPr>
                    </a:p>
                  </a:txBody>
                  <a:tcPr marL="152400" marR="0" marT="95250" marB="95250" anchor="ctr"/>
                </a:tc>
                <a:extLst>
                  <a:ext uri="{0D108BD9-81ED-4DB2-BD59-A6C34878D82A}">
                    <a16:rowId xmlns:a16="http://schemas.microsoft.com/office/drawing/2014/main" val="1193802872"/>
                  </a:ext>
                </a:extLst>
              </a:tr>
              <a:tr h="1035554">
                <a:tc>
                  <a:txBody>
                    <a:bodyPr/>
                    <a:lstStyle/>
                    <a:p>
                      <a:pPr>
                        <a:lnSpc>
                          <a:spcPct val="107000"/>
                        </a:lnSpc>
                        <a:buNone/>
                      </a:pPr>
                      <a:r>
                        <a:rPr lang="en-US" sz="1800" kern="100">
                          <a:effectLst/>
                        </a:rPr>
                        <a:t>Graph</a:t>
                      </a:r>
                      <a:endParaRPr lang="en-US" sz="1800" kern="100">
                        <a:effectLst/>
                        <a:latin typeface="Calibri" panose="020F0502020204030204" pitchFamily="34" charset="0"/>
                        <a:ea typeface="Arial Unicode MS"/>
                        <a:cs typeface="Times New Roman" panose="02020603050405020304" pitchFamily="18" charset="0"/>
                      </a:endParaRPr>
                    </a:p>
                  </a:txBody>
                  <a:tcPr marL="0" marR="152400" marT="95250" marB="95250" anchor="ctr"/>
                </a:tc>
                <a:tc>
                  <a:txBody>
                    <a:bodyPr/>
                    <a:lstStyle/>
                    <a:p>
                      <a:pPr>
                        <a:lnSpc>
                          <a:spcPct val="107000"/>
                        </a:lnSpc>
                        <a:buNone/>
                      </a:pPr>
                      <a:r>
                        <a:rPr lang="en-US" sz="1800" kern="100">
                          <a:effectLst/>
                        </a:rPr>
                        <a:t>No native graph capabilities</a:t>
                      </a:r>
                      <a:endParaRPr lang="en-US" sz="1800" kern="100">
                        <a:effectLst/>
                        <a:latin typeface="Calibri" panose="020F0502020204030204" pitchFamily="34" charset="0"/>
                        <a:ea typeface="Arial Unicode MS"/>
                        <a:cs typeface="Times New Roman" panose="02020603050405020304" pitchFamily="18" charset="0"/>
                      </a:endParaRPr>
                    </a:p>
                  </a:txBody>
                  <a:tcPr marL="152400" marR="152400" marT="95250" marB="95250" anchor="ctr"/>
                </a:tc>
                <a:tc>
                  <a:txBody>
                    <a:bodyPr/>
                    <a:lstStyle/>
                    <a:p>
                      <a:pPr>
                        <a:lnSpc>
                          <a:spcPct val="107000"/>
                        </a:lnSpc>
                        <a:buNone/>
                      </a:pPr>
                      <a:r>
                        <a:rPr lang="en-US" sz="1800" kern="100">
                          <a:effectLst/>
                        </a:rPr>
                        <a:t>Built-in graph database (DSE Graph)</a:t>
                      </a:r>
                      <a:endParaRPr lang="en-US" sz="1800" kern="100">
                        <a:effectLst/>
                        <a:latin typeface="Calibri" panose="020F0502020204030204" pitchFamily="34" charset="0"/>
                        <a:ea typeface="Arial Unicode MS"/>
                        <a:cs typeface="Times New Roman" panose="02020603050405020304" pitchFamily="18" charset="0"/>
                      </a:endParaRPr>
                    </a:p>
                  </a:txBody>
                  <a:tcPr marL="152400" marR="0" marT="95250" marB="95250" anchor="ctr"/>
                </a:tc>
                <a:extLst>
                  <a:ext uri="{0D108BD9-81ED-4DB2-BD59-A6C34878D82A}">
                    <a16:rowId xmlns:a16="http://schemas.microsoft.com/office/drawing/2014/main" val="2941462422"/>
                  </a:ext>
                </a:extLst>
              </a:tr>
              <a:tr h="681328">
                <a:tc>
                  <a:txBody>
                    <a:bodyPr/>
                    <a:lstStyle/>
                    <a:p>
                      <a:pPr>
                        <a:lnSpc>
                          <a:spcPct val="107000"/>
                        </a:lnSpc>
                        <a:buNone/>
                      </a:pPr>
                      <a:r>
                        <a:rPr lang="en-US" sz="1800" kern="100">
                          <a:effectLst/>
                        </a:rPr>
                        <a:t>Management</a:t>
                      </a:r>
                      <a:endParaRPr lang="en-US" sz="1800" kern="100">
                        <a:effectLst/>
                        <a:latin typeface="Calibri" panose="020F0502020204030204" pitchFamily="34" charset="0"/>
                        <a:ea typeface="Arial Unicode MS"/>
                        <a:cs typeface="Times New Roman" panose="02020603050405020304" pitchFamily="18" charset="0"/>
                      </a:endParaRPr>
                    </a:p>
                  </a:txBody>
                  <a:tcPr marL="0" marR="152400" marT="95250" marB="95250" anchor="ctr"/>
                </a:tc>
                <a:tc>
                  <a:txBody>
                    <a:bodyPr/>
                    <a:lstStyle/>
                    <a:p>
                      <a:pPr>
                        <a:lnSpc>
                          <a:spcPct val="107000"/>
                        </a:lnSpc>
                        <a:buNone/>
                      </a:pPr>
                      <a:r>
                        <a:rPr lang="en-US" sz="1800" kern="100">
                          <a:effectLst/>
                        </a:rPr>
                        <a:t>Basic tools (nodetool, cqlsh)</a:t>
                      </a:r>
                      <a:endParaRPr lang="en-US" sz="1800" kern="100">
                        <a:effectLst/>
                        <a:latin typeface="Calibri" panose="020F0502020204030204" pitchFamily="34" charset="0"/>
                        <a:ea typeface="Arial Unicode MS"/>
                        <a:cs typeface="Times New Roman" panose="02020603050405020304" pitchFamily="18" charset="0"/>
                      </a:endParaRPr>
                    </a:p>
                  </a:txBody>
                  <a:tcPr marL="152400" marR="152400" marT="95250" marB="95250" anchor="ctr"/>
                </a:tc>
                <a:tc>
                  <a:txBody>
                    <a:bodyPr/>
                    <a:lstStyle/>
                    <a:p>
                      <a:pPr>
                        <a:lnSpc>
                          <a:spcPct val="107000"/>
                        </a:lnSpc>
                        <a:buNone/>
                      </a:pPr>
                      <a:r>
                        <a:rPr lang="en-US" sz="1800" kern="100" dirty="0">
                          <a:effectLst/>
                        </a:rPr>
                        <a:t>OpsCenter, Lifecycle Manager</a:t>
                      </a:r>
                      <a:endParaRPr lang="en-US" sz="1800" kern="100" dirty="0">
                        <a:effectLst/>
                        <a:latin typeface="Calibri" panose="020F0502020204030204" pitchFamily="34" charset="0"/>
                        <a:ea typeface="Arial Unicode MS"/>
                        <a:cs typeface="Times New Roman" panose="02020603050405020304" pitchFamily="18" charset="0"/>
                      </a:endParaRPr>
                    </a:p>
                  </a:txBody>
                  <a:tcPr marL="152400" marR="0" marT="95250" marB="95250" anchor="ctr"/>
                </a:tc>
                <a:extLst>
                  <a:ext uri="{0D108BD9-81ED-4DB2-BD59-A6C34878D82A}">
                    <a16:rowId xmlns:a16="http://schemas.microsoft.com/office/drawing/2014/main" val="142040108"/>
                  </a:ext>
                </a:extLst>
              </a:tr>
            </a:tbl>
          </a:graphicData>
        </a:graphic>
      </p:graphicFrame>
    </p:spTree>
    <p:extLst>
      <p:ext uri="{BB962C8B-B14F-4D97-AF65-F5344CB8AC3E}">
        <p14:creationId xmlns:p14="http://schemas.microsoft.com/office/powerpoint/2010/main" val="6541856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08EAB2-3AD4-6F86-4019-A08DF83B51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E4B752-5850-73CA-369B-B0A8FDF7F17E}"/>
              </a:ext>
            </a:extLst>
          </p:cNvPr>
          <p:cNvSpPr>
            <a:spLocks noGrp="1"/>
          </p:cNvSpPr>
          <p:nvPr>
            <p:ph type="title"/>
          </p:nvPr>
        </p:nvSpPr>
        <p:spPr>
          <a:xfrm>
            <a:off x="324018" y="-185739"/>
            <a:ext cx="11029616" cy="712157"/>
          </a:xfrm>
        </p:spPr>
        <p:txBody>
          <a:bodyPr/>
          <a:lstStyle/>
          <a:p>
            <a:r>
              <a:rPr lang="en-US" b="1" dirty="0"/>
              <a:t>Feature Comparison </a:t>
            </a:r>
            <a:endParaRPr lang="en-US" dirty="0"/>
          </a:p>
        </p:txBody>
      </p:sp>
      <p:graphicFrame>
        <p:nvGraphicFramePr>
          <p:cNvPr id="3" name="Table 2">
            <a:extLst>
              <a:ext uri="{FF2B5EF4-FFF2-40B4-BE49-F238E27FC236}">
                <a16:creationId xmlns:a16="http://schemas.microsoft.com/office/drawing/2014/main" id="{D36B3328-2DD6-E426-4541-0DFA3EAC1F58}"/>
              </a:ext>
            </a:extLst>
          </p:cNvPr>
          <p:cNvGraphicFramePr>
            <a:graphicFrameLocks noGrp="1"/>
          </p:cNvGraphicFramePr>
          <p:nvPr>
            <p:extLst>
              <p:ext uri="{D42A27DB-BD31-4B8C-83A1-F6EECF244321}">
                <p14:modId xmlns:p14="http://schemas.microsoft.com/office/powerpoint/2010/main" val="3940476237"/>
              </p:ext>
            </p:extLst>
          </p:nvPr>
        </p:nvGraphicFramePr>
        <p:xfrm>
          <a:off x="514350" y="707231"/>
          <a:ext cx="11158539" cy="5930372"/>
        </p:xfrm>
        <a:graphic>
          <a:graphicData uri="http://schemas.openxmlformats.org/drawingml/2006/table">
            <a:tbl>
              <a:tblPr firstRow="1" firstCol="1" bandRow="1">
                <a:tableStyleId>{5C22544A-7EE6-4342-B048-85BDC9FD1C3A}</a:tableStyleId>
              </a:tblPr>
              <a:tblGrid>
                <a:gridCol w="3719513">
                  <a:extLst>
                    <a:ext uri="{9D8B030D-6E8A-4147-A177-3AD203B41FA5}">
                      <a16:colId xmlns:a16="http://schemas.microsoft.com/office/drawing/2014/main" val="1508296602"/>
                    </a:ext>
                  </a:extLst>
                </a:gridCol>
                <a:gridCol w="3719513">
                  <a:extLst>
                    <a:ext uri="{9D8B030D-6E8A-4147-A177-3AD203B41FA5}">
                      <a16:colId xmlns:a16="http://schemas.microsoft.com/office/drawing/2014/main" val="3049562310"/>
                    </a:ext>
                  </a:extLst>
                </a:gridCol>
                <a:gridCol w="3719513">
                  <a:extLst>
                    <a:ext uri="{9D8B030D-6E8A-4147-A177-3AD203B41FA5}">
                      <a16:colId xmlns:a16="http://schemas.microsoft.com/office/drawing/2014/main" val="1011741948"/>
                    </a:ext>
                  </a:extLst>
                </a:gridCol>
              </a:tblGrid>
              <a:tr h="463638">
                <a:tc>
                  <a:txBody>
                    <a:bodyPr/>
                    <a:lstStyle/>
                    <a:p>
                      <a:pPr>
                        <a:lnSpc>
                          <a:spcPct val="107000"/>
                        </a:lnSpc>
                        <a:buNone/>
                      </a:pPr>
                      <a:r>
                        <a:rPr lang="en-US" sz="2400" kern="100">
                          <a:effectLst/>
                        </a:rPr>
                        <a:t>Aspect</a:t>
                      </a:r>
                      <a:endParaRPr lang="en-US" sz="2400" kern="100">
                        <a:effectLst/>
                        <a:latin typeface="Calibri" panose="020F0502020204030204" pitchFamily="34" charset="0"/>
                        <a:ea typeface="Arial Unicode MS"/>
                        <a:cs typeface="Times New Roman" panose="02020603050405020304" pitchFamily="18" charset="0"/>
                      </a:endParaRPr>
                    </a:p>
                  </a:txBody>
                  <a:tcPr marL="0" marR="122493" marT="76558" marB="76558" anchor="ctr"/>
                </a:tc>
                <a:tc>
                  <a:txBody>
                    <a:bodyPr/>
                    <a:lstStyle/>
                    <a:p>
                      <a:pPr>
                        <a:lnSpc>
                          <a:spcPct val="107000"/>
                        </a:lnSpc>
                        <a:buNone/>
                      </a:pPr>
                      <a:r>
                        <a:rPr lang="en-US" sz="2400" kern="100">
                          <a:effectLst/>
                        </a:rPr>
                        <a:t>Apache Cassandra</a:t>
                      </a:r>
                      <a:endParaRPr lang="en-US" sz="2400" kern="100">
                        <a:effectLst/>
                        <a:latin typeface="Calibri" panose="020F0502020204030204" pitchFamily="34" charset="0"/>
                        <a:ea typeface="Arial Unicode MS"/>
                        <a:cs typeface="Times New Roman" panose="02020603050405020304" pitchFamily="18" charset="0"/>
                      </a:endParaRPr>
                    </a:p>
                  </a:txBody>
                  <a:tcPr marL="122493" marR="122493" marT="76558" marB="76558" anchor="ctr"/>
                </a:tc>
                <a:tc>
                  <a:txBody>
                    <a:bodyPr/>
                    <a:lstStyle/>
                    <a:p>
                      <a:pPr>
                        <a:lnSpc>
                          <a:spcPct val="107000"/>
                        </a:lnSpc>
                        <a:buNone/>
                      </a:pPr>
                      <a:r>
                        <a:rPr lang="en-US" sz="2400" kern="100" dirty="0">
                          <a:effectLst/>
                        </a:rPr>
                        <a:t>DataStax Enterprise</a:t>
                      </a:r>
                      <a:endParaRPr lang="en-US" sz="2400" kern="100" dirty="0">
                        <a:effectLst/>
                        <a:latin typeface="Calibri" panose="020F0502020204030204" pitchFamily="34" charset="0"/>
                        <a:ea typeface="Arial Unicode MS"/>
                        <a:cs typeface="Times New Roman" panose="02020603050405020304" pitchFamily="18" charset="0"/>
                      </a:endParaRPr>
                    </a:p>
                  </a:txBody>
                  <a:tcPr marL="122493" marR="122493" marT="76558" marB="76558" anchor="ctr"/>
                </a:tc>
                <a:extLst>
                  <a:ext uri="{0D108BD9-81ED-4DB2-BD59-A6C34878D82A}">
                    <a16:rowId xmlns:a16="http://schemas.microsoft.com/office/drawing/2014/main" val="1436897440"/>
                  </a:ext>
                </a:extLst>
              </a:tr>
              <a:tr h="463638">
                <a:tc>
                  <a:txBody>
                    <a:bodyPr/>
                    <a:lstStyle/>
                    <a:p>
                      <a:pPr>
                        <a:lnSpc>
                          <a:spcPct val="107000"/>
                        </a:lnSpc>
                        <a:buNone/>
                      </a:pPr>
                      <a:r>
                        <a:rPr lang="en-US" sz="1800" kern="100">
                          <a:effectLst/>
                        </a:rPr>
                        <a:t>License</a:t>
                      </a:r>
                      <a:endParaRPr lang="en-US" sz="1800" kern="100">
                        <a:effectLst/>
                        <a:latin typeface="Calibri" panose="020F0502020204030204" pitchFamily="34" charset="0"/>
                        <a:ea typeface="Arial Unicode MS"/>
                        <a:cs typeface="Times New Roman" panose="02020603050405020304" pitchFamily="18" charset="0"/>
                      </a:endParaRPr>
                    </a:p>
                  </a:txBody>
                  <a:tcPr marL="0" marR="122493" marT="76558" marB="76558" anchor="ctr"/>
                </a:tc>
                <a:tc>
                  <a:txBody>
                    <a:bodyPr/>
                    <a:lstStyle/>
                    <a:p>
                      <a:pPr>
                        <a:lnSpc>
                          <a:spcPct val="107000"/>
                        </a:lnSpc>
                        <a:buNone/>
                      </a:pPr>
                      <a:r>
                        <a:rPr lang="en-US" sz="1800" kern="100">
                          <a:effectLst/>
                        </a:rPr>
                        <a:t>Apache 2.0 (open source)</a:t>
                      </a:r>
                      <a:endParaRPr lang="en-US" sz="1800" kern="100">
                        <a:effectLst/>
                        <a:latin typeface="Calibri" panose="020F0502020204030204" pitchFamily="34" charset="0"/>
                        <a:ea typeface="Arial Unicode MS"/>
                        <a:cs typeface="Times New Roman" panose="02020603050405020304" pitchFamily="18" charset="0"/>
                      </a:endParaRPr>
                    </a:p>
                  </a:txBody>
                  <a:tcPr marL="122493" marR="122493" marT="76558" marB="76558" anchor="ctr"/>
                </a:tc>
                <a:tc>
                  <a:txBody>
                    <a:bodyPr/>
                    <a:lstStyle/>
                    <a:p>
                      <a:pPr>
                        <a:lnSpc>
                          <a:spcPct val="107000"/>
                        </a:lnSpc>
                        <a:buNone/>
                      </a:pPr>
                      <a:r>
                        <a:rPr lang="en-US" sz="1800" kern="100">
                          <a:effectLst/>
                        </a:rPr>
                        <a:t>Commercial (with free tier)</a:t>
                      </a:r>
                      <a:endParaRPr lang="en-US" sz="1800" kern="100">
                        <a:effectLst/>
                        <a:latin typeface="Calibri" panose="020F0502020204030204" pitchFamily="34" charset="0"/>
                        <a:ea typeface="Arial Unicode MS"/>
                        <a:cs typeface="Times New Roman" panose="02020603050405020304" pitchFamily="18" charset="0"/>
                      </a:endParaRPr>
                    </a:p>
                  </a:txBody>
                  <a:tcPr marL="122493" marR="0" marT="76558" marB="76558" anchor="ctr"/>
                </a:tc>
                <a:extLst>
                  <a:ext uri="{0D108BD9-81ED-4DB2-BD59-A6C34878D82A}">
                    <a16:rowId xmlns:a16="http://schemas.microsoft.com/office/drawing/2014/main" val="1117272118"/>
                  </a:ext>
                </a:extLst>
              </a:tr>
              <a:tr h="463638">
                <a:tc>
                  <a:txBody>
                    <a:bodyPr/>
                    <a:lstStyle/>
                    <a:p>
                      <a:pPr>
                        <a:lnSpc>
                          <a:spcPct val="107000"/>
                        </a:lnSpc>
                        <a:buNone/>
                      </a:pPr>
                      <a:r>
                        <a:rPr lang="en-US" sz="1800" kern="100">
                          <a:effectLst/>
                        </a:rPr>
                        <a:t>Cost</a:t>
                      </a:r>
                      <a:endParaRPr lang="en-US" sz="1800" kern="100">
                        <a:effectLst/>
                        <a:latin typeface="Calibri" panose="020F0502020204030204" pitchFamily="34" charset="0"/>
                        <a:ea typeface="Arial Unicode MS"/>
                        <a:cs typeface="Times New Roman" panose="02020603050405020304" pitchFamily="18" charset="0"/>
                      </a:endParaRPr>
                    </a:p>
                  </a:txBody>
                  <a:tcPr marL="0" marR="122493" marT="76558" marB="76558" anchor="ctr"/>
                </a:tc>
                <a:tc>
                  <a:txBody>
                    <a:bodyPr/>
                    <a:lstStyle/>
                    <a:p>
                      <a:pPr>
                        <a:lnSpc>
                          <a:spcPct val="107000"/>
                        </a:lnSpc>
                        <a:buNone/>
                      </a:pPr>
                      <a:r>
                        <a:rPr lang="en-US" sz="1800" kern="100">
                          <a:effectLst/>
                        </a:rPr>
                        <a:t>Free</a:t>
                      </a:r>
                      <a:endParaRPr lang="en-US" sz="1800" kern="100">
                        <a:effectLst/>
                        <a:latin typeface="Calibri" panose="020F0502020204030204" pitchFamily="34" charset="0"/>
                        <a:ea typeface="Arial Unicode MS"/>
                        <a:cs typeface="Times New Roman" panose="02020603050405020304" pitchFamily="18" charset="0"/>
                      </a:endParaRPr>
                    </a:p>
                  </a:txBody>
                  <a:tcPr marL="122493" marR="122493" marT="76558" marB="76558" anchor="ctr"/>
                </a:tc>
                <a:tc>
                  <a:txBody>
                    <a:bodyPr/>
                    <a:lstStyle/>
                    <a:p>
                      <a:pPr>
                        <a:lnSpc>
                          <a:spcPct val="107000"/>
                        </a:lnSpc>
                        <a:buNone/>
                      </a:pPr>
                      <a:r>
                        <a:rPr lang="en-US" sz="1800" kern="100">
                          <a:effectLst/>
                        </a:rPr>
                        <a:t>Subscription-based</a:t>
                      </a:r>
                      <a:endParaRPr lang="en-US" sz="1800" kern="100">
                        <a:effectLst/>
                        <a:latin typeface="Calibri" panose="020F0502020204030204" pitchFamily="34" charset="0"/>
                        <a:ea typeface="Arial Unicode MS"/>
                        <a:cs typeface="Times New Roman" panose="02020603050405020304" pitchFamily="18" charset="0"/>
                      </a:endParaRPr>
                    </a:p>
                  </a:txBody>
                  <a:tcPr marL="122493" marR="0" marT="76558" marB="76558" anchor="ctr"/>
                </a:tc>
                <a:extLst>
                  <a:ext uri="{0D108BD9-81ED-4DB2-BD59-A6C34878D82A}">
                    <a16:rowId xmlns:a16="http://schemas.microsoft.com/office/drawing/2014/main" val="1535247433"/>
                  </a:ext>
                </a:extLst>
              </a:tr>
              <a:tr h="463638">
                <a:tc>
                  <a:txBody>
                    <a:bodyPr/>
                    <a:lstStyle/>
                    <a:p>
                      <a:pPr>
                        <a:lnSpc>
                          <a:spcPct val="107000"/>
                        </a:lnSpc>
                        <a:buNone/>
                      </a:pPr>
                      <a:r>
                        <a:rPr lang="en-US" sz="1800" kern="100" dirty="0">
                          <a:effectLst/>
                        </a:rPr>
                        <a:t>Support</a:t>
                      </a:r>
                      <a:endParaRPr lang="en-US" sz="1800" kern="100" dirty="0">
                        <a:effectLst/>
                        <a:latin typeface="Calibri" panose="020F0502020204030204" pitchFamily="34" charset="0"/>
                        <a:ea typeface="Arial Unicode MS"/>
                        <a:cs typeface="Times New Roman" panose="02020603050405020304" pitchFamily="18" charset="0"/>
                      </a:endParaRPr>
                    </a:p>
                  </a:txBody>
                  <a:tcPr marL="0" marR="122493" marT="76558" marB="76558" anchor="ctr"/>
                </a:tc>
                <a:tc>
                  <a:txBody>
                    <a:bodyPr/>
                    <a:lstStyle/>
                    <a:p>
                      <a:pPr>
                        <a:lnSpc>
                          <a:spcPct val="107000"/>
                        </a:lnSpc>
                        <a:buNone/>
                      </a:pPr>
                      <a:r>
                        <a:rPr lang="en-US" sz="1800" kern="100">
                          <a:effectLst/>
                        </a:rPr>
                        <a:t>Community support</a:t>
                      </a:r>
                      <a:endParaRPr lang="en-US" sz="1800" kern="100">
                        <a:effectLst/>
                        <a:latin typeface="Calibri" panose="020F0502020204030204" pitchFamily="34" charset="0"/>
                        <a:ea typeface="Arial Unicode MS"/>
                        <a:cs typeface="Times New Roman" panose="02020603050405020304" pitchFamily="18" charset="0"/>
                      </a:endParaRPr>
                    </a:p>
                  </a:txBody>
                  <a:tcPr marL="122493" marR="122493" marT="76558" marB="76558" anchor="ctr"/>
                </a:tc>
                <a:tc>
                  <a:txBody>
                    <a:bodyPr/>
                    <a:lstStyle/>
                    <a:p>
                      <a:pPr>
                        <a:lnSpc>
                          <a:spcPct val="107000"/>
                        </a:lnSpc>
                        <a:buNone/>
                      </a:pPr>
                      <a:r>
                        <a:rPr lang="en-US" sz="1800" kern="100">
                          <a:effectLst/>
                        </a:rPr>
                        <a:t>24/7 enterprise support</a:t>
                      </a:r>
                      <a:endParaRPr lang="en-US" sz="1800" kern="100">
                        <a:effectLst/>
                        <a:latin typeface="Calibri" panose="020F0502020204030204" pitchFamily="34" charset="0"/>
                        <a:ea typeface="Arial Unicode MS"/>
                        <a:cs typeface="Times New Roman" panose="02020603050405020304" pitchFamily="18" charset="0"/>
                      </a:endParaRPr>
                    </a:p>
                  </a:txBody>
                  <a:tcPr marL="122493" marR="0" marT="76558" marB="76558" anchor="ctr"/>
                </a:tc>
                <a:extLst>
                  <a:ext uri="{0D108BD9-81ED-4DB2-BD59-A6C34878D82A}">
                    <a16:rowId xmlns:a16="http://schemas.microsoft.com/office/drawing/2014/main" val="3324640553"/>
                  </a:ext>
                </a:extLst>
              </a:tr>
              <a:tr h="709113">
                <a:tc>
                  <a:txBody>
                    <a:bodyPr/>
                    <a:lstStyle/>
                    <a:p>
                      <a:pPr>
                        <a:lnSpc>
                          <a:spcPct val="107000"/>
                        </a:lnSpc>
                        <a:buNone/>
                      </a:pPr>
                      <a:r>
                        <a:rPr lang="en-US" sz="1800" kern="100">
                          <a:effectLst/>
                        </a:rPr>
                        <a:t>Security</a:t>
                      </a:r>
                      <a:endParaRPr lang="en-US" sz="1800" kern="100">
                        <a:effectLst/>
                        <a:latin typeface="Calibri" panose="020F0502020204030204" pitchFamily="34" charset="0"/>
                        <a:ea typeface="Arial Unicode MS"/>
                        <a:cs typeface="Times New Roman" panose="02020603050405020304" pitchFamily="18" charset="0"/>
                      </a:endParaRPr>
                    </a:p>
                  </a:txBody>
                  <a:tcPr marL="0" marR="122493" marT="76558" marB="76558" anchor="ctr"/>
                </a:tc>
                <a:tc>
                  <a:txBody>
                    <a:bodyPr/>
                    <a:lstStyle/>
                    <a:p>
                      <a:pPr>
                        <a:lnSpc>
                          <a:spcPct val="107000"/>
                        </a:lnSpc>
                        <a:buNone/>
                      </a:pPr>
                      <a:r>
                        <a:rPr lang="en-US" sz="1800" kern="100" dirty="0">
                          <a:effectLst/>
                        </a:rPr>
                        <a:t>Basic security features</a:t>
                      </a:r>
                      <a:endParaRPr lang="en-US" sz="1800" kern="100" dirty="0">
                        <a:effectLst/>
                        <a:latin typeface="Calibri" panose="020F0502020204030204" pitchFamily="34" charset="0"/>
                        <a:ea typeface="Arial Unicode MS"/>
                        <a:cs typeface="Times New Roman" panose="02020603050405020304" pitchFamily="18" charset="0"/>
                      </a:endParaRPr>
                    </a:p>
                  </a:txBody>
                  <a:tcPr marL="122493" marR="122493" marT="76558" marB="76558" anchor="ctr"/>
                </a:tc>
                <a:tc>
                  <a:txBody>
                    <a:bodyPr/>
                    <a:lstStyle/>
                    <a:p>
                      <a:pPr>
                        <a:lnSpc>
                          <a:spcPct val="107000"/>
                        </a:lnSpc>
                        <a:buNone/>
                      </a:pPr>
                      <a:r>
                        <a:rPr lang="en-US" sz="1800" kern="100">
                          <a:effectLst/>
                        </a:rPr>
                        <a:t>Advanced security (Kerberos, LDAP, audit)</a:t>
                      </a:r>
                      <a:endParaRPr lang="en-US" sz="1800" kern="100">
                        <a:effectLst/>
                        <a:latin typeface="Calibri" panose="020F0502020204030204" pitchFamily="34" charset="0"/>
                        <a:ea typeface="Arial Unicode MS"/>
                        <a:cs typeface="Times New Roman" panose="02020603050405020304" pitchFamily="18" charset="0"/>
                      </a:endParaRPr>
                    </a:p>
                  </a:txBody>
                  <a:tcPr marL="122493" marR="0" marT="76558" marB="76558" anchor="ctr"/>
                </a:tc>
                <a:extLst>
                  <a:ext uri="{0D108BD9-81ED-4DB2-BD59-A6C34878D82A}">
                    <a16:rowId xmlns:a16="http://schemas.microsoft.com/office/drawing/2014/main" val="4000023140"/>
                  </a:ext>
                </a:extLst>
              </a:tr>
              <a:tr h="709113">
                <a:tc>
                  <a:txBody>
                    <a:bodyPr/>
                    <a:lstStyle/>
                    <a:p>
                      <a:pPr>
                        <a:lnSpc>
                          <a:spcPct val="107000"/>
                        </a:lnSpc>
                        <a:buNone/>
                      </a:pPr>
                      <a:r>
                        <a:rPr lang="en-US" sz="1800" kern="100">
                          <a:effectLst/>
                        </a:rPr>
                        <a:t>Monitoring</a:t>
                      </a:r>
                      <a:endParaRPr lang="en-US" sz="1800" kern="100">
                        <a:effectLst/>
                        <a:latin typeface="Calibri" panose="020F0502020204030204" pitchFamily="34" charset="0"/>
                        <a:ea typeface="Arial Unicode MS"/>
                        <a:cs typeface="Times New Roman" panose="02020603050405020304" pitchFamily="18" charset="0"/>
                      </a:endParaRPr>
                    </a:p>
                  </a:txBody>
                  <a:tcPr marL="0" marR="122493" marT="76558" marB="76558" anchor="ctr"/>
                </a:tc>
                <a:tc>
                  <a:txBody>
                    <a:bodyPr/>
                    <a:lstStyle/>
                    <a:p>
                      <a:pPr>
                        <a:lnSpc>
                          <a:spcPct val="107000"/>
                        </a:lnSpc>
                        <a:buNone/>
                      </a:pPr>
                      <a:r>
                        <a:rPr lang="en-US" sz="1800" kern="100">
                          <a:effectLst/>
                        </a:rPr>
                        <a:t>Basic JMX metrics</a:t>
                      </a:r>
                      <a:endParaRPr lang="en-US" sz="1800" kern="100">
                        <a:effectLst/>
                        <a:latin typeface="Calibri" panose="020F0502020204030204" pitchFamily="34" charset="0"/>
                        <a:ea typeface="Arial Unicode MS"/>
                        <a:cs typeface="Times New Roman" panose="02020603050405020304" pitchFamily="18" charset="0"/>
                      </a:endParaRPr>
                    </a:p>
                  </a:txBody>
                  <a:tcPr marL="122493" marR="122493" marT="76558" marB="76558" anchor="ctr"/>
                </a:tc>
                <a:tc>
                  <a:txBody>
                    <a:bodyPr/>
                    <a:lstStyle/>
                    <a:p>
                      <a:pPr>
                        <a:lnSpc>
                          <a:spcPct val="107000"/>
                        </a:lnSpc>
                        <a:buNone/>
                      </a:pPr>
                      <a:r>
                        <a:rPr lang="en-US" sz="1800" kern="100">
                          <a:effectLst/>
                        </a:rPr>
                        <a:t>Comprehensive monitoring with OpsCenter</a:t>
                      </a:r>
                      <a:endParaRPr lang="en-US" sz="1800" kern="100">
                        <a:effectLst/>
                        <a:latin typeface="Calibri" panose="020F0502020204030204" pitchFamily="34" charset="0"/>
                        <a:ea typeface="Arial Unicode MS"/>
                        <a:cs typeface="Times New Roman" panose="02020603050405020304" pitchFamily="18" charset="0"/>
                      </a:endParaRPr>
                    </a:p>
                  </a:txBody>
                  <a:tcPr marL="122493" marR="0" marT="76558" marB="76558" anchor="ctr"/>
                </a:tc>
                <a:extLst>
                  <a:ext uri="{0D108BD9-81ED-4DB2-BD59-A6C34878D82A}">
                    <a16:rowId xmlns:a16="http://schemas.microsoft.com/office/drawing/2014/main" val="672667681"/>
                  </a:ext>
                </a:extLst>
              </a:tr>
              <a:tr h="463638">
                <a:tc>
                  <a:txBody>
                    <a:bodyPr/>
                    <a:lstStyle/>
                    <a:p>
                      <a:pPr>
                        <a:lnSpc>
                          <a:spcPct val="107000"/>
                        </a:lnSpc>
                        <a:buNone/>
                      </a:pPr>
                      <a:r>
                        <a:rPr lang="en-US" sz="1800" kern="100">
                          <a:effectLst/>
                        </a:rPr>
                        <a:t>Backup</a:t>
                      </a:r>
                      <a:endParaRPr lang="en-US" sz="1800" kern="100">
                        <a:effectLst/>
                        <a:latin typeface="Calibri" panose="020F0502020204030204" pitchFamily="34" charset="0"/>
                        <a:ea typeface="Arial Unicode MS"/>
                        <a:cs typeface="Times New Roman" panose="02020603050405020304" pitchFamily="18" charset="0"/>
                      </a:endParaRPr>
                    </a:p>
                  </a:txBody>
                  <a:tcPr marL="0" marR="122493" marT="76558" marB="76558" anchor="ctr"/>
                </a:tc>
                <a:tc>
                  <a:txBody>
                    <a:bodyPr/>
                    <a:lstStyle/>
                    <a:p>
                      <a:pPr>
                        <a:lnSpc>
                          <a:spcPct val="107000"/>
                        </a:lnSpc>
                        <a:buNone/>
                      </a:pPr>
                      <a:r>
                        <a:rPr lang="en-US" sz="1800" kern="100">
                          <a:effectLst/>
                        </a:rPr>
                        <a:t>Manual/snapshot-based</a:t>
                      </a:r>
                      <a:endParaRPr lang="en-US" sz="1800" kern="100">
                        <a:effectLst/>
                        <a:latin typeface="Calibri" panose="020F0502020204030204" pitchFamily="34" charset="0"/>
                        <a:ea typeface="Arial Unicode MS"/>
                        <a:cs typeface="Times New Roman" panose="02020603050405020304" pitchFamily="18" charset="0"/>
                      </a:endParaRPr>
                    </a:p>
                  </a:txBody>
                  <a:tcPr marL="122493" marR="122493" marT="76558" marB="76558" anchor="ctr"/>
                </a:tc>
                <a:tc>
                  <a:txBody>
                    <a:bodyPr/>
                    <a:lstStyle/>
                    <a:p>
                      <a:pPr>
                        <a:lnSpc>
                          <a:spcPct val="107000"/>
                        </a:lnSpc>
                        <a:buNone/>
                      </a:pPr>
                      <a:r>
                        <a:rPr lang="en-US" sz="1800" kern="100">
                          <a:effectLst/>
                        </a:rPr>
                        <a:t>Automated backup/restore</a:t>
                      </a:r>
                      <a:endParaRPr lang="en-US" sz="1800" kern="100">
                        <a:effectLst/>
                        <a:latin typeface="Calibri" panose="020F0502020204030204" pitchFamily="34" charset="0"/>
                        <a:ea typeface="Arial Unicode MS"/>
                        <a:cs typeface="Times New Roman" panose="02020603050405020304" pitchFamily="18" charset="0"/>
                      </a:endParaRPr>
                    </a:p>
                  </a:txBody>
                  <a:tcPr marL="122493" marR="0" marT="76558" marB="76558" anchor="ctr"/>
                </a:tc>
                <a:extLst>
                  <a:ext uri="{0D108BD9-81ED-4DB2-BD59-A6C34878D82A}">
                    <a16:rowId xmlns:a16="http://schemas.microsoft.com/office/drawing/2014/main" val="4144632904"/>
                  </a:ext>
                </a:extLst>
              </a:tr>
              <a:tr h="709113">
                <a:tc>
                  <a:txBody>
                    <a:bodyPr/>
                    <a:lstStyle/>
                    <a:p>
                      <a:pPr>
                        <a:lnSpc>
                          <a:spcPct val="107000"/>
                        </a:lnSpc>
                        <a:buNone/>
                      </a:pPr>
                      <a:r>
                        <a:rPr lang="en-US" sz="1800" kern="100">
                          <a:effectLst/>
                        </a:rPr>
                        <a:t>Deployment</a:t>
                      </a:r>
                      <a:endParaRPr lang="en-US" sz="1800" kern="100">
                        <a:effectLst/>
                        <a:latin typeface="Calibri" panose="020F0502020204030204" pitchFamily="34" charset="0"/>
                        <a:ea typeface="Arial Unicode MS"/>
                        <a:cs typeface="Times New Roman" panose="02020603050405020304" pitchFamily="18" charset="0"/>
                      </a:endParaRPr>
                    </a:p>
                  </a:txBody>
                  <a:tcPr marL="0" marR="122493" marT="76558" marB="76558" anchor="ctr"/>
                </a:tc>
                <a:tc>
                  <a:txBody>
                    <a:bodyPr/>
                    <a:lstStyle/>
                    <a:p>
                      <a:pPr>
                        <a:lnSpc>
                          <a:spcPct val="107000"/>
                        </a:lnSpc>
                        <a:buNone/>
                      </a:pPr>
                      <a:r>
                        <a:rPr lang="en-US" sz="1800" kern="100">
                          <a:effectLst/>
                        </a:rPr>
                        <a:t>Manual/scripted</a:t>
                      </a:r>
                      <a:endParaRPr lang="en-US" sz="1800" kern="100">
                        <a:effectLst/>
                        <a:latin typeface="Calibri" panose="020F0502020204030204" pitchFamily="34" charset="0"/>
                        <a:ea typeface="Arial Unicode MS"/>
                        <a:cs typeface="Times New Roman" panose="02020603050405020304" pitchFamily="18" charset="0"/>
                      </a:endParaRPr>
                    </a:p>
                  </a:txBody>
                  <a:tcPr marL="122493" marR="122493" marT="76558" marB="76558" anchor="ctr"/>
                </a:tc>
                <a:tc>
                  <a:txBody>
                    <a:bodyPr/>
                    <a:lstStyle/>
                    <a:p>
                      <a:pPr>
                        <a:lnSpc>
                          <a:spcPct val="107000"/>
                        </a:lnSpc>
                        <a:buNone/>
                      </a:pPr>
                      <a:r>
                        <a:rPr lang="en-US" sz="1800" kern="100">
                          <a:effectLst/>
                        </a:rPr>
                        <a:t>Automated with Lifecycle Manager</a:t>
                      </a:r>
                      <a:endParaRPr lang="en-US" sz="1800" kern="100">
                        <a:effectLst/>
                        <a:latin typeface="Calibri" panose="020F0502020204030204" pitchFamily="34" charset="0"/>
                        <a:ea typeface="Arial Unicode MS"/>
                        <a:cs typeface="Times New Roman" panose="02020603050405020304" pitchFamily="18" charset="0"/>
                      </a:endParaRPr>
                    </a:p>
                  </a:txBody>
                  <a:tcPr marL="122493" marR="0" marT="76558" marB="76558" anchor="ctr"/>
                </a:tc>
                <a:extLst>
                  <a:ext uri="{0D108BD9-81ED-4DB2-BD59-A6C34878D82A}">
                    <a16:rowId xmlns:a16="http://schemas.microsoft.com/office/drawing/2014/main" val="2754348430"/>
                  </a:ext>
                </a:extLst>
              </a:tr>
              <a:tr h="463638">
                <a:tc>
                  <a:txBody>
                    <a:bodyPr/>
                    <a:lstStyle/>
                    <a:p>
                      <a:pPr>
                        <a:lnSpc>
                          <a:spcPct val="107000"/>
                        </a:lnSpc>
                        <a:buNone/>
                      </a:pPr>
                      <a:r>
                        <a:rPr lang="en-US" sz="1800" kern="100">
                          <a:effectLst/>
                        </a:rPr>
                        <a:t>Performance</a:t>
                      </a:r>
                      <a:endParaRPr lang="en-US" sz="1800" kern="100">
                        <a:effectLst/>
                        <a:latin typeface="Calibri" panose="020F0502020204030204" pitchFamily="34" charset="0"/>
                        <a:ea typeface="Arial Unicode MS"/>
                        <a:cs typeface="Times New Roman" panose="02020603050405020304" pitchFamily="18" charset="0"/>
                      </a:endParaRPr>
                    </a:p>
                  </a:txBody>
                  <a:tcPr marL="0" marR="122493" marT="76558" marB="76558" anchor="ctr"/>
                </a:tc>
                <a:tc>
                  <a:txBody>
                    <a:bodyPr/>
                    <a:lstStyle/>
                    <a:p>
                      <a:pPr>
                        <a:lnSpc>
                          <a:spcPct val="107000"/>
                        </a:lnSpc>
                        <a:buNone/>
                      </a:pPr>
                      <a:r>
                        <a:rPr lang="en-US" sz="1800" kern="100">
                          <a:effectLst/>
                        </a:rPr>
                        <a:t>Core Cassandra performance</a:t>
                      </a:r>
                      <a:endParaRPr lang="en-US" sz="1800" kern="100">
                        <a:effectLst/>
                        <a:latin typeface="Calibri" panose="020F0502020204030204" pitchFamily="34" charset="0"/>
                        <a:ea typeface="Arial Unicode MS"/>
                        <a:cs typeface="Times New Roman" panose="02020603050405020304" pitchFamily="18" charset="0"/>
                      </a:endParaRPr>
                    </a:p>
                  </a:txBody>
                  <a:tcPr marL="122493" marR="122493" marT="76558" marB="76558" anchor="ctr"/>
                </a:tc>
                <a:tc>
                  <a:txBody>
                    <a:bodyPr/>
                    <a:lstStyle/>
                    <a:p>
                      <a:pPr>
                        <a:lnSpc>
                          <a:spcPct val="107000"/>
                        </a:lnSpc>
                        <a:buNone/>
                      </a:pPr>
                      <a:r>
                        <a:rPr lang="en-US" sz="1800" kern="100">
                          <a:effectLst/>
                        </a:rPr>
                        <a:t>Optimized drivers and tuning</a:t>
                      </a:r>
                      <a:endParaRPr lang="en-US" sz="1800" kern="100">
                        <a:effectLst/>
                        <a:latin typeface="Calibri" panose="020F0502020204030204" pitchFamily="34" charset="0"/>
                        <a:ea typeface="Arial Unicode MS"/>
                        <a:cs typeface="Times New Roman" panose="02020603050405020304" pitchFamily="18" charset="0"/>
                      </a:endParaRPr>
                    </a:p>
                  </a:txBody>
                  <a:tcPr marL="122493" marR="0" marT="76558" marB="76558" anchor="ctr"/>
                </a:tc>
                <a:extLst>
                  <a:ext uri="{0D108BD9-81ED-4DB2-BD59-A6C34878D82A}">
                    <a16:rowId xmlns:a16="http://schemas.microsoft.com/office/drawing/2014/main" val="3641401545"/>
                  </a:ext>
                </a:extLst>
              </a:tr>
              <a:tr h="463638">
                <a:tc>
                  <a:txBody>
                    <a:bodyPr/>
                    <a:lstStyle/>
                    <a:p>
                      <a:pPr>
                        <a:lnSpc>
                          <a:spcPct val="107000"/>
                        </a:lnSpc>
                        <a:buNone/>
                      </a:pPr>
                      <a:r>
                        <a:rPr lang="en-US" sz="1800" kern="100">
                          <a:effectLst/>
                        </a:rPr>
                        <a:t>Updates</a:t>
                      </a:r>
                      <a:endParaRPr lang="en-US" sz="1800" kern="100">
                        <a:effectLst/>
                        <a:latin typeface="Calibri" panose="020F0502020204030204" pitchFamily="34" charset="0"/>
                        <a:ea typeface="Arial Unicode MS"/>
                        <a:cs typeface="Times New Roman" panose="02020603050405020304" pitchFamily="18" charset="0"/>
                      </a:endParaRPr>
                    </a:p>
                  </a:txBody>
                  <a:tcPr marL="0" marR="122493" marT="76558" marB="76558" anchor="ctr"/>
                </a:tc>
                <a:tc>
                  <a:txBody>
                    <a:bodyPr/>
                    <a:lstStyle/>
                    <a:p>
                      <a:pPr>
                        <a:lnSpc>
                          <a:spcPct val="107000"/>
                        </a:lnSpc>
                        <a:buNone/>
                      </a:pPr>
                      <a:r>
                        <a:rPr lang="en-US" sz="1800" kern="100">
                          <a:effectLst/>
                        </a:rPr>
                        <a:t>Community release cycle</a:t>
                      </a:r>
                      <a:endParaRPr lang="en-US" sz="1800" kern="100">
                        <a:effectLst/>
                        <a:latin typeface="Calibri" panose="020F0502020204030204" pitchFamily="34" charset="0"/>
                        <a:ea typeface="Arial Unicode MS"/>
                        <a:cs typeface="Times New Roman" panose="02020603050405020304" pitchFamily="18" charset="0"/>
                      </a:endParaRPr>
                    </a:p>
                  </a:txBody>
                  <a:tcPr marL="122493" marR="122493" marT="76558" marB="76558" anchor="ctr"/>
                </a:tc>
                <a:tc>
                  <a:txBody>
                    <a:bodyPr/>
                    <a:lstStyle/>
                    <a:p>
                      <a:pPr>
                        <a:lnSpc>
                          <a:spcPct val="107000"/>
                        </a:lnSpc>
                        <a:buNone/>
                      </a:pPr>
                      <a:r>
                        <a:rPr lang="en-US" sz="1800" kern="100">
                          <a:effectLst/>
                        </a:rPr>
                        <a:t>Certified releases with hotfixes</a:t>
                      </a:r>
                      <a:endParaRPr lang="en-US" sz="1800" kern="100">
                        <a:effectLst/>
                        <a:latin typeface="Calibri" panose="020F0502020204030204" pitchFamily="34" charset="0"/>
                        <a:ea typeface="Arial Unicode MS"/>
                        <a:cs typeface="Times New Roman" panose="02020603050405020304" pitchFamily="18" charset="0"/>
                      </a:endParaRPr>
                    </a:p>
                  </a:txBody>
                  <a:tcPr marL="122493" marR="0" marT="76558" marB="76558" anchor="ctr"/>
                </a:tc>
                <a:extLst>
                  <a:ext uri="{0D108BD9-81ED-4DB2-BD59-A6C34878D82A}">
                    <a16:rowId xmlns:a16="http://schemas.microsoft.com/office/drawing/2014/main" val="1872829323"/>
                  </a:ext>
                </a:extLst>
              </a:tr>
              <a:tr h="463638">
                <a:tc>
                  <a:txBody>
                    <a:bodyPr/>
                    <a:lstStyle/>
                    <a:p>
                      <a:pPr>
                        <a:lnSpc>
                          <a:spcPct val="107000"/>
                        </a:lnSpc>
                        <a:buNone/>
                      </a:pPr>
                      <a:r>
                        <a:rPr lang="en-US" sz="1800" kern="100">
                          <a:effectLst/>
                        </a:rPr>
                        <a:t>Training</a:t>
                      </a:r>
                      <a:endParaRPr lang="en-US" sz="1800" kern="100">
                        <a:effectLst/>
                        <a:latin typeface="Calibri" panose="020F0502020204030204" pitchFamily="34" charset="0"/>
                        <a:ea typeface="Arial Unicode MS"/>
                        <a:cs typeface="Times New Roman" panose="02020603050405020304" pitchFamily="18" charset="0"/>
                      </a:endParaRPr>
                    </a:p>
                  </a:txBody>
                  <a:tcPr marL="0" marR="122493" marT="76558" marB="76558" anchor="ctr"/>
                </a:tc>
                <a:tc>
                  <a:txBody>
                    <a:bodyPr/>
                    <a:lstStyle/>
                    <a:p>
                      <a:pPr>
                        <a:lnSpc>
                          <a:spcPct val="107000"/>
                        </a:lnSpc>
                        <a:buNone/>
                      </a:pPr>
                      <a:r>
                        <a:rPr lang="en-US" sz="1800" kern="100">
                          <a:effectLst/>
                        </a:rPr>
                        <a:t>Community documentation</a:t>
                      </a:r>
                      <a:endParaRPr lang="en-US" sz="1800" kern="100">
                        <a:effectLst/>
                        <a:latin typeface="Calibri" panose="020F0502020204030204" pitchFamily="34" charset="0"/>
                        <a:ea typeface="Arial Unicode MS"/>
                        <a:cs typeface="Times New Roman" panose="02020603050405020304" pitchFamily="18" charset="0"/>
                      </a:endParaRPr>
                    </a:p>
                  </a:txBody>
                  <a:tcPr marL="122493" marR="122493" marT="76558" marB="76558" anchor="ctr"/>
                </a:tc>
                <a:tc>
                  <a:txBody>
                    <a:bodyPr/>
                    <a:lstStyle/>
                    <a:p>
                      <a:pPr>
                        <a:lnSpc>
                          <a:spcPct val="107000"/>
                        </a:lnSpc>
                        <a:buNone/>
                      </a:pPr>
                      <a:r>
                        <a:rPr lang="en-US" sz="1800" kern="100" dirty="0">
                          <a:effectLst/>
                        </a:rPr>
                        <a:t>Professional training/certification</a:t>
                      </a:r>
                      <a:endParaRPr lang="en-US" sz="1800" kern="100" dirty="0">
                        <a:effectLst/>
                        <a:latin typeface="Calibri" panose="020F0502020204030204" pitchFamily="34" charset="0"/>
                        <a:ea typeface="Arial Unicode MS"/>
                        <a:cs typeface="Times New Roman" panose="02020603050405020304" pitchFamily="18" charset="0"/>
                      </a:endParaRPr>
                    </a:p>
                  </a:txBody>
                  <a:tcPr marL="122493" marR="0" marT="76558" marB="76558" anchor="ctr"/>
                </a:tc>
                <a:extLst>
                  <a:ext uri="{0D108BD9-81ED-4DB2-BD59-A6C34878D82A}">
                    <a16:rowId xmlns:a16="http://schemas.microsoft.com/office/drawing/2014/main" val="2941485770"/>
                  </a:ext>
                </a:extLst>
              </a:tr>
            </a:tbl>
          </a:graphicData>
        </a:graphic>
      </p:graphicFrame>
    </p:spTree>
    <p:extLst>
      <p:ext uri="{BB962C8B-B14F-4D97-AF65-F5344CB8AC3E}">
        <p14:creationId xmlns:p14="http://schemas.microsoft.com/office/powerpoint/2010/main" val="25701539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574B23-9AB6-1FFD-57F3-582F9E7FDA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4BFE04-D0AD-37FD-333B-04E70FC71835}"/>
              </a:ext>
            </a:extLst>
          </p:cNvPr>
          <p:cNvSpPr>
            <a:spLocks noGrp="1"/>
          </p:cNvSpPr>
          <p:nvPr>
            <p:ph type="title"/>
          </p:nvPr>
        </p:nvSpPr>
        <p:spPr>
          <a:xfrm>
            <a:off x="324018" y="-185739"/>
            <a:ext cx="11029616" cy="712157"/>
          </a:xfrm>
        </p:spPr>
        <p:txBody>
          <a:bodyPr/>
          <a:lstStyle/>
          <a:p>
            <a:r>
              <a:rPr lang="en-US" b="1" dirty="0"/>
              <a:t>Feature Comparison </a:t>
            </a:r>
            <a:endParaRPr lang="en-US" dirty="0"/>
          </a:p>
        </p:txBody>
      </p:sp>
      <p:graphicFrame>
        <p:nvGraphicFramePr>
          <p:cNvPr id="4" name="Table 3">
            <a:extLst>
              <a:ext uri="{FF2B5EF4-FFF2-40B4-BE49-F238E27FC236}">
                <a16:creationId xmlns:a16="http://schemas.microsoft.com/office/drawing/2014/main" id="{100F4C9B-42FA-EEDC-CC06-14223DA31B6F}"/>
              </a:ext>
            </a:extLst>
          </p:cNvPr>
          <p:cNvGraphicFramePr>
            <a:graphicFrameLocks noGrp="1"/>
          </p:cNvGraphicFramePr>
          <p:nvPr>
            <p:extLst>
              <p:ext uri="{D42A27DB-BD31-4B8C-83A1-F6EECF244321}">
                <p14:modId xmlns:p14="http://schemas.microsoft.com/office/powerpoint/2010/main" val="469438634"/>
              </p:ext>
            </p:extLst>
          </p:nvPr>
        </p:nvGraphicFramePr>
        <p:xfrm>
          <a:off x="478631" y="719666"/>
          <a:ext cx="11258550" cy="5695420"/>
        </p:xfrm>
        <a:graphic>
          <a:graphicData uri="http://schemas.openxmlformats.org/drawingml/2006/table">
            <a:tbl>
              <a:tblPr firstRow="1" bandRow="1">
                <a:tableStyleId>{5C22544A-7EE6-4342-B048-85BDC9FD1C3A}</a:tableStyleId>
              </a:tblPr>
              <a:tblGrid>
                <a:gridCol w="5629275">
                  <a:extLst>
                    <a:ext uri="{9D8B030D-6E8A-4147-A177-3AD203B41FA5}">
                      <a16:colId xmlns:a16="http://schemas.microsoft.com/office/drawing/2014/main" val="1964051016"/>
                    </a:ext>
                  </a:extLst>
                </a:gridCol>
                <a:gridCol w="5629275">
                  <a:extLst>
                    <a:ext uri="{9D8B030D-6E8A-4147-A177-3AD203B41FA5}">
                      <a16:colId xmlns:a16="http://schemas.microsoft.com/office/drawing/2014/main" val="1220732101"/>
                    </a:ext>
                  </a:extLst>
                </a:gridCol>
              </a:tblGrid>
              <a:tr h="760516">
                <a:tc>
                  <a:txBody>
                    <a:bodyPr/>
                    <a:lstStyle/>
                    <a:p>
                      <a:r>
                        <a:rPr lang="en-IN" sz="2400" dirty="0"/>
                        <a:t>When to Choose Cassandra</a:t>
                      </a:r>
                      <a:endParaRPr lang="en-US" sz="2400" dirty="0"/>
                    </a:p>
                  </a:txBody>
                  <a:tcPr/>
                </a:tc>
                <a:tc>
                  <a:txBody>
                    <a:bodyPr/>
                    <a:lstStyle/>
                    <a:p>
                      <a:r>
                        <a:rPr lang="en-IN" sz="2400" dirty="0"/>
                        <a:t>When to Choose DSE</a:t>
                      </a:r>
                      <a:endParaRPr lang="en-US" sz="2400" dirty="0"/>
                    </a:p>
                  </a:txBody>
                  <a:tcPr/>
                </a:tc>
                <a:extLst>
                  <a:ext uri="{0D108BD9-81ED-4DB2-BD59-A6C34878D82A}">
                    <a16:rowId xmlns:a16="http://schemas.microsoft.com/office/drawing/2014/main" val="1132182132"/>
                  </a:ext>
                </a:extLst>
              </a:tr>
              <a:tr h="616863">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You have expertise to manage Cassandra yourself</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Running mission-critical applications</a:t>
                      </a:r>
                    </a:p>
                  </a:txBody>
                  <a:tcPr/>
                </a:tc>
                <a:extLst>
                  <a:ext uri="{0D108BD9-81ED-4DB2-BD59-A6C34878D82A}">
                    <a16:rowId xmlns:a16="http://schemas.microsoft.com/office/drawing/2014/main" val="486954923"/>
                  </a:ext>
                </a:extLst>
              </a:tr>
              <a:tr h="616863">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Budget constraints require free solution</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Need enterprise support and SLAs</a:t>
                      </a:r>
                    </a:p>
                  </a:txBody>
                  <a:tcPr/>
                </a:tc>
                <a:extLst>
                  <a:ext uri="{0D108BD9-81ED-4DB2-BD59-A6C34878D82A}">
                    <a16:rowId xmlns:a16="http://schemas.microsoft.com/office/drawing/2014/main" val="1771576468"/>
                  </a:ext>
                </a:extLst>
              </a:tr>
              <a:tr h="616863">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You only need core Cassandra features</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Require integrated analytics/search/graph</a:t>
                      </a:r>
                    </a:p>
                  </a:txBody>
                  <a:tcPr/>
                </a:tc>
                <a:extLst>
                  <a:ext uri="{0D108BD9-81ED-4DB2-BD59-A6C34878D82A}">
                    <a16:rowId xmlns:a16="http://schemas.microsoft.com/office/drawing/2014/main" val="1544779169"/>
                  </a:ext>
                </a:extLst>
              </a:tr>
              <a:tr h="616863">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Community support is sufficient</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Need advanced security features</a:t>
                      </a:r>
                    </a:p>
                  </a:txBody>
                  <a:tcPr/>
                </a:tc>
                <a:extLst>
                  <a:ext uri="{0D108BD9-81ED-4DB2-BD59-A6C34878D82A}">
                    <a16:rowId xmlns:a16="http://schemas.microsoft.com/office/drawing/2014/main" val="1830627869"/>
                  </a:ext>
                </a:extLst>
              </a:tr>
              <a:tr h="616863">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You're building a proof of concept</a:t>
                      </a:r>
                    </a:p>
                  </a:txBody>
                  <a:tcPr/>
                </a:tc>
                <a:tc>
                  <a:txBody>
                    <a:bodyPr/>
                    <a:lstStyle/>
                    <a:p>
                      <a:r>
                        <a:rPr lang="en-US" sz="1800" b="0" i="0" kern="1200" dirty="0">
                          <a:solidFill>
                            <a:schemeClr val="dk1"/>
                          </a:solidFill>
                          <a:effectLst/>
                          <a:latin typeface="+mn-lt"/>
                          <a:ea typeface="+mn-ea"/>
                          <a:cs typeface="+mn-cs"/>
                        </a:rPr>
                        <a:t>Lack in-house Cassandra expertise</a:t>
                      </a:r>
                    </a:p>
                  </a:txBody>
                  <a:tcPr/>
                </a:tc>
                <a:extLst>
                  <a:ext uri="{0D108BD9-81ED-4DB2-BD59-A6C34878D82A}">
                    <a16:rowId xmlns:a16="http://schemas.microsoft.com/office/drawing/2014/main" val="373357171"/>
                  </a:ext>
                </a:extLst>
              </a:tr>
              <a:tr h="616863">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Open Source licensing is required</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Require production management tools</a:t>
                      </a:r>
                    </a:p>
                  </a:txBody>
                  <a:tcPr/>
                </a:tc>
                <a:extLst>
                  <a:ext uri="{0D108BD9-81ED-4DB2-BD59-A6C34878D82A}">
                    <a16:rowId xmlns:a16="http://schemas.microsoft.com/office/drawing/2014/main" val="2295028118"/>
                  </a:ext>
                </a:extLst>
              </a:tr>
              <a:tr h="616863">
                <a:tc>
                  <a:txBody>
                    <a:bodyPr/>
                    <a:lstStyle/>
                    <a:p>
                      <a:endParaRPr lang="en-US"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Need hybrid/multi-cloud deployment</a:t>
                      </a:r>
                    </a:p>
                  </a:txBody>
                  <a:tcPr/>
                </a:tc>
                <a:extLst>
                  <a:ext uri="{0D108BD9-81ED-4DB2-BD59-A6C34878D82A}">
                    <a16:rowId xmlns:a16="http://schemas.microsoft.com/office/drawing/2014/main" val="578738497"/>
                  </a:ext>
                </a:extLst>
              </a:tr>
              <a:tr h="616863">
                <a:tc>
                  <a:txBody>
                    <a:bodyPr/>
                    <a:lstStyle/>
                    <a:p>
                      <a:endParaRPr lang="en-US"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fr-FR" sz="1800" b="0" i="0" kern="1200" dirty="0">
                          <a:solidFill>
                            <a:schemeClr val="dk1"/>
                          </a:solidFill>
                          <a:effectLst/>
                          <a:latin typeface="+mn-lt"/>
                          <a:ea typeface="+mn-ea"/>
                          <a:cs typeface="+mn-cs"/>
                        </a:rPr>
                        <a:t>Compliance </a:t>
                      </a:r>
                      <a:r>
                        <a:rPr lang="fr-FR" sz="1800" b="0" i="0" kern="1200" dirty="0" err="1">
                          <a:solidFill>
                            <a:schemeClr val="dk1"/>
                          </a:solidFill>
                          <a:effectLst/>
                          <a:latin typeface="+mn-lt"/>
                          <a:ea typeface="+mn-ea"/>
                          <a:cs typeface="+mn-cs"/>
                        </a:rPr>
                        <a:t>requirements</a:t>
                      </a:r>
                      <a:r>
                        <a:rPr lang="fr-FR" sz="1800" b="0" i="0" kern="1200" dirty="0">
                          <a:solidFill>
                            <a:schemeClr val="dk1"/>
                          </a:solidFill>
                          <a:effectLst/>
                          <a:latin typeface="+mn-lt"/>
                          <a:ea typeface="+mn-ea"/>
                          <a:cs typeface="+mn-cs"/>
                        </a:rPr>
                        <a:t> (audit </a:t>
                      </a:r>
                      <a:r>
                        <a:rPr lang="fr-FR" sz="1800" b="0" i="0" kern="1200" dirty="0" err="1">
                          <a:solidFill>
                            <a:schemeClr val="dk1"/>
                          </a:solidFill>
                          <a:effectLst/>
                          <a:latin typeface="+mn-lt"/>
                          <a:ea typeface="+mn-ea"/>
                          <a:cs typeface="+mn-cs"/>
                        </a:rPr>
                        <a:t>logging</a:t>
                      </a:r>
                      <a:r>
                        <a:rPr lang="fr-FR" sz="1800" b="0" i="0" kern="1200" dirty="0">
                          <a:solidFill>
                            <a:schemeClr val="dk1"/>
                          </a:solidFill>
                          <a:effectLst/>
                          <a:latin typeface="+mn-lt"/>
                          <a:ea typeface="+mn-ea"/>
                          <a:cs typeface="+mn-cs"/>
                        </a:rPr>
                        <a:t>, etc.)</a:t>
                      </a:r>
                    </a:p>
                  </a:txBody>
                  <a:tcPr/>
                </a:tc>
                <a:extLst>
                  <a:ext uri="{0D108BD9-81ED-4DB2-BD59-A6C34878D82A}">
                    <a16:rowId xmlns:a16="http://schemas.microsoft.com/office/drawing/2014/main" val="444111390"/>
                  </a:ext>
                </a:extLst>
              </a:tr>
            </a:tbl>
          </a:graphicData>
        </a:graphic>
      </p:graphicFrame>
    </p:spTree>
    <p:extLst>
      <p:ext uri="{BB962C8B-B14F-4D97-AF65-F5344CB8AC3E}">
        <p14:creationId xmlns:p14="http://schemas.microsoft.com/office/powerpoint/2010/main" val="34334336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ED5DF5F-3CEF-5CAE-2570-E293DC887906}"/>
            </a:ext>
          </a:extLst>
        </p:cNvPr>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CAAE097D-57F6-C586-F029-205BFD3DEE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28E1499-35DF-9D37-C6F5-DF1D5A86CCC5}"/>
              </a:ext>
            </a:extLst>
          </p:cNvPr>
          <p:cNvSpPr>
            <a:spLocks noGrp="1"/>
          </p:cNvSpPr>
          <p:nvPr>
            <p:ph type="ctrTitle"/>
          </p:nvPr>
        </p:nvSpPr>
        <p:spPr>
          <a:xfrm>
            <a:off x="581191" y="1020431"/>
            <a:ext cx="10993549" cy="1475013"/>
          </a:xfrm>
        </p:spPr>
        <p:txBody>
          <a:bodyPr>
            <a:normAutofit/>
          </a:bodyPr>
          <a:lstStyle/>
          <a:p>
            <a:r>
              <a:rPr lang="en-US" dirty="0"/>
              <a:t>Installation</a:t>
            </a:r>
          </a:p>
        </p:txBody>
      </p:sp>
      <p:sp>
        <p:nvSpPr>
          <p:cNvPr id="20" name="Rectangle 19">
            <a:extLst>
              <a:ext uri="{FF2B5EF4-FFF2-40B4-BE49-F238E27FC236}">
                <a16:creationId xmlns:a16="http://schemas.microsoft.com/office/drawing/2014/main" id="{CAA76F49-E349-F23B-3038-1B279483D1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1">
            <a:extLst>
              <a:ext uri="{FF2B5EF4-FFF2-40B4-BE49-F238E27FC236}">
                <a16:creationId xmlns:a16="http://schemas.microsoft.com/office/drawing/2014/main" id="{513EB6A3-CFC4-332F-213F-48F5212C85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3">
            <a:extLst>
              <a:ext uri="{FF2B5EF4-FFF2-40B4-BE49-F238E27FC236}">
                <a16:creationId xmlns:a16="http://schemas.microsoft.com/office/drawing/2014/main" id="{F74B4390-0D70-F20D-D21F-2A7BF4FB5E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pic>
        <p:nvPicPr>
          <p:cNvPr id="6" name="Picture 5" descr="abstract image">
            <a:extLst>
              <a:ext uri="{FF2B5EF4-FFF2-40B4-BE49-F238E27FC236}">
                <a16:creationId xmlns:a16="http://schemas.microsoft.com/office/drawing/2014/main" id="{3DAA59FB-AC17-4F17-A87C-376E997C4C94}"/>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448733" y="3081867"/>
            <a:ext cx="11260667" cy="3310466"/>
          </a:xfrm>
          <a:prstGeom prst="rect">
            <a:avLst/>
          </a:prstGeom>
        </p:spPr>
      </p:pic>
    </p:spTree>
    <p:extLst>
      <p:ext uri="{BB962C8B-B14F-4D97-AF65-F5344CB8AC3E}">
        <p14:creationId xmlns:p14="http://schemas.microsoft.com/office/powerpoint/2010/main" val="7394696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7AB13A-F9F7-E8EC-01D6-C210D0E659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901941-6B1A-8414-AB11-B39D16F905AC}"/>
              </a:ext>
            </a:extLst>
          </p:cNvPr>
          <p:cNvSpPr>
            <a:spLocks noGrp="1"/>
          </p:cNvSpPr>
          <p:nvPr>
            <p:ph type="title"/>
          </p:nvPr>
        </p:nvSpPr>
        <p:spPr>
          <a:xfrm>
            <a:off x="324018" y="-185739"/>
            <a:ext cx="11029616" cy="712157"/>
          </a:xfrm>
        </p:spPr>
        <p:txBody>
          <a:bodyPr/>
          <a:lstStyle/>
          <a:p>
            <a:r>
              <a:rPr lang="en-US" dirty="0"/>
              <a:t>Single node installation</a:t>
            </a:r>
          </a:p>
        </p:txBody>
      </p:sp>
      <p:sp>
        <p:nvSpPr>
          <p:cNvPr id="6" name="TextBox 5">
            <a:extLst>
              <a:ext uri="{FF2B5EF4-FFF2-40B4-BE49-F238E27FC236}">
                <a16:creationId xmlns:a16="http://schemas.microsoft.com/office/drawing/2014/main" id="{02004435-94E0-898E-80B6-4B882CEB4237}"/>
              </a:ext>
            </a:extLst>
          </p:cNvPr>
          <p:cNvSpPr txBox="1"/>
          <p:nvPr/>
        </p:nvSpPr>
        <p:spPr>
          <a:xfrm>
            <a:off x="1384695" y="918707"/>
            <a:ext cx="9422606" cy="523220"/>
          </a:xfrm>
          <a:prstGeom prst="rect">
            <a:avLst/>
          </a:prstGeom>
          <a:noFill/>
        </p:spPr>
        <p:txBody>
          <a:bodyPr wrap="square" rtlCol="0">
            <a:spAutoFit/>
          </a:bodyPr>
          <a:lstStyle/>
          <a:p>
            <a:pPr algn="ctr"/>
            <a:r>
              <a:rPr lang="en-IN" sz="2800" b="1" dirty="0">
                <a:solidFill>
                  <a:schemeClr val="tx2"/>
                </a:solidFill>
              </a:rPr>
              <a:t>Single Node Installation Demo by Mohammed Abdul Sami</a:t>
            </a:r>
          </a:p>
        </p:txBody>
      </p:sp>
      <p:sp>
        <p:nvSpPr>
          <p:cNvPr id="7" name="TextBox 6">
            <a:extLst>
              <a:ext uri="{FF2B5EF4-FFF2-40B4-BE49-F238E27FC236}">
                <a16:creationId xmlns:a16="http://schemas.microsoft.com/office/drawing/2014/main" id="{6E5461DC-C2B8-7367-9E95-0F95833B5785}"/>
              </a:ext>
            </a:extLst>
          </p:cNvPr>
          <p:cNvSpPr txBox="1"/>
          <p:nvPr/>
        </p:nvSpPr>
        <p:spPr>
          <a:xfrm>
            <a:off x="3142057" y="1834216"/>
            <a:ext cx="5907881" cy="2119042"/>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IN" dirty="0"/>
              <a:t>DSE 5.x</a:t>
            </a:r>
          </a:p>
          <a:p>
            <a:pPr marL="285750" indent="-285750">
              <a:lnSpc>
                <a:spcPct val="150000"/>
              </a:lnSpc>
              <a:buFont typeface="Arial" panose="020B0604020202020204" pitchFamily="34" charset="0"/>
              <a:buChar char="•"/>
            </a:pPr>
            <a:r>
              <a:rPr lang="en-IN" dirty="0"/>
              <a:t>Rocky Linux 9.6 on x86-64, 1GB RAM</a:t>
            </a:r>
          </a:p>
          <a:p>
            <a:pPr marL="285750" indent="-285750">
              <a:lnSpc>
                <a:spcPct val="150000"/>
              </a:lnSpc>
              <a:buFont typeface="Arial" panose="020B0604020202020204" pitchFamily="34" charset="0"/>
              <a:buChar char="•"/>
            </a:pPr>
            <a:r>
              <a:rPr lang="en-IN" dirty="0"/>
              <a:t>Connecting to DSE from CQLSH</a:t>
            </a:r>
          </a:p>
          <a:p>
            <a:pPr marL="285750" indent="-285750">
              <a:lnSpc>
                <a:spcPct val="150000"/>
              </a:lnSpc>
              <a:buFont typeface="Arial" panose="020B0604020202020204" pitchFamily="34" charset="0"/>
              <a:buChar char="•"/>
            </a:pPr>
            <a:r>
              <a:rPr lang="en-IN" dirty="0"/>
              <a:t>Connecting to DSE using GUI</a:t>
            </a:r>
            <a:endParaRPr lang="en-US" dirty="0"/>
          </a:p>
          <a:p>
            <a:pPr marL="285750" indent="-285750">
              <a:lnSpc>
                <a:spcPct val="150000"/>
              </a:lnSpc>
              <a:buFont typeface="Arial" panose="020B0604020202020204" pitchFamily="34" charset="0"/>
              <a:buChar char="•"/>
            </a:pPr>
            <a:r>
              <a:rPr lang="en-US" dirty="0"/>
              <a:t>Basic Commands </a:t>
            </a:r>
            <a:endParaRPr lang="en-IN" dirty="0"/>
          </a:p>
        </p:txBody>
      </p:sp>
    </p:spTree>
    <p:extLst>
      <p:ext uri="{BB962C8B-B14F-4D97-AF65-F5344CB8AC3E}">
        <p14:creationId xmlns:p14="http://schemas.microsoft.com/office/powerpoint/2010/main" val="29453104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0A2746-ED83-6B12-42B2-178443F5F9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928923-B46C-9773-99F9-21545FD0B909}"/>
              </a:ext>
            </a:extLst>
          </p:cNvPr>
          <p:cNvSpPr>
            <a:spLocks noGrp="1"/>
          </p:cNvSpPr>
          <p:nvPr>
            <p:ph type="title"/>
          </p:nvPr>
        </p:nvSpPr>
        <p:spPr>
          <a:xfrm>
            <a:off x="324018" y="-185739"/>
            <a:ext cx="11029616" cy="712157"/>
          </a:xfrm>
        </p:spPr>
        <p:txBody>
          <a:bodyPr/>
          <a:lstStyle/>
          <a:p>
            <a:r>
              <a:rPr lang="en-US" dirty="0"/>
              <a:t>Docker installation</a:t>
            </a:r>
          </a:p>
        </p:txBody>
      </p:sp>
      <p:sp>
        <p:nvSpPr>
          <p:cNvPr id="6" name="TextBox 5">
            <a:extLst>
              <a:ext uri="{FF2B5EF4-FFF2-40B4-BE49-F238E27FC236}">
                <a16:creationId xmlns:a16="http://schemas.microsoft.com/office/drawing/2014/main" id="{3F572C98-D80C-A546-6490-A615B15E9334}"/>
              </a:ext>
            </a:extLst>
          </p:cNvPr>
          <p:cNvSpPr txBox="1"/>
          <p:nvPr/>
        </p:nvSpPr>
        <p:spPr>
          <a:xfrm>
            <a:off x="1384696" y="2350299"/>
            <a:ext cx="9422606" cy="646331"/>
          </a:xfrm>
          <a:prstGeom prst="rect">
            <a:avLst/>
          </a:prstGeom>
          <a:noFill/>
        </p:spPr>
        <p:txBody>
          <a:bodyPr wrap="square" rtlCol="0">
            <a:spAutoFit/>
          </a:bodyPr>
          <a:lstStyle/>
          <a:p>
            <a:pPr algn="ctr"/>
            <a:r>
              <a:rPr lang="en-IN" sz="3600" b="1" dirty="0">
                <a:solidFill>
                  <a:schemeClr val="tx2"/>
                </a:solidFill>
              </a:rPr>
              <a:t>Docker Installation Demo by Trainer</a:t>
            </a:r>
          </a:p>
        </p:txBody>
      </p:sp>
      <p:sp>
        <p:nvSpPr>
          <p:cNvPr id="7" name="TextBox 6">
            <a:extLst>
              <a:ext uri="{FF2B5EF4-FFF2-40B4-BE49-F238E27FC236}">
                <a16:creationId xmlns:a16="http://schemas.microsoft.com/office/drawing/2014/main" id="{71B1E6B0-25AA-5773-3778-511ABA2CE893}"/>
              </a:ext>
            </a:extLst>
          </p:cNvPr>
          <p:cNvSpPr txBox="1"/>
          <p:nvPr/>
        </p:nvSpPr>
        <p:spPr>
          <a:xfrm>
            <a:off x="3142059" y="3236123"/>
            <a:ext cx="5907881" cy="128804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IN" dirty="0"/>
              <a:t>Docker Installation</a:t>
            </a:r>
          </a:p>
          <a:p>
            <a:pPr marL="285750" indent="-285750">
              <a:lnSpc>
                <a:spcPct val="150000"/>
              </a:lnSpc>
              <a:buFont typeface="Arial" panose="020B0604020202020204" pitchFamily="34" charset="0"/>
              <a:buChar char="•"/>
            </a:pPr>
            <a:r>
              <a:rPr lang="en-IN" dirty="0"/>
              <a:t>Connecting to DSE / Cassandra using CLI</a:t>
            </a:r>
          </a:p>
          <a:p>
            <a:pPr marL="285750" indent="-285750">
              <a:lnSpc>
                <a:spcPct val="150000"/>
              </a:lnSpc>
              <a:buFont typeface="Arial" panose="020B0604020202020204" pitchFamily="34" charset="0"/>
              <a:buChar char="•"/>
            </a:pPr>
            <a:r>
              <a:rPr lang="en-IN" dirty="0"/>
              <a:t>Connecting to DSE / Cassandra Using GUI</a:t>
            </a:r>
            <a:endParaRPr lang="en-US" dirty="0"/>
          </a:p>
        </p:txBody>
      </p:sp>
    </p:spTree>
    <p:extLst>
      <p:ext uri="{BB962C8B-B14F-4D97-AF65-F5344CB8AC3E}">
        <p14:creationId xmlns:p14="http://schemas.microsoft.com/office/powerpoint/2010/main" val="1607095500"/>
      </p:ext>
    </p:extLst>
  </p:cSld>
  <p:clrMapOvr>
    <a:masterClrMapping/>
  </p:clrMapOvr>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927BD4C1-B6B1-4715-ABF9-E660A51A4EA0}">
  <ds:schemaRefs>
    <ds:schemaRef ds:uri="http://schemas.microsoft.com/sharepoint/v3/contenttype/forms"/>
  </ds:schemaRefs>
</ds:datastoreItem>
</file>

<file path=customXml/itemProps2.xml><?xml version="1.0" encoding="utf-8"?>
<ds:datastoreItem xmlns:ds="http://schemas.openxmlformats.org/officeDocument/2006/customXml" ds:itemID="{41E7CA09-9778-4414-AE97-8064B12DA30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D289AE2-D2AE-49D1-AFAC-3A79F6794255}">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{6CBE9B2C-F6CB-4361-9D3F-E83882F0C14E}TF201209c3-d067-44f9-a26f-c8f216c4431347f6cf9d_win32-4021059b889a</Template>
  <TotalTime>1856</TotalTime>
  <Words>1995</Words>
  <Application>Microsoft Office PowerPoint</Application>
  <PresentationFormat>Widescreen</PresentationFormat>
  <Paragraphs>376</Paragraphs>
  <Slides>31</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31</vt:i4>
      </vt:variant>
    </vt:vector>
  </HeadingPairs>
  <TitlesOfParts>
    <vt:vector size="42" baseType="lpstr">
      <vt:lpstr>Arial</vt:lpstr>
      <vt:lpstr>Arial Unicode MS</vt:lpstr>
      <vt:lpstr>Calibri</vt:lpstr>
      <vt:lpstr>Franklin Gothic Book</vt:lpstr>
      <vt:lpstr>Franklin Gothic Demi</vt:lpstr>
      <vt:lpstr>Helvetica Neue</vt:lpstr>
      <vt:lpstr>quote-cjk-patch</vt:lpstr>
      <vt:lpstr>Symbol</vt:lpstr>
      <vt:lpstr>Times New Roman</vt:lpstr>
      <vt:lpstr>Wingdings 2</vt:lpstr>
      <vt:lpstr>DividendVTI</vt:lpstr>
      <vt:lpstr>Datastax enterprise (DSE)</vt:lpstr>
      <vt:lpstr>Agenda for session 1</vt:lpstr>
      <vt:lpstr>Database Systems</vt:lpstr>
      <vt:lpstr>Nosql vs sql </vt:lpstr>
      <vt:lpstr>Nosql classification</vt:lpstr>
      <vt:lpstr>Nosql classification</vt:lpstr>
      <vt:lpstr>Nosql classification</vt:lpstr>
      <vt:lpstr>Sql and nosql differences </vt:lpstr>
      <vt:lpstr>CAP Theorem</vt:lpstr>
      <vt:lpstr>CAP Theorem</vt:lpstr>
      <vt:lpstr>PACELC Theorem</vt:lpstr>
      <vt:lpstr>cassandra Intro</vt:lpstr>
      <vt:lpstr>cassandra</vt:lpstr>
      <vt:lpstr>cassandra  history</vt:lpstr>
      <vt:lpstr>Cassandra releases</vt:lpstr>
      <vt:lpstr>Cassandra features</vt:lpstr>
      <vt:lpstr>Cassandra features</vt:lpstr>
      <vt:lpstr>Cassandra features</vt:lpstr>
      <vt:lpstr>Cassandra vs. Traditional RDBMS</vt:lpstr>
      <vt:lpstr>Cassandra use cases </vt:lpstr>
      <vt:lpstr>Less Suitable For</vt:lpstr>
      <vt:lpstr>Datastax enterprise</vt:lpstr>
      <vt:lpstr>datastax  intro</vt:lpstr>
      <vt:lpstr>datastax  intro</vt:lpstr>
      <vt:lpstr>datastax  history</vt:lpstr>
      <vt:lpstr>Cassandra vs datastax</vt:lpstr>
      <vt:lpstr>Feature Comparison </vt:lpstr>
      <vt:lpstr>Feature Comparison </vt:lpstr>
      <vt:lpstr>Installation</vt:lpstr>
      <vt:lpstr>Single node installation</vt:lpstr>
      <vt:lpstr>Docker installation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Mohammed Abdul Sami</dc:creator>
  <cp:lastModifiedBy>Mohammed Abdul Sami</cp:lastModifiedBy>
  <cp:revision>27</cp:revision>
  <dcterms:created xsi:type="dcterms:W3CDTF">2025-11-22T16:42:06Z</dcterms:created>
  <dcterms:modified xsi:type="dcterms:W3CDTF">2025-12-02T13:56:57Z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